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8" r:id="rId1"/>
  </p:sldMasterIdLst>
  <p:sldIdLst>
    <p:sldId id="256" r:id="rId2"/>
    <p:sldId id="276" r:id="rId3"/>
    <p:sldId id="1704" r:id="rId4"/>
    <p:sldId id="1705" r:id="rId5"/>
    <p:sldId id="1697" r:id="rId6"/>
    <p:sldId id="1698" r:id="rId7"/>
    <p:sldId id="1699" r:id="rId8"/>
    <p:sldId id="1700" r:id="rId9"/>
    <p:sldId id="1701" r:id="rId10"/>
    <p:sldId id="1702" r:id="rId11"/>
    <p:sldId id="1703" r:id="rId12"/>
    <p:sldId id="1706" r:id="rId13"/>
    <p:sldId id="1707" r:id="rId14"/>
    <p:sldId id="1708" r:id="rId15"/>
    <p:sldId id="1709" r:id="rId16"/>
    <p:sldId id="1710" r:id="rId17"/>
    <p:sldId id="1712" r:id="rId18"/>
    <p:sldId id="1711" r:id="rId19"/>
    <p:sldId id="280" r:id="rId20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Abril Fatface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/>
    <p:restoredTop sz="96770"/>
  </p:normalViewPr>
  <p:slideViewPr>
    <p:cSldViewPr snapToGrid="0" snapToObjects="1">
      <p:cViewPr>
        <p:scale>
          <a:sx n="100" d="100"/>
          <a:sy n="100" d="100"/>
        </p:scale>
        <p:origin x="124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CD6F8D93-32A6-6142-BAD2-850D659256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664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="" xmlns:a16="http://schemas.microsoft.com/office/drawing/2014/main" id="{A49913DC-0D72-6341-9730-6843BEAFF8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18833"/>
            <a:ext cx="12192000" cy="3363133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021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0C7EC7BF-32E4-5441-8752-39CC579353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02925" y="0"/>
            <a:ext cx="3986151" cy="6858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362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="" xmlns:a16="http://schemas.microsoft.com/office/drawing/2014/main" id="{F3F48710-271B-7C48-9140-B07310681B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1952" y="287247"/>
            <a:ext cx="4425033" cy="6283506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07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333FC507-4902-1345-ACF8-E5B908AB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913680"/>
            <a:ext cx="12192000" cy="3944319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451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="" xmlns:a16="http://schemas.microsoft.com/office/drawing/2014/main" id="{F81B18A3-281E-6442-8916-069375151C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2278" y="408275"/>
            <a:ext cx="5193542" cy="604145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278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5">
            <a:extLst>
              <a:ext uri="{FF2B5EF4-FFF2-40B4-BE49-F238E27FC236}">
                <a16:creationId xmlns="" xmlns:a16="http://schemas.microsoft.com/office/drawing/2014/main" id="{D3B90C33-27E6-BC40-B723-E9A49B12E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486401" cy="6858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390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2F05D379-549E-F841-8A82-63B5572C3C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49153" y="0"/>
            <a:ext cx="4442847" cy="6858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485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">
            <a:extLst>
              <a:ext uri="{FF2B5EF4-FFF2-40B4-BE49-F238E27FC236}">
                <a16:creationId xmlns="" xmlns:a16="http://schemas.microsoft.com/office/drawing/2014/main" id="{F1500006-6CB2-4E41-95AB-516C8435B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87458"/>
            <a:ext cx="7222211" cy="3704094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3" name="그림 개체 틀 5">
            <a:extLst>
              <a:ext uri="{FF2B5EF4-FFF2-40B4-BE49-F238E27FC236}">
                <a16:creationId xmlns="" xmlns:a16="http://schemas.microsoft.com/office/drawing/2014/main" id="{C71BD6A3-D181-B043-AEC9-E1F77047D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22210" y="1933414"/>
            <a:ext cx="4014061" cy="2991173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941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="" xmlns:a16="http://schemas.microsoft.com/office/drawing/2014/main" id="{56602B4A-A065-4E4D-AE1F-4D3702C16F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039" y="720555"/>
            <a:ext cx="7723591" cy="33555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2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AA7DDCAD-4FB7-2141-B2F3-E183A0E26E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800" y="410353"/>
            <a:ext cx="3605938" cy="6037294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139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BD259F42-891B-B54E-B88B-5505C9C7BE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2109" y="143360"/>
            <a:ext cx="3507783" cy="6571281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3" name="그림 개체 틀 5">
            <a:extLst>
              <a:ext uri="{FF2B5EF4-FFF2-40B4-BE49-F238E27FC236}">
                <a16:creationId xmlns="" xmlns:a16="http://schemas.microsoft.com/office/drawing/2014/main" id="{4E8FBE37-E564-9A44-8DB5-0061083523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5207" y="143360"/>
            <a:ext cx="4176793" cy="6571281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5019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332E12BB-4092-4DE6-B497-14F6293E7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646114"/>
            <a:ext cx="11449050" cy="896936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lnSpc>
                <a:spcPct val="120000"/>
              </a:lnSpc>
              <a:defRPr lang="ko-KR" altLang="en-US" sz="4400" b="0" kern="1200" spc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ko-KR"/>
              <a:t>Insert title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9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="" xmlns:a16="http://schemas.microsoft.com/office/drawing/2014/main" id="{6991541B-FAB4-4E1A-AC40-C57058C65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5425" y="1593850"/>
            <a:ext cx="5905500" cy="2463800"/>
          </a:xfrm>
        </p:spPr>
        <p:txBody>
          <a:bodyPr anchor="t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ko-KR" altLang="en-US" sz="4400" b="0" kern="1200" spc="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ko-KR" dirty="0"/>
              <a:t>Insert title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853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="" xmlns:a16="http://schemas.microsoft.com/office/drawing/2014/main" id="{ACF785B9-9F4E-4CFB-B292-ACC8D07A8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3228" y="1748229"/>
            <a:ext cx="5718773" cy="1882775"/>
          </a:xfrm>
        </p:spPr>
        <p:txBody>
          <a:bodyPr anchor="t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4400" b="0" kern="1200" spc="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ko-KR" dirty="0"/>
              <a:t>Insert title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2582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C5B34936-AEB3-5C44-BB38-95E02B1AE5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896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2BABE-BBAD-CB46-A741-944DA49A4DC9}" type="datetimeFigureOut">
              <a:rPr kumimoji="1" lang="ko-KR" altLang="en-US" smtClean="0"/>
              <a:t>2026-01-07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312BF-63D2-D540-ADA9-6DC63533A88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96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5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3" r:id="rId13"/>
    <p:sldLayoutId id="2147483734" r:id="rId14"/>
    <p:sldLayoutId id="2147483735" r:id="rId15"/>
    <p:sldLayoutId id="2147483732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skill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://www.n8n.io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digitalocean.com/community/conceptual-articles/n8n-workflow-automation-guide" TargetMode="External"/><Relationship Id="rId7" Type="http://schemas.openxmlformats.org/officeDocument/2006/relationships/hyperlink" Target="https://www.arimetrics.com/en/digital-glossary/n8n" TargetMode="External"/><Relationship Id="rId2" Type="http://schemas.openxmlformats.org/officeDocument/2006/relationships/hyperlink" Target="https://serveravatar.com/n8n-explained-complete-guide-for-beginners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ocs.n8n.io/" TargetMode="External"/><Relationship Id="rId5" Type="http://schemas.openxmlformats.org/officeDocument/2006/relationships/hyperlink" Target="https://hatchworks.com/blog/ai-agents/n8n-guide/" TargetMode="External"/><Relationship Id="rId4" Type="http://schemas.openxmlformats.org/officeDocument/2006/relationships/hyperlink" Target="https://go.lightnode.com/tech/n8n-explained-a-complete-beginner-guide-to-building-powerful-automation-ai-workflow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imetrics.com/en/digital-glossary/n8n/" TargetMode="External"/><Relationship Id="rId2" Type="http://schemas.openxmlformats.org/officeDocument/2006/relationships/hyperlink" Target="https://www.digitalocean.com/community/conceptual-articles/n8n-workflow-automation-guide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hyperlink" Target="https://serveravatar.com/n8n-explained-complete-guide-for-beginners/" TargetMode="External"/><Relationship Id="rId4" Type="http://schemas.openxmlformats.org/officeDocument/2006/relationships/hyperlink" Target="https://go.lightnode.com/tech/n8n-explained-a-complete-beginner-guide-to-building-powerful-automation-ai-workflow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n8n.io/" TargetMode="External"/><Relationship Id="rId3" Type="http://schemas.openxmlformats.org/officeDocument/2006/relationships/hyperlink" Target="https://www.arimetrics.com/en/digital-glossary/n8n/" TargetMode="External"/><Relationship Id="rId7" Type="http://schemas.openxmlformats.org/officeDocument/2006/relationships/hyperlink" Target="https://www.arimetrics.com/en/digital-glossary/n8n" TargetMode="External"/><Relationship Id="rId2" Type="http://schemas.openxmlformats.org/officeDocument/2006/relationships/hyperlink" Target="https://it-learning-hub.com/n8n-workflow-automation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digitalocean.com/community/conceptual-articles/n8n-workflow-automation-guide" TargetMode="External"/><Relationship Id="rId5" Type="http://schemas.openxmlformats.org/officeDocument/2006/relationships/hyperlink" Target="https://www.infralovers.com/blog/2025-05-09-n8n-workflow-automation/" TargetMode="External"/><Relationship Id="rId4" Type="http://schemas.openxmlformats.org/officeDocument/2006/relationships/hyperlink" Target="https://www.codecademy.com/article/build-ai-workflows-with-n8n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atchworks.com/blog/ai-agents/n8n-guide/" TargetMode="External"/><Relationship Id="rId2" Type="http://schemas.openxmlformats.org/officeDocument/2006/relationships/hyperlink" Target="https://www.arimetrics.com/en/digital-glossary/n8n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hyperlink" Target="https://serveravatar.com/n8n-explained-complete-guide-for-beginners/" TargetMode="External"/><Relationship Id="rId4" Type="http://schemas.openxmlformats.org/officeDocument/2006/relationships/hyperlink" Target="https://go.lightnode.com/tech/n8n-explained-a-complete-beginner-guide-to-building-powerful-automation-ai-workflow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8n.io/hosting/installation/" TargetMode="External"/><Relationship Id="rId2" Type="http://schemas.openxmlformats.org/officeDocument/2006/relationships/hyperlink" Target="https://docs.n8n.io/choose-n8n/cloud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hyperlink" Target="https://docs.n8n.io/hosting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zadSarwar10/LOW-CODE-NO-CODE-B-1/blob/main/Zapier/Week1/Zapier_Top_500_Real-Apps.xlsx" TargetMode="External"/><Relationship Id="rId2" Type="http://schemas.openxmlformats.org/officeDocument/2006/relationships/hyperlink" Target="https://github.com/ShahzadSarwar10/LOW-CODE-NO-CODE-B-1/tree/main/Zapier/Week3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hyperlink" Target="https://github.com/ShahzadSarwar10/LOW-CODE-NO-CODE-B-1/blob/main/Zapier/Week1/RevenueOperations-RevOps-TheFuture.pdf" TargetMode="External"/><Relationship Id="rId4" Type="http://schemas.openxmlformats.org/officeDocument/2006/relationships/hyperlink" Target="https://github.com/ShahzadSarwar10/LOW-CODE-NO-CODE-B-1/blob/main/Zapier/Week1/100_Complex_Multi_Step_Zaps-PracticeAreas.xlsx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8n.io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개체 틀 11">
            <a:extLst>
              <a:ext uri="{FF2B5EF4-FFF2-40B4-BE49-F238E27FC236}">
                <a16:creationId xmlns="" xmlns:a16="http://schemas.microsoft.com/office/drawing/2014/main" id="{151761F3-1E7D-124B-8F15-24185FDBD7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5CBA4731-A4C6-344D-88C1-026B636018C3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alpha val="7740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41AFC79-C77B-7048-B930-AA24F2E24C2C}"/>
              </a:ext>
            </a:extLst>
          </p:cNvPr>
          <p:cNvSpPr txBox="1"/>
          <p:nvPr/>
        </p:nvSpPr>
        <p:spPr>
          <a:xfrm>
            <a:off x="2103089" y="722380"/>
            <a:ext cx="941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algn="ctr"/>
            <a:r>
              <a:rPr lang="en-US" altLang="ko-KR" sz="2400" b="1" dirty="0">
                <a:solidFill>
                  <a:schemeClr val="accent2"/>
                </a:solidFill>
                <a:latin typeface="+mn-lt"/>
              </a:rPr>
              <a:t>“Turn complex processes into simple automated workflows. Move faster with flexible, scalable automation.”</a:t>
            </a:r>
            <a:endParaRPr lang="ko-KR" alt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D3EA12AF-6CD5-8740-A6EC-9405C31F7B1D}"/>
              </a:ext>
            </a:extLst>
          </p:cNvPr>
          <p:cNvSpPr/>
          <p:nvPr/>
        </p:nvSpPr>
        <p:spPr>
          <a:xfrm>
            <a:off x="11619442" y="1"/>
            <a:ext cx="571483" cy="68580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직사각형 61">
            <a:extLst>
              <a:ext uri="{FF2B5EF4-FFF2-40B4-BE49-F238E27FC236}">
                <a16:creationId xmlns:a16="http://schemas.microsoft.com/office/drawing/2014/main" xmlns="" id="{52C2B049-C5ED-415F-B918-7930490AC8B9}"/>
              </a:ext>
            </a:extLst>
          </p:cNvPr>
          <p:cNvSpPr/>
          <p:nvPr/>
        </p:nvSpPr>
        <p:spPr>
          <a:xfrm>
            <a:off x="6811537" y="4863107"/>
            <a:ext cx="470844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</a:rPr>
              <a:t>About  Institute: </a:t>
            </a:r>
          </a:p>
          <a:p>
            <a:r>
              <a:rPr lang="en-US" altLang="ko-KR" b="1" dirty="0" err="1">
                <a:solidFill>
                  <a:schemeClr val="accent2"/>
                </a:solidFill>
              </a:rPr>
              <a:t>NexSkill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en-US" altLang="ko-KR" dirty="0">
                <a:solidFill>
                  <a:schemeClr val="accent2"/>
                </a:solidFill>
              </a:rPr>
              <a:t>is Pakistan's leading IT training institute, providing the best IT training in Pakistan. </a:t>
            </a:r>
            <a:r>
              <a:rPr lang="en-US" altLang="ko-KR" dirty="0" err="1">
                <a:solidFill>
                  <a:schemeClr val="accent2"/>
                </a:solidFill>
              </a:rPr>
              <a:t>NexSkill</a:t>
            </a:r>
            <a:r>
              <a:rPr lang="en-US" altLang="ko-KR" dirty="0">
                <a:solidFill>
                  <a:schemeClr val="accent2"/>
                </a:solidFill>
              </a:rPr>
              <a:t> offers a variety of professional learning platforms to its students.</a:t>
            </a:r>
          </a:p>
          <a:p>
            <a:r>
              <a:rPr lang="en-US" altLang="ko-KR" dirty="0">
                <a:latin typeface="Calibri" panose="020F0502020204030204" pitchFamily="34" charset="0"/>
                <a:hlinkClick r:id="rId3"/>
              </a:rPr>
              <a:t>https://www.nexskill.com/</a:t>
            </a:r>
            <a:r>
              <a:rPr lang="en-US" altLang="ko-KR" dirty="0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210" y="4500800"/>
            <a:ext cx="554769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</a:rPr>
              <a:t>About  Instructor:</a:t>
            </a:r>
          </a:p>
          <a:p>
            <a:r>
              <a:rPr lang="en-US" altLang="ko-KR" b="1" dirty="0" err="1">
                <a:solidFill>
                  <a:schemeClr val="accent2"/>
                </a:solidFill>
              </a:rPr>
              <a:t>Shahzad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en-US" altLang="ko-KR" dirty="0">
                <a:solidFill>
                  <a:schemeClr val="accent2"/>
                </a:solidFill>
              </a:rPr>
              <a:t>- Software Fractional Strategy Consultant - 25+ Years Of Experience In Software Industry - With Clients In  Across North America And  Europe, With Focus On: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dirty="0">
                <a:solidFill>
                  <a:schemeClr val="accent2"/>
                </a:solidFill>
              </a:rPr>
              <a:t>Cloud/</a:t>
            </a:r>
            <a:r>
              <a:rPr lang="en-US" altLang="ko-KR" dirty="0" err="1">
                <a:solidFill>
                  <a:schemeClr val="accent2"/>
                </a:solidFill>
              </a:rPr>
              <a:t>SaaS</a:t>
            </a:r>
            <a:r>
              <a:rPr lang="en-US" altLang="ko-KR" dirty="0">
                <a:solidFill>
                  <a:schemeClr val="accent2"/>
                </a:solidFill>
              </a:rPr>
              <a:t>- Software As Service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dirty="0">
                <a:solidFill>
                  <a:schemeClr val="accent2"/>
                </a:solidFill>
              </a:rPr>
              <a:t>Artificial Intelligence  &amp; Generative AI &amp; LLM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dirty="0">
                <a:solidFill>
                  <a:schemeClr val="accent2"/>
                </a:solidFill>
              </a:rPr>
              <a:t>No-code/Low-code Software Development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8ACD699C-AACA-4660-BAC5-1D38B503CAC5}"/>
              </a:ext>
            </a:extLst>
          </p:cNvPr>
          <p:cNvSpPr txBox="1"/>
          <p:nvPr/>
        </p:nvSpPr>
        <p:spPr>
          <a:xfrm>
            <a:off x="592780" y="1123413"/>
            <a:ext cx="529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dirty="0" smtClean="0">
                <a:solidFill>
                  <a:schemeClr val="accent2"/>
                </a:solidFill>
                <a:latin typeface="+mj-lt"/>
              </a:rPr>
              <a:t>n8n</a:t>
            </a:r>
            <a:r>
              <a:rPr lang="en-US" altLang="ko-KR" sz="7200" dirty="0" smtClean="0">
                <a:solidFill>
                  <a:schemeClr val="bg1"/>
                </a:solidFill>
                <a:latin typeface="+mj-lt"/>
              </a:rPr>
              <a:t>  </a:t>
            </a:r>
            <a:r>
              <a:rPr lang="en-US" altLang="ko-KR" sz="1600" dirty="0" smtClean="0">
                <a:solidFill>
                  <a:schemeClr val="bg1"/>
                </a:solidFill>
                <a:latin typeface="+mj-lt"/>
                <a:hlinkClick r:id="rId4"/>
              </a:rPr>
              <a:t>www.n8n.io</a:t>
            </a:r>
            <a:r>
              <a:rPr lang="en-US" altLang="ko-KR" sz="1600" dirty="0" smtClean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Develop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Workflows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Perform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Automations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Execute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Integrations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Connect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1</a:t>
            </a: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000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+ online data sources</a:t>
            </a:r>
          </a:p>
          <a:p>
            <a:endParaRPr lang="ko-KR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8649" y="35637"/>
            <a:ext cx="81622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pc="-150" dirty="0">
                <a:solidFill>
                  <a:schemeClr val="accent2"/>
                </a:solidFill>
              </a:rPr>
              <a:t>No-code/low-code software development course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701" y="1743075"/>
            <a:ext cx="4859661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9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What Is n8n?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254997"/>
              </p:ext>
            </p:extLst>
          </p:nvPr>
        </p:nvGraphicFramePr>
        <p:xfrm>
          <a:off x="114300" y="684348"/>
          <a:ext cx="11121971" cy="4340352"/>
        </p:xfrm>
        <a:graphic>
          <a:graphicData uri="http://schemas.openxmlformats.org/drawingml/2006/table">
            <a:tbl>
              <a:tblPr/>
              <a:tblGrid>
                <a:gridCol w="11121971"/>
              </a:tblGrid>
              <a:tr h="2144268">
                <a:tc>
                  <a:txBody>
                    <a:bodyPr/>
                    <a:lstStyle/>
                    <a:p>
                      <a:pPr marL="342900" indent="-34290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n8n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an open‑source, fair‑code workflow automation platform used to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connect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apps, APIs, and data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into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automated workflows.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[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serveravatar.com]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/>
                        </a:rPr>
                        <a:t>[digitalocean.com]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combines visual no‑code workflow design with optional custom code, making it suitable for both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non‑technical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users and developers.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[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go.lightnode.com]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/>
                        </a:rPr>
                        <a:t>[hatchworks.com]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n8n can be self‑hosted or used via a managed cloud offering, giving users full control over data and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needed.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[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docs.n8n.io]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[arimetrics.com]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9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Comparison: n8n </a:t>
            </a:r>
            <a:r>
              <a:rPr lang="en-US" sz="2800" dirty="0" err="1">
                <a:solidFill>
                  <a:schemeClr val="accent2"/>
                </a:solidFill>
              </a:rPr>
              <a:t>vs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Zapier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vs</a:t>
            </a:r>
            <a:r>
              <a:rPr lang="en-US" sz="2800" dirty="0">
                <a:solidFill>
                  <a:schemeClr val="accent2"/>
                </a:solidFill>
              </a:rPr>
              <a:t> Make </a:t>
            </a:r>
            <a:r>
              <a:rPr lang="en-US" sz="2800" dirty="0" err="1">
                <a:solidFill>
                  <a:schemeClr val="accent2"/>
                </a:solidFill>
              </a:rPr>
              <a:t>vs</a:t>
            </a:r>
            <a:r>
              <a:rPr lang="en-US" sz="2800" dirty="0">
                <a:solidFill>
                  <a:schemeClr val="accent2"/>
                </a:solidFill>
              </a:rPr>
              <a:t> Airflow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863560"/>
              </p:ext>
            </p:extLst>
          </p:nvPr>
        </p:nvGraphicFramePr>
        <p:xfrm>
          <a:off x="152400" y="1070161"/>
          <a:ext cx="11010900" cy="5041356"/>
        </p:xfrm>
        <a:graphic>
          <a:graphicData uri="http://schemas.openxmlformats.org/drawingml/2006/table">
            <a:tbl>
              <a:tblPr/>
              <a:tblGrid>
                <a:gridCol w="1971675"/>
                <a:gridCol w="2200275"/>
                <a:gridCol w="2228850"/>
                <a:gridCol w="1905000"/>
                <a:gridCol w="2705100"/>
              </a:tblGrid>
              <a:tr h="2242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Criteria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n8n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 err="1">
                          <a:effectLst/>
                          <a:latin typeface="Aptos"/>
                        </a:rPr>
                        <a:t>Zapier</a:t>
                      </a:r>
                      <a:r>
                        <a:rPr lang="en-US" sz="1200" b="1" i="0" dirty="0">
                          <a:effectLst/>
                          <a:latin typeface="Aptos"/>
                        </a:rPr>
                        <a:t>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Make (</a:t>
                      </a:r>
                      <a:r>
                        <a:rPr lang="en-US" sz="1200" b="1" i="0" dirty="0" err="1">
                          <a:effectLst/>
                          <a:latin typeface="Aptos"/>
                        </a:rPr>
                        <a:t>Integromat</a:t>
                      </a:r>
                      <a:r>
                        <a:rPr lang="en-US" sz="1200" b="1" i="0" dirty="0">
                          <a:effectLst/>
                          <a:latin typeface="Aptos"/>
                        </a:rPr>
                        <a:t>)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Apache Airflow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Tool Type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Open‑source workflow automation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 err="1">
                          <a:effectLst/>
                          <a:latin typeface="Aptos"/>
                        </a:rPr>
                        <a:t>SaaS</a:t>
                      </a:r>
                      <a:r>
                        <a:rPr lang="en-US" sz="1200" b="0" i="0" dirty="0">
                          <a:effectLst/>
                          <a:latin typeface="Aptos"/>
                        </a:rPr>
                        <a:t> no‑code automation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Visual low‑code automation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Workflow orchestration framework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Primary Audience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Developers &amp; technical teams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Non‑technical business users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Power users &amp; analysts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Data engineers &amp; </a:t>
                      </a:r>
                      <a:r>
                        <a:rPr lang="en-US" sz="1200" b="0" i="0" dirty="0" err="1">
                          <a:effectLst/>
                          <a:latin typeface="Aptos"/>
                        </a:rPr>
                        <a:t>DevOps</a:t>
                      </a:r>
                      <a:r>
                        <a:rPr lang="en-US" sz="1200" b="0" i="0" dirty="0">
                          <a:effectLst/>
                          <a:latin typeface="Aptos"/>
                        </a:rPr>
                        <a:t> teams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Automation Style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Event‑driven &amp; API‑based workflows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Event‑based app automation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Visual scenario‑based automation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Scheduled batch pipelines (DAGs)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Interface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Visual canvas + optional code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Simple linear UI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Visual flow editor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Code‑first (Python)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Coding Support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JavaScript &amp; Python supported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Very limited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Minimal scripting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Full Python programming required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2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Hosting Options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Cloud or fully self‑hosted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Cloud‑only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Cloud‑only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Self‑hosted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2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Data Control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Full control (self‑hosting)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Limited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Limited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Full control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Integrations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 smtClean="0">
                          <a:effectLst/>
                          <a:latin typeface="Aptos"/>
                        </a:rPr>
                        <a:t>1000</a:t>
                      </a:r>
                      <a:r>
                        <a:rPr lang="en-US" sz="1200" b="0" i="0" dirty="0">
                          <a:effectLst/>
                          <a:latin typeface="Aptos"/>
                        </a:rPr>
                        <a:t>+ native + any API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 smtClean="0">
                          <a:effectLst/>
                          <a:latin typeface="Aptos"/>
                        </a:rPr>
                        <a:t>8,000</a:t>
                      </a:r>
                      <a:r>
                        <a:rPr lang="en-US" sz="1200" b="0" i="0" dirty="0">
                          <a:effectLst/>
                          <a:latin typeface="Aptos"/>
                        </a:rPr>
                        <a:t>+ app connectors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1,500+ connectors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Limited, requires custom code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Complex Logic Handling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Strong (loops, branching, retries)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Limited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Moderate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Very strong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Error Handling &amp; Debugging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Visual step‑by‑step execution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Basic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Visual execution path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Logs &amp; retries in code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Scalability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High (queue mode, workers)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Limited by plan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Moderate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Very high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Pricing Model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Free (self‑hosted) / execution‑based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Per task / action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Per operation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Free (infrastructure cost only)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2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effectLst/>
                          <a:latin typeface="Aptos"/>
                        </a:rPr>
                        <a:t>AI &amp; API Workflows </a:t>
                      </a:r>
                      <a:endParaRPr lang="en-US" sz="1200" b="1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Excellent support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Limited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Moderate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Custom implementations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0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effectLst/>
                          <a:latin typeface="Aptos"/>
                        </a:rPr>
                        <a:t>Best For </a:t>
                      </a:r>
                      <a:endParaRPr lang="en-US" sz="1200" b="1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Flexible, production‑grade automation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Simple business task automation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Aptos"/>
                        </a:rPr>
                        <a:t>Medium‑complex visual automations </a:t>
                      </a:r>
                      <a:endParaRPr lang="en-US" sz="1200" b="0" i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effectLst/>
                          <a:latin typeface="Aptos"/>
                        </a:rPr>
                        <a:t>Large‑scale data pipelines &amp; ETL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4859" marR="44859" marT="22430" marB="224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21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When to Choose Each Tool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1450" y="519163"/>
            <a:ext cx="11064821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rgbClr val="0F4761"/>
                </a:solidFill>
                <a:latin typeface="Aptos"/>
              </a:rPr>
              <a:t> </a:t>
            </a:r>
            <a:r>
              <a:rPr lang="en-US" sz="1600" dirty="0" smtClean="0">
                <a:solidFill>
                  <a:srgbClr val="0F4761"/>
                </a:solidFill>
                <a:latin typeface="Aptos"/>
              </a:rPr>
              <a:t>✅</a:t>
            </a:r>
            <a:r>
              <a:rPr lang="en-US" sz="1600" dirty="0">
                <a:solidFill>
                  <a:srgbClr val="0F4761"/>
                </a:solidFill>
                <a:latin typeface="Aptos"/>
              </a:rPr>
              <a:t> </a:t>
            </a:r>
            <a:r>
              <a:rPr lang="en-US" sz="1600" b="1" dirty="0">
                <a:solidFill>
                  <a:schemeClr val="accent2"/>
                </a:solidFill>
                <a:latin typeface="Aptos"/>
              </a:rPr>
              <a:t>Choose n8n if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need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flexibility, custom logic, and API‑first automation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Data privacy and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self‑hosting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are important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want a balance between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visual workflows and real code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Common for </a:t>
            </a:r>
            <a:r>
              <a:rPr lang="en-US" sz="1600" dirty="0" err="1">
                <a:solidFill>
                  <a:srgbClr val="000000"/>
                </a:solidFill>
                <a:latin typeface="Aptos"/>
              </a:rPr>
              <a:t>DevOps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, backend systems, and AI workflows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US" sz="1600" dirty="0">
                <a:solidFill>
                  <a:srgbClr val="0F4761"/>
                </a:solidFill>
                <a:latin typeface="Aptos"/>
              </a:rPr>
              <a:t>✅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r>
              <a:rPr lang="en-US" sz="1600" b="1" dirty="0">
                <a:solidFill>
                  <a:schemeClr val="accent2"/>
                </a:solidFill>
                <a:latin typeface="Aptos"/>
              </a:rPr>
              <a:t>Choose </a:t>
            </a:r>
            <a:r>
              <a:rPr lang="en-US" sz="1600" b="1" dirty="0" err="1">
                <a:solidFill>
                  <a:schemeClr val="accent2"/>
                </a:solidFill>
                <a:latin typeface="Aptos"/>
              </a:rPr>
              <a:t>Zapier</a:t>
            </a:r>
            <a:r>
              <a:rPr lang="en-US" sz="1600" b="1" dirty="0">
                <a:solidFill>
                  <a:schemeClr val="accent2"/>
                </a:solidFill>
                <a:latin typeface="Aptos"/>
              </a:rPr>
              <a:t> if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want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quick, simple automations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with no technical setup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Automation logic is linear and low‑complexity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rely heavily on </a:t>
            </a:r>
            <a:r>
              <a:rPr lang="en-US" sz="1600" b="1" dirty="0" err="1">
                <a:solidFill>
                  <a:srgbClr val="000000"/>
                </a:solidFill>
                <a:latin typeface="Aptos"/>
              </a:rPr>
              <a:t>SaaS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 app connectors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US" sz="1600" dirty="0">
                <a:solidFill>
                  <a:srgbClr val="0F4761"/>
                </a:solidFill>
                <a:latin typeface="Aptos"/>
              </a:rPr>
              <a:t>✅ </a:t>
            </a:r>
            <a:r>
              <a:rPr lang="en-US" sz="1600" b="1" dirty="0">
                <a:solidFill>
                  <a:schemeClr val="accent2"/>
                </a:solidFill>
                <a:latin typeface="Aptos"/>
              </a:rPr>
              <a:t>Choose Make if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want a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visual tool with more logic than </a:t>
            </a:r>
            <a:r>
              <a:rPr lang="en-US" sz="1600" b="1" dirty="0" err="1">
                <a:solidFill>
                  <a:srgbClr val="000000"/>
                </a:solidFill>
                <a:latin typeface="Aptos"/>
              </a:rPr>
              <a:t>Zapier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are comfortable with moderately complex scenarios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do not require self‑hosting or deep backend control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US" sz="1600" dirty="0">
                <a:solidFill>
                  <a:srgbClr val="0F4761"/>
                </a:solidFill>
                <a:latin typeface="Aptos"/>
              </a:rPr>
              <a:t>✅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r>
              <a:rPr lang="en-US" sz="1600" b="1" dirty="0">
                <a:solidFill>
                  <a:schemeClr val="accent2"/>
                </a:solidFill>
                <a:latin typeface="Aptos"/>
              </a:rPr>
              <a:t>Choose Airflow if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are building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large‑scale data pipelines or ETL jobs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need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strict scheduling, dependency control, and retries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You are comfortable writing and maintaining </a:t>
            </a:r>
            <a:r>
              <a:rPr lang="en-US" sz="1600" b="1" dirty="0">
                <a:solidFill>
                  <a:srgbClr val="000000"/>
                </a:solidFill>
                <a:latin typeface="Aptos"/>
              </a:rPr>
              <a:t>Python code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Aptos"/>
              </a:rPr>
              <a:t>Common in data engineering and analytics platforms 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US" sz="1600" dirty="0">
                <a:solidFill>
                  <a:srgbClr val="000000"/>
                </a:solidFill>
                <a:latin typeface="Aptos"/>
              </a:rPr>
              <a:t> </a:t>
            </a:r>
            <a:r>
              <a:rPr lang="en-US" sz="1600" b="1" dirty="0" smtClean="0">
                <a:solidFill>
                  <a:schemeClr val="accent2"/>
                </a:solidFill>
                <a:latin typeface="Aptos"/>
              </a:rPr>
              <a:t>Summary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b="1" dirty="0" err="1">
                <a:solidFill>
                  <a:schemeClr val="accent2"/>
                </a:solidFill>
                <a:latin typeface="Aptos"/>
              </a:rPr>
              <a:t>Zapier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→ Fast, simple, business‑friendly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accent2"/>
                </a:solidFill>
                <a:latin typeface="Aptos"/>
              </a:rPr>
              <a:t>Make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→ More visual power, moderate complexity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accent2"/>
                </a:solidFill>
                <a:latin typeface="Aptos"/>
              </a:rPr>
              <a:t>n8n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→ Developer‑friendly, flexible, self‑hosted automation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accent2"/>
                </a:solidFill>
                <a:latin typeface="Aptos"/>
              </a:rPr>
              <a:t>Airflow</a:t>
            </a:r>
            <a:r>
              <a:rPr lang="en-US" sz="1600" dirty="0">
                <a:solidFill>
                  <a:schemeClr val="accent2"/>
                </a:solidFill>
                <a:latin typeface="Aptos"/>
              </a:rPr>
              <a:t> → Code‑first, enterprise‑grade data orchestration </a:t>
            </a:r>
            <a:endParaRPr lang="en-US" sz="1600" dirty="0">
              <a:solidFill>
                <a:schemeClr val="accent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63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How n8n Works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30230"/>
              </p:ext>
            </p:extLst>
          </p:nvPr>
        </p:nvGraphicFramePr>
        <p:xfrm>
          <a:off x="114299" y="609600"/>
          <a:ext cx="11121971" cy="6355080"/>
        </p:xfrm>
        <a:graphic>
          <a:graphicData uri="http://schemas.openxmlformats.org/drawingml/2006/table">
            <a:tbl>
              <a:tblPr/>
              <a:tblGrid>
                <a:gridCol w="11121971"/>
              </a:tblGrid>
              <a:tr h="3059638"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Automation logic is built as </a:t>
                      </a:r>
                      <a:r>
                        <a:rPr lang="en-US" sz="2700" b="1" i="0" dirty="0">
                          <a:effectLst/>
                          <a:latin typeface="Segoe UI" panose="020B0502040204020203" pitchFamily="34" charset="0"/>
                        </a:rPr>
                        <a:t>workflows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which define a sequence of steps executed automatically.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[digitalocean.com]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 Each workflow consists of </a:t>
                      </a:r>
                      <a:r>
                        <a:rPr lang="en-US" sz="2700" b="1" i="0" dirty="0">
                          <a:effectLst/>
                          <a:latin typeface="Segoe UI" panose="020B0502040204020203" pitchFamily="34" charset="0"/>
                        </a:rPr>
                        <a:t>nodes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where each node performs a single action such as: </a:t>
                      </a:r>
                      <a:endParaRPr lang="en-US" sz="2700" b="0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buFont typeface="Wingdings" panose="05000000000000000000" pitchFamily="2" charset="2"/>
                        <a:buChar char="ü"/>
                      </a:pPr>
                      <a:r>
                        <a:rPr lang="en-US" sz="2700" b="0" i="0" dirty="0" smtClean="0">
                          <a:effectLst/>
                          <a:latin typeface="Segoe UI" panose="020B0502040204020203" pitchFamily="34" charset="0"/>
                        </a:rPr>
                        <a:t>Listening 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for an event (trigger)</a:t>
                      </a:r>
                    </a:p>
                    <a:p>
                      <a:pPr marL="742950" lvl="1" indent="-285750" fontAlgn="t">
                        <a:buFont typeface="Wingdings" panose="05000000000000000000" pitchFamily="2" charset="2"/>
                        <a:buChar char="ü"/>
                      </a:pP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Calling an API</a:t>
                      </a:r>
                    </a:p>
                    <a:p>
                      <a:pPr marL="742950" lvl="1" indent="-285750" fontAlgn="t">
                        <a:buFont typeface="Wingdings" panose="05000000000000000000" pitchFamily="2" charset="2"/>
                        <a:buChar char="ü"/>
                      </a:pP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Transforming data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Sending messages or updating systems.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3"/>
                        </a:rPr>
                        <a:t>[arimetrics.com]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4"/>
                        </a:rPr>
                        <a:t>[go.lightnode.com]</a:t>
                      </a:r>
                      <a:endParaRPr lang="en-US" sz="27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700" b="1" i="0" dirty="0">
                          <a:effectLst/>
                          <a:latin typeface="Segoe UI" panose="020B0502040204020203" pitchFamily="34" charset="0"/>
                        </a:rPr>
                        <a:t>Trigger nodes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 start workflows based on schedules, </a:t>
                      </a:r>
                      <a:r>
                        <a:rPr lang="en-US" sz="2700" b="0" i="0" dirty="0" err="1">
                          <a:effectLst/>
                          <a:latin typeface="Segoe UI" panose="020B0502040204020203" pitchFamily="34" charset="0"/>
                        </a:rPr>
                        <a:t>webhooks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or manual executions.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4"/>
                        </a:rPr>
                        <a:t>[go.lightnode.com]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[digitalocean.com]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US" sz="2700" b="0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700" b="0" i="0" dirty="0" smtClean="0">
                          <a:effectLst/>
                          <a:latin typeface="Segoe UI" panose="020B0502040204020203" pitchFamily="34" charset="0"/>
                        </a:rPr>
                        <a:t>Data 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flows between nodes as </a:t>
                      </a:r>
                      <a:r>
                        <a:rPr lang="en-US" sz="2700" b="1" i="0" dirty="0">
                          <a:effectLst/>
                          <a:latin typeface="Segoe UI" panose="020B0502040204020203" pitchFamily="34" charset="0"/>
                        </a:rPr>
                        <a:t>JSON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enabling structured processing, branching, and looping.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5"/>
                        </a:rPr>
                        <a:t>[serveravatar.com]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US" sz="2700" b="0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700" b="0" i="0" dirty="0" smtClean="0">
                          <a:effectLst/>
                          <a:latin typeface="Segoe UI" panose="020B0502040204020203" pitchFamily="34" charset="0"/>
                        </a:rPr>
                        <a:t>n8n 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provides </a:t>
                      </a:r>
                      <a:r>
                        <a:rPr lang="en-US" sz="2700" b="1" i="0" dirty="0">
                          <a:effectLst/>
                          <a:latin typeface="Segoe UI" panose="020B0502040204020203" pitchFamily="34" charset="0"/>
                        </a:rPr>
                        <a:t>visual execution logs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, allowing users to inspect node‑level inputs and outputs for easy </a:t>
                      </a:r>
                      <a:r>
                        <a:rPr lang="en-US" sz="2700" b="0" i="0" dirty="0" smtClean="0">
                          <a:effectLst/>
                          <a:latin typeface="Segoe UI" panose="020B0502040204020203" pitchFamily="34" charset="0"/>
                        </a:rPr>
                        <a:t> debugging</a:t>
                      </a:r>
                      <a:r>
                        <a:rPr lang="en-US" sz="2700" b="0" i="0" dirty="0">
                          <a:effectLst/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en-US" sz="27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4"/>
                        </a:rPr>
                        <a:t>[go.lightnode.com]</a:t>
                      </a:r>
                      <a:endParaRPr lang="en-US" sz="27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9362"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1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Core Features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01944"/>
              </p:ext>
            </p:extLst>
          </p:nvPr>
        </p:nvGraphicFramePr>
        <p:xfrm>
          <a:off x="114299" y="609600"/>
          <a:ext cx="11121971" cy="5154722"/>
        </p:xfrm>
        <a:graphic>
          <a:graphicData uri="http://schemas.openxmlformats.org/drawingml/2006/table">
            <a:tbl>
              <a:tblPr/>
              <a:tblGrid>
                <a:gridCol w="11121971"/>
              </a:tblGrid>
              <a:tr h="3059638"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 smtClean="0">
                          <a:effectLst/>
                          <a:latin typeface="Segoe UI" panose="020B0502040204020203" pitchFamily="34" charset="0"/>
                        </a:rPr>
                        <a:t>Visual </a:t>
                      </a: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workflow builder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 using a drag‑and‑drop, node‑based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                  canvas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[it-learning-hub.com]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3"/>
                        </a:rPr>
                        <a:t>[arimetrics.com]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Hybrid no‑code / low‑code model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with support for JavaScript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     or 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Python when advanced logic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is</a:t>
                      </a:r>
                      <a:r>
                        <a:rPr lang="en-US" sz="2800" b="0" i="0" baseline="0" dirty="0" smtClean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needed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4"/>
                        </a:rPr>
                        <a:t>[codecademy.com]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5"/>
                        </a:rPr>
                        <a:t>[infralovers.com]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Hundreds of built‑in integrations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plus the ability to connect to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any 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API via HTTP requests.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6"/>
                        </a:rPr>
                        <a:t>[digitalocean.com]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[it-learning-hub.com]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Self‑hosting support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 for privacy, compliance, and cost control.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      </a:t>
                      </a:r>
                      <a:r>
                        <a:rPr lang="en-US" sz="2800" b="0" i="0" u="none" strike="noStrike" dirty="0" smtClean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7"/>
                        </a:rPr>
                        <a:t>[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7"/>
                        </a:rPr>
                        <a:t>arimetrics.com]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8"/>
                        </a:rPr>
                        <a:t>[docs.n8n.io]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Advanced workflow logic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including conditions, branching,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         batching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and error handling.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3"/>
                        </a:rPr>
                        <a:t>[arimetrics.com]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93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Key Benefits of n8n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41191"/>
              </p:ext>
            </p:extLst>
          </p:nvPr>
        </p:nvGraphicFramePr>
        <p:xfrm>
          <a:off x="114299" y="609600"/>
          <a:ext cx="11121971" cy="3874562"/>
        </p:xfrm>
        <a:graphic>
          <a:graphicData uri="http://schemas.openxmlformats.org/drawingml/2006/table">
            <a:tbl>
              <a:tblPr/>
              <a:tblGrid>
                <a:gridCol w="11121971"/>
              </a:tblGrid>
              <a:tr h="3059638"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 smtClean="0">
                          <a:effectLst/>
                          <a:latin typeface="Segoe UI" panose="020B0502040204020203" pitchFamily="34" charset="0"/>
                        </a:rPr>
                        <a:t>Full </a:t>
                      </a: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data ownership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 when self‑hosted, avoiding vendor lock‑in.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                 </a:t>
                      </a:r>
                      <a:r>
                        <a:rPr lang="en-US" sz="2800" b="0" i="0" u="none" strike="noStrike" dirty="0" smtClean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[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2"/>
                        </a:rPr>
                        <a:t>arimetrics.com]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High flexibility and scalability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from simple automations to enterprise‑grade workflows.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3"/>
                        </a:rPr>
                        <a:t>[hatchworks.com]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Cost‑effective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 compared to per‑task pricing automation platforms.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4"/>
                        </a:rPr>
                        <a:t>[go.lightnode.com]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sz="2800" b="1" i="0" dirty="0">
                          <a:effectLst/>
                          <a:latin typeface="Segoe UI" panose="020B0502040204020203" pitchFamily="34" charset="0"/>
                        </a:rPr>
                        <a:t>Accessible for beginners, powerful for developers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, enabling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a</a:t>
                      </a:r>
                      <a:r>
                        <a:rPr lang="en-US" sz="2800" b="0" i="0" baseline="0" dirty="0" smtClean="0">
                          <a:effectLst/>
                          <a:latin typeface="Segoe UI" panose="020B0502040204020203" pitchFamily="34" charset="0"/>
                        </a:rPr>
                        <a:t>    </a:t>
                      </a:r>
                      <a:r>
                        <a:rPr lang="en-US" sz="2800" b="0" i="0" dirty="0" smtClean="0">
                          <a:effectLst/>
                          <a:latin typeface="Segoe UI" panose="020B0502040204020203" pitchFamily="34" charset="0"/>
                        </a:rPr>
                        <a:t>smooth </a:t>
                      </a:r>
                      <a:r>
                        <a:rPr lang="en-US" sz="2800" b="0" i="0" dirty="0">
                          <a:effectLst/>
                          <a:latin typeface="Segoe UI" panose="020B0502040204020203" pitchFamily="34" charset="0"/>
                        </a:rPr>
                        <a:t>learning curve. </a:t>
                      </a:r>
                      <a:r>
                        <a:rPr lang="en-US" sz="28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  <a:hlinkClick r:id="rId5"/>
                        </a:rPr>
                        <a:t>[serveravatar.com]</a:t>
                      </a:r>
                      <a:endParaRPr lang="en-US" sz="2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93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5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n8n Deployment Options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363635"/>
              </p:ext>
            </p:extLst>
          </p:nvPr>
        </p:nvGraphicFramePr>
        <p:xfrm>
          <a:off x="9524" y="609600"/>
          <a:ext cx="11226747" cy="6492240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 smtClean="0">
                          <a:effectLst/>
                          <a:latin typeface="Segoe UI" panose="020B0502040204020203" pitchFamily="34" charset="0"/>
                        </a:rPr>
                        <a:t>1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. n8n Cloud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Fully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managed cloud service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provided by n8n.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 infrastructure or maintenance required.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Quick setup, automatic updates, and backups.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Suitable for teams that prefer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ease of use and faster onboarding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Less control over infrastructure compared to self‑hosting.</a:t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📌 Reference: 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  <a:hlinkClick r:id="rId2"/>
                        </a:rPr>
                        <a:t>https://docs.n8n.io/choose-n8n/cloud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  <a:hlinkClick r:id="rId2"/>
                        </a:rPr>
                        <a:t>/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2. Local Installation (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npm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Docker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Installed on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local machine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for development or testing purposes.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Supported methods: </a:t>
                      </a:r>
                    </a:p>
                    <a:p>
                      <a:pPr marL="742950" lvl="1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npm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/ 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npx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(Node.js environment)</a:t>
                      </a:r>
                    </a:p>
                    <a:p>
                      <a:pPr marL="742950" lvl="1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Docker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for containerized execution.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Ideal for learning, prototyping, and experimenting with workflows.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Not recommended for production without additional security and persistence setup.</a:t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📌 Reference: 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  <a:hlinkClick r:id="rId3"/>
                        </a:rPr>
                        <a:t>https://docs.n8n.io/hosting/installation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  <a:hlinkClick r:id="rId3"/>
                        </a:rPr>
                        <a:t>/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3. Self‑Hosting on Servers (Linux, Cloud VM)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Deploy n8n on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own servers or cloud virtual machines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(AWS, Azure, GCP, etc.).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Commonly uses 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Docker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or 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Docker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Compose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for production setups.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Provides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full control over data, security, scaling, and integrations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Suitable for enterprises, regulated environments, and high‑volume automation.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Requires infrastructure management and monitoring.</a:t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📌 Reference: 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  <a:hlinkClick r:id="rId4"/>
                        </a:rPr>
                        <a:t>https://docs.n8n.io/hosting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  <a:hlinkClick r:id="rId4"/>
                        </a:rPr>
                        <a:t>/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9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n8n Interface Walkthrough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851436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 smtClean="0">
                          <a:effectLst/>
                          <a:latin typeface="Segoe UI" panose="020B0502040204020203" pitchFamily="34" charset="0"/>
                        </a:rPr>
                        <a:t>1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. Canvas and Node Editor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Visual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drag‑and‑drop canvas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where workflows are designed.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Nodes represent triggers, actions, logic, or integrations.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Connections define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data flow and execution order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Node editor allows configuration of parameters, credentials, and expressions.</a:t>
                      </a:r>
                    </a:p>
                    <a:p>
                      <a:pPr fontAlgn="t"/>
                      <a:endParaRPr lang="en-US" b="1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1" i="0" dirty="0" smtClean="0">
                          <a:effectLst/>
                          <a:latin typeface="Segoe UI" panose="020B0502040204020203" pitchFamily="34" charset="0"/>
                        </a:rPr>
                        <a:t>2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. Execution View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Displays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real‑time and past workflow executions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Shows which nodes executed successfully or failed.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Allows inspection of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input and output data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at each node.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Helps debug workflows without re‑running the entire flow.</a:t>
                      </a:r>
                    </a:p>
                    <a:p>
                      <a:pPr fontAlgn="t"/>
                      <a:endParaRPr lang="en-US" b="1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1" i="0" dirty="0" smtClean="0">
                          <a:effectLst/>
                          <a:latin typeface="Segoe UI" panose="020B0502040204020203" pitchFamily="34" charset="0"/>
                        </a:rPr>
                        <a:t>3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. Logs and Workflow History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Maintains a record of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execution history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for each workflow.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Logs include timestamps, status, and error details.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Supports troubleshooting, auditing, and performance analysis.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Useful for monitoring running workflows in production environments.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7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Node Types in n8n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94316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 smtClean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a</a:t>
                      </a:r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) Trigger Nodes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Start a workflow 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when 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 specific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event or condition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occurs.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Only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one trigger node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is required to initiate a workflow.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Examples: Manual Trigger,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Webhook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Trigger, Schedule Trigger.</a:t>
                      </a:r>
                    </a:p>
                    <a:p>
                      <a:pPr fontAlgn="t"/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b) Core Nodes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Provide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built‑in logic and utility functions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Used for data transformation and flow control.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Examples: Set, IF, Switch, Merge,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SplitInBatches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/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c) Regular Nodes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Perform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actions or integrations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after the workflow has started.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Typically interact with external services or APIs.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Examples: HTTP Request, Email, Slack, Database nodes.</a:t>
                      </a:r>
                    </a:p>
                    <a:p>
                      <a:pPr fontAlgn="t"/>
                      <a:endParaRPr lang="en-US" b="1" i="0" dirty="0" smtClean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1" i="0" dirty="0" smtClean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Node </a:t>
                      </a:r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Inputs, Outputs, and Connections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Inputs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receive data from the previous node in JSON format.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Outputs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pass processed data to the next connected node.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Connections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define the execution order and data flow.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Each node executes once per incoming data item unless configured otherwise.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Visual connections make complex workflows easier to understand and debug.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7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dirty="0">
                <a:solidFill>
                  <a:schemeClr val="accent2"/>
                </a:solidFill>
              </a:rPr>
              <a:t>Trigger Nodes in n8n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51278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 smtClean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. Manual Trigger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Used to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manually start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 workflow.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Commonly used for testing, debugging, and development.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Does not wait for an external event.</a:t>
                      </a:r>
                    </a:p>
                    <a:p>
                      <a:pPr fontAlgn="t"/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2. </a:t>
                      </a:r>
                      <a:r>
                        <a:rPr lang="en-US" b="1" i="0" dirty="0" err="1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Webhook</a:t>
                      </a:r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 Trigger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Starts a workflow when an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HTTP request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is received.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Typically used to integrate with external applications or services.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Supports real‑time automation scenarios.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Can handle different request methods (GET, POST, etc.).</a:t>
                      </a:r>
                    </a:p>
                    <a:p>
                      <a:pPr fontAlgn="t"/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3. Schedule (</a:t>
                      </a:r>
                      <a:r>
                        <a:rPr lang="en-US" b="1" i="0" dirty="0" err="1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Cron</a:t>
                      </a:r>
                      <a:r>
                        <a:rPr lang="en-US" b="1" i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</a:rPr>
                        <a:t>) Trigger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Starts workflows on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time‑based schedule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Supports intervals such as minutes, hours, days, or custom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cron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expressions.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Ideal for recurring tasks like reports, sync jobs, and data cleanup.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Data Flow Model</a:t>
            </a:r>
            <a:r>
              <a:rPr lang="en-US" sz="2800" dirty="0" smtClean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chemeClr val="accent2"/>
                </a:solidFill>
              </a:rPr>
              <a:t>in n8n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80314"/>
              </p:ext>
            </p:extLst>
          </p:nvPr>
        </p:nvGraphicFramePr>
        <p:xfrm>
          <a:off x="9524" y="609600"/>
          <a:ext cx="11226747" cy="7040880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JSON Structure in n8n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n8n passes data between nodes using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 (JavaScript Object Notation)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node processes data as structured key–value pairs.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 ensures consistent, readable, and system‑agnostic data exchange.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structure: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     {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       "name": "John",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       "email": "john@example.com",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       "status": "active"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     }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Items, Fields, and Expressions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workflow execution can contain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or more items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 item is processed independently through the workflow.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Individual data points inside an item (e.g., </a:t>
                      </a:r>
                      <a:r>
                        <a:rPr lang="en-US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Expressions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 dynamically reference and manipulate data.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Written using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 curly braces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en-US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 }}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accessing values, transforming strings, dates, and numbers.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expression: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     {{ $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json.email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}}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7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Data Flow Model</a:t>
            </a:r>
            <a:r>
              <a:rPr lang="en-US" sz="2800" dirty="0">
                <a:solidFill>
                  <a:schemeClr val="accent2"/>
                </a:solidFill>
              </a:rPr>
              <a:t> in n8n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782947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Understanding </a:t>
                      </a:r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sz="1800" b="0" i="1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$node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 </a:t>
                      </a:r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$input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sz="1800" b="0" i="1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Refers to the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item’s JSON data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commonly used in node expressions.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     {{ $json.name }} </a:t>
                      </a:r>
                    </a:p>
                    <a:p>
                      <a:pPr rtl="0" fontAlgn="base"/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Accesses data from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 nodes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the workflow.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when referencing earlier steps.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     {{ $node["HTTP Request"].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json.status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}} </a:t>
                      </a:r>
                    </a:p>
                    <a:p>
                      <a:pPr rtl="0" fontAlgn="base"/>
                      <a:r>
                        <a:rPr lang="en-US" sz="1800" b="0" i="1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$input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Refers to the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 data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of the current node.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advanced transformations and code nodes.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     {{ $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input.first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().json.id }}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Takeaway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n8n’s data model is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item‑based and JSON‑driven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making workflows predictable, 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debuggable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powerful when combined with expressions. 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2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n8n – Core Nodes 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688116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Set 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create, modify, or remove fields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the workflow data.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Commonly applied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prepare or clean data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before sending it to another node.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set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values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 use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expressions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dynamic content.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reduce payload size by keeping only required fields.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call external services; operates only on data.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IF / Switch Nodes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Executes different paths based on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true/false conditions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 simple decision‑making logic.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Compares values using operators such as equals, contains, greater than, etc.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Routes data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 possible branches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based on a single field.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when handling more than two conditions.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Improves readability over multiple IF nodes. 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n8n – Core Nodes 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47727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Merge and </a:t>
                      </a:r>
                      <a:r>
                        <a:rPr lang="en-US" sz="1800" b="1" i="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SplitInBatches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Nodes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Merge 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Combines data from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branches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into one.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different merge strategies (append, merge by key, keep separate).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Often used after parallel workflow paths. </a:t>
                      </a:r>
                    </a:p>
                    <a:p>
                      <a:pPr rtl="0" fontAlgn="base"/>
                      <a:r>
                        <a:rPr lang="en-US" sz="1800" b="1" i="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SplitInBatches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Node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Breaks large datasets into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smaller batches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 items sequentially instead of all at once.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rate‑limited APIs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 large data operations.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Improves performance and prevents execution timeouts.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Takeaway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nodes control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structure, flow logic, and performance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forming the foundation of efficient n8n workflows. 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4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n8n – Handling Errors Gracefully  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18926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 Continue on Fail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Allows a node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 without stopping the entire workflow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enabled, the workflow continues execution even if that node encounters an error.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when: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failure is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non‑critical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(e.g., optional API calls).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Processing large batches where some items may fail.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 details are still recorded in execution data for review.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build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resilient workflows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that do not break on minor issues.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Error Workflows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Special workflows designed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errors globally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Trigger automatically when another workflow fails.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 uses include: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Capturing error messages and metadata.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Logging errors to databases or monitoring tools.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Performing cleanup or retry logic.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Promotes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centralized error handling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across multiple workflows.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8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0" y="-4057"/>
            <a:ext cx="590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>
                <a:solidFill>
                  <a:schemeClr val="accent2"/>
                </a:solidFill>
              </a:rPr>
              <a:t>n8n – Handling Errors Gracefully 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981014"/>
              </p:ext>
            </p:extLst>
          </p:nvPr>
        </p:nvGraphicFramePr>
        <p:xfrm>
          <a:off x="9524" y="609600"/>
          <a:ext cx="11226747" cy="6151067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Notifications and Alerts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 teams when errors occur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send alerts via: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 </a:t>
                      </a:r>
                    </a:p>
                    <a:p>
                      <a:pPr marL="742950" lvl="1" indent="-285750" rtl="0" fontAlgn="base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Slack, Microsoft Teams, or other messaging tools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Usually integrated with error workflows for real‑time notifications.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reduce downtime by enabling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 detection and response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marL="285750" indent="-285750" rtl="0" fontAlgn="base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filtered to trigger alerts only for critical failures.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 </a:t>
                      </a: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Takeaway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Graceful error handling in n8n ensures workflows remain 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stable, observable, and maintainable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even when external systems fail. </a:t>
                      </a:r>
                    </a:p>
                    <a:p>
                      <a:pPr rtl="0"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1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A008B19-7D88-4543-9FF9-EC7069B9B979}"/>
              </a:ext>
            </a:extLst>
          </p:cNvPr>
          <p:cNvSpPr/>
          <p:nvPr/>
        </p:nvSpPr>
        <p:spPr>
          <a:xfrm>
            <a:off x="11236271" y="0"/>
            <a:ext cx="9557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414FC8A-177F-2642-B34B-BBE0384C4084}"/>
              </a:ext>
            </a:extLst>
          </p:cNvPr>
          <p:cNvSpPr txBox="1"/>
          <p:nvPr/>
        </p:nvSpPr>
        <p:spPr>
          <a:xfrm>
            <a:off x="-1" y="-4057"/>
            <a:ext cx="86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fontAlgn="t"/>
            <a:r>
              <a:rPr lang="en-US" sz="2800" b="1" dirty="0" smtClean="0">
                <a:solidFill>
                  <a:schemeClr val="accent2"/>
                </a:solidFill>
              </a:rPr>
              <a:t>Same App s– Ecosystem as discussed in </a:t>
            </a:r>
            <a:r>
              <a:rPr lang="en-US" sz="2800" b="1" dirty="0" err="1" smtClean="0">
                <a:solidFill>
                  <a:schemeClr val="accent2"/>
                </a:solidFill>
              </a:rPr>
              <a:t>Zapier</a:t>
            </a:r>
            <a:r>
              <a:rPr lang="en-US" sz="2800" b="1" dirty="0" smtClean="0">
                <a:solidFill>
                  <a:schemeClr val="accent2"/>
                </a:solidFill>
              </a:rPr>
              <a:t> </a:t>
            </a:r>
            <a:endParaRPr 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31459"/>
              </p:ext>
            </p:extLst>
          </p:nvPr>
        </p:nvGraphicFramePr>
        <p:xfrm>
          <a:off x="9524" y="609600"/>
          <a:ext cx="11226747" cy="6217920"/>
        </p:xfrm>
        <a:graphic>
          <a:graphicData uri="http://schemas.openxmlformats.org/drawingml/2006/table">
            <a:tbl>
              <a:tblPr/>
              <a:tblGrid>
                <a:gridCol w="11226747"/>
              </a:tblGrid>
              <a:tr h="578530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 i="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 – Ecosystem:</a:t>
                      </a:r>
                      <a:r>
                        <a:rPr lang="en-US" sz="1800" b="0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https://github.com/ShahzadSarwar10/LOW-CODE-NO-CODE-B-1/tree/main/Zapier/Week3</a:t>
                      </a: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See above top 25 top 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 – Learning Material , study Material]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Process and absorb – all basic information – about above 25 apps]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500 </a:t>
                      </a:r>
                      <a:r>
                        <a:rPr lang="en-US" sz="1800" b="1" i="0" kern="1200" baseline="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 - category wise arranged: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https://github.com/ShahzadSarwar10/LOW-CODE-NO-CODE-B-1/blob/main/Zapier/Week1/Zapier_Top_500_Real-Apps.xlsx</a:t>
                      </a: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</a:t>
                      </a:r>
                      <a:r>
                        <a:rPr lang="en-US" sz="1800" b="1" i="0" kern="1200" baseline="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Multi step Zaps:</a:t>
                      </a: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https://github.com/ShahzadSarwar10/LOW-CODE-NO-CODE-B-1/blob/main/Zapier/Week1/100_Complex_Multi_Step_Zaps-PracticeAreas.xlsx</a:t>
                      </a: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– “Revenue Operations”- What? Why? How? Which? Who? End to end processing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https://github.com/ShahzadSarwar10/LOW-CODE-NO-CODE-B-1/blob/main/Zapier/Week1/RevenueOperations-RevOps-TheFuture.pdf</a:t>
                      </a: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Kindly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 slowly and slowly.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Kindly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 carefully and carefully.</a:t>
                      </a:r>
                      <a:endParaRPr lang="en-US" sz="1800" b="1" i="0" kern="1200" dirty="0" smtClean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the best.</a:t>
                      </a:r>
                      <a:r>
                        <a:rPr lang="en-US" sz="1800" b="1" i="0" kern="1200" baseline="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r>
                        <a:rPr lang="en-US" sz="1800" b="1" i="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Thanks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87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9850" y="-4057"/>
            <a:ext cx="1962150" cy="6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6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개체 틀 8" descr="사람, 실내, 벽, 사람들이(가) 표시된 사진&#10;&#10;자동 생성된 설명">
            <a:extLst>
              <a:ext uri="{FF2B5EF4-FFF2-40B4-BE49-F238E27FC236}">
                <a16:creationId xmlns="" xmlns:a16="http://schemas.microsoft.com/office/drawing/2014/main" id="{EBC6527E-E771-F942-8AFD-F70A2F85F2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CA1E20BE-96E0-F642-85C4-EADC620A3E3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alpha val="7740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C862035-677B-A14C-A3D0-66B5CA0F6E5A}"/>
              </a:ext>
            </a:extLst>
          </p:cNvPr>
          <p:cNvSpPr txBox="1"/>
          <p:nvPr/>
        </p:nvSpPr>
        <p:spPr>
          <a:xfrm>
            <a:off x="1206576" y="2527253"/>
            <a:ext cx="9416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algn="ctr"/>
            <a:r>
              <a:rPr lang="en-US" altLang="ko-KR" sz="7200" dirty="0" smtClean="0">
                <a:solidFill>
                  <a:schemeClr val="bg1"/>
                </a:solidFill>
              </a:rPr>
              <a:t>Thanks for  </a:t>
            </a:r>
            <a:r>
              <a:rPr lang="en-US" altLang="ko-KR" sz="7200" dirty="0">
                <a:solidFill>
                  <a:schemeClr val="accent2"/>
                </a:solidFill>
              </a:rPr>
              <a:t>Y</a:t>
            </a:r>
            <a:r>
              <a:rPr lang="en-US" altLang="ko-KR" sz="7200" dirty="0" smtClean="0">
                <a:solidFill>
                  <a:schemeClr val="accent2"/>
                </a:solidFill>
              </a:rPr>
              <a:t>our time</a:t>
            </a:r>
            <a:endParaRPr lang="ko-KR" altLang="en-US" sz="7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ACD699C-AACA-4660-BAC5-1D38B503CAC5}"/>
              </a:ext>
            </a:extLst>
          </p:cNvPr>
          <p:cNvSpPr txBox="1"/>
          <p:nvPr/>
        </p:nvSpPr>
        <p:spPr>
          <a:xfrm>
            <a:off x="592780" y="18513"/>
            <a:ext cx="529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dirty="0" smtClean="0">
                <a:solidFill>
                  <a:schemeClr val="accent2"/>
                </a:solidFill>
                <a:latin typeface="+mj-lt"/>
              </a:rPr>
              <a:t>n8n</a:t>
            </a:r>
            <a:r>
              <a:rPr lang="en-US" altLang="ko-KR" sz="7200" dirty="0" smtClean="0">
                <a:solidFill>
                  <a:schemeClr val="bg1"/>
                </a:solidFill>
                <a:latin typeface="+mj-lt"/>
              </a:rPr>
              <a:t>  </a:t>
            </a:r>
            <a:r>
              <a:rPr lang="en-US" altLang="ko-KR" sz="1600" dirty="0" smtClean="0">
                <a:solidFill>
                  <a:schemeClr val="bg1"/>
                </a:solidFill>
                <a:latin typeface="+mj-lt"/>
                <a:hlinkClick r:id="rId3"/>
              </a:rPr>
              <a:t>www.n8n.io</a:t>
            </a:r>
            <a:r>
              <a:rPr lang="en-US" altLang="ko-KR" sz="1600" dirty="0" smtClean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Develop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Workflows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Perform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Automations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Execute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Integrations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Connect 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1</a:t>
            </a:r>
            <a:r>
              <a:rPr lang="en-US" altLang="ko-KR" sz="2000" dirty="0" smtClean="0">
                <a:solidFill>
                  <a:schemeClr val="accent2"/>
                </a:solidFill>
                <a:latin typeface="+mj-lt"/>
              </a:rPr>
              <a:t>000</a:t>
            </a:r>
            <a:r>
              <a:rPr lang="en-US" altLang="ko-KR" sz="2000" dirty="0">
                <a:solidFill>
                  <a:schemeClr val="accent2"/>
                </a:solidFill>
                <a:latin typeface="+mj-lt"/>
              </a:rPr>
              <a:t>+ online data sources</a:t>
            </a:r>
          </a:p>
          <a:p>
            <a:endParaRPr lang="ko-KR" altLang="en-US" sz="1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701" y="638175"/>
            <a:ext cx="4859661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5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324D"/>
      </a:accent1>
      <a:accent2>
        <a:srgbClr val="F05768"/>
      </a:accent2>
      <a:accent3>
        <a:srgbClr val="0E586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bril Fatface"/>
        <a:ea typeface="Calibri"/>
        <a:cs typeface=""/>
      </a:majorFont>
      <a:minorFont>
        <a:latin typeface="Calibri"/>
        <a:ea typeface="Calibri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1716</TotalTime>
  <Words>1251</Words>
  <Application>Microsoft Office PowerPoint</Application>
  <PresentationFormat>Widescreen</PresentationFormat>
  <Paragraphs>341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Segoe UI</vt:lpstr>
      <vt:lpstr>Abril Fatface</vt:lpstr>
      <vt:lpstr>Wingdings</vt:lpstr>
      <vt:lpstr>Arial</vt:lpstr>
      <vt:lpstr>Calibri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 Members</Manager>
  <Company>YESFORM Co.,Ltd.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Templates, Diagram, Chart, Google slides, Keynote</dc:subject>
  <dc:creator>Slide Members by IA.HAN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HP</cp:lastModifiedBy>
  <cp:revision>23</cp:revision>
  <dcterms:created xsi:type="dcterms:W3CDTF">2022-01-01T06:51:30Z</dcterms:created>
  <dcterms:modified xsi:type="dcterms:W3CDTF">2026-01-07T12:12:56Z</dcterms:modified>
  <cp:category>www.slidemembers.com</cp:category>
</cp:coreProperties>
</file>