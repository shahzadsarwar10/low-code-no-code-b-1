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4" r:id="rId1"/>
  </p:sldMasterIdLst>
  <p:notesMasterIdLst>
    <p:notesMasterId r:id="rId3"/>
  </p:notesMasterIdLst>
  <p:sldIdLst>
    <p:sldId id="293" r:id="rId2"/>
  </p:sldIdLst>
  <p:sldSz cx="6858000" cy="9144000" type="letter"/>
  <p:notesSz cx="6858000" cy="9144000"/>
  <p:embeddedFontLst>
    <p:embeddedFont>
      <p:font typeface="Malgun Gothic" panose="020B0503020000020004" pitchFamily="34" charset="-127"/>
      <p:regular r:id="rId4"/>
      <p:bold r:id="rId5"/>
    </p:embeddedFont>
    <p:embeddedFont>
      <p:font typeface="Bebas Neue" panose="020B0604020202020204" charset="0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35" autoAdjust="0"/>
    <p:restoredTop sz="96238" autoAdjust="0"/>
  </p:normalViewPr>
  <p:slideViewPr>
    <p:cSldViewPr snapToGrid="0" snapToObjects="1">
      <p:cViewPr varScale="1">
        <p:scale>
          <a:sx n="88" d="100"/>
          <a:sy n="88" d="100"/>
        </p:scale>
        <p:origin x="2886" y="10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x-none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D3205-9A40-EB48-B8C9-6BB80B2713CF}" type="datetimeFigureOut">
              <a:rPr kumimoji="1" lang="x-none" altLang="en-US" smtClean="0"/>
              <a:t>12/12/2025</a:t>
            </a:fld>
            <a:endParaRPr kumimoji="1" lang="x-none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x-none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x-none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B7742-A3F1-2644-8AB0-19F0886D3103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320737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="" xmlns:a16="http://schemas.microsoft.com/office/drawing/2014/main" id="{66651850-B82F-ED42-B795-9D6236D081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9144000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318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7">
            <a:extLst>
              <a:ext uri="{FF2B5EF4-FFF2-40B4-BE49-F238E27FC236}">
                <a16:creationId xmlns="" xmlns:a16="http://schemas.microsoft.com/office/drawing/2014/main" id="{7589B71F-D5D0-3541-A384-6FE8EADEA3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7999" cy="9144000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2329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7">
            <a:extLst>
              <a:ext uri="{FF2B5EF4-FFF2-40B4-BE49-F238E27FC236}">
                <a16:creationId xmlns="" xmlns:a16="http://schemas.microsoft.com/office/drawing/2014/main" id="{0F37CD8C-92F9-C54D-8B75-115339B076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857999" cy="4572000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57285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="" xmlns:a16="http://schemas.microsoft.com/office/drawing/2014/main" id="{CC982DE6-A84D-664C-AF2D-41CA386327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0007" y="0"/>
            <a:ext cx="6007994" cy="5550794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2662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그림 개체 틀 7">
            <a:extLst>
              <a:ext uri="{FF2B5EF4-FFF2-40B4-BE49-F238E27FC236}">
                <a16:creationId xmlns="" xmlns:a16="http://schemas.microsoft.com/office/drawing/2014/main" id="{D1B9AFD2-2D0D-D34F-A92A-FFAA72B16E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9144000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8115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7">
            <a:extLst>
              <a:ext uri="{FF2B5EF4-FFF2-40B4-BE49-F238E27FC236}">
                <a16:creationId xmlns="" xmlns:a16="http://schemas.microsoft.com/office/drawing/2014/main" id="{FB5CDC38-B9E4-3048-9B85-51378B415E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9144000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4620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7">
            <a:extLst>
              <a:ext uri="{FF2B5EF4-FFF2-40B4-BE49-F238E27FC236}">
                <a16:creationId xmlns="" xmlns:a16="http://schemas.microsoft.com/office/drawing/2014/main" id="{2764983E-85D5-8F4B-BFA4-45A2CDCB6F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166533"/>
            <a:ext cx="6858000" cy="5977468"/>
          </a:xfrm>
        </p:spPr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2712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그림 개체 틀 7">
            <a:extLst>
              <a:ext uri="{FF2B5EF4-FFF2-40B4-BE49-F238E27FC236}">
                <a16:creationId xmlns="" xmlns:a16="http://schemas.microsoft.com/office/drawing/2014/main" id="{C4A93DEB-77F4-634A-B850-9C90669F870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858000" cy="9144000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2241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="" xmlns:a16="http://schemas.microsoft.com/office/drawing/2014/main" id="{2D917E16-0208-4849-87CA-DD5350FBA5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76102" y="2550248"/>
            <a:ext cx="5381897" cy="4043505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69537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7">
            <a:extLst>
              <a:ext uri="{FF2B5EF4-FFF2-40B4-BE49-F238E27FC236}">
                <a16:creationId xmlns="" xmlns:a16="http://schemas.microsoft.com/office/drawing/2014/main" id="{A2701B67-F525-3140-BAD2-D79DB304C7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9144000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8058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7">
            <a:extLst>
              <a:ext uri="{FF2B5EF4-FFF2-40B4-BE49-F238E27FC236}">
                <a16:creationId xmlns="" xmlns:a16="http://schemas.microsoft.com/office/drawing/2014/main" id="{89672349-10E6-C144-B74F-9C9099D9D0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858000" cy="9144001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84291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="" xmlns:a16="http://schemas.microsoft.com/office/drawing/2014/main" id="{4E03D469-029A-9F45-96EA-5424C4D1C5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71801"/>
            <a:ext cx="6858000" cy="4127268"/>
          </a:xfrm>
        </p:spPr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89200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167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2BABE-BBAD-CB46-A741-944DA49A4DC9}" type="datetimeFigureOut">
              <a:rPr kumimoji="1" lang="ko-KR" altLang="en-US" smtClean="0"/>
              <a:t>2025-12-12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312BF-63D2-D540-ADA9-6DC63533A88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83646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98" r:id="rId12"/>
    <p:sldLayoutId id="2147483699" r:id="rId13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www.revenueoperationsalliance.com/what-is-revenue-operations-revops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cognism.com/blog/revenue-operations" TargetMode="External"/><Relationship Id="rId5" Type="http://schemas.openxmlformats.org/officeDocument/2006/relationships/hyperlink" Target="https://www.salesforce.com/ap/sales/revenue-lifecycle-management/what-is-revenue-operations/" TargetMode="Externa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개체 틀 9">
            <a:extLst>
              <a:ext uri="{FF2B5EF4-FFF2-40B4-BE49-F238E27FC236}">
                <a16:creationId xmlns="" xmlns:a16="http://schemas.microsoft.com/office/drawing/2014/main" id="{F9967EFE-6240-7C4B-80D1-EF2EA16A45A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54" y="-29028"/>
            <a:ext cx="6858000" cy="9144000"/>
          </a:xfr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33EEBDC-40A6-7A49-AA82-6D6D55E4A568}"/>
              </a:ext>
            </a:extLst>
          </p:cNvPr>
          <p:cNvSpPr txBox="1"/>
          <p:nvPr/>
        </p:nvSpPr>
        <p:spPr>
          <a:xfrm>
            <a:off x="7754" y="1"/>
            <a:ext cx="68502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r>
              <a:rPr lang="en-US" altLang="ko-KR" sz="3400" spc="0" dirty="0" smtClean="0">
                <a:solidFill>
                  <a:schemeClr val="bg1"/>
                </a:solidFill>
              </a:rPr>
              <a:t>Revenue Operations , “Rev-Ops” – The Future</a:t>
            </a:r>
            <a:endParaRPr lang="ko-KR" altLang="en-US" sz="3400" spc="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4844571"/>
            <a:ext cx="6858000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What - Why in this course?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430" y="2008971"/>
            <a:ext cx="3358243" cy="276623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8" y="2001716"/>
            <a:ext cx="3492005" cy="278855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5304" y="513549"/>
            <a:ext cx="6854531" cy="144655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Revenue Operations (</a:t>
            </a:r>
            <a:r>
              <a:rPr lang="en-US" sz="1600" b="1" dirty="0" err="1">
                <a:solidFill>
                  <a:schemeClr val="bg1"/>
                </a:solidFill>
              </a:rPr>
              <a:t>RevOps</a:t>
            </a:r>
            <a:r>
              <a:rPr lang="en-US" sz="1600" b="1" dirty="0">
                <a:solidFill>
                  <a:schemeClr val="bg1"/>
                </a:solidFill>
              </a:rPr>
              <a:t>) </a:t>
            </a:r>
            <a:r>
              <a:rPr lang="en-US" sz="1400" dirty="0">
                <a:solidFill>
                  <a:schemeClr val="bg1"/>
                </a:solidFill>
              </a:rPr>
              <a:t>is a strategic business function that aligns and optimizes all revenue-generating activities and departments—specifically marketing, sales, and customer success—to drive efficient and predictable growth. </a:t>
            </a:r>
          </a:p>
          <a:p>
            <a:r>
              <a:rPr lang="en-US" sz="1600" b="1" dirty="0" err="1">
                <a:solidFill>
                  <a:schemeClr val="bg1"/>
                </a:solidFill>
              </a:rPr>
              <a:t>RevOps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serves as the central nervous system for a business, aiming to break down traditional departmental silos by unifying processes, data, and technology across the entire customer lifecycle, from initial lead generation to post-sale retention and expansion. </a:t>
            </a:r>
          </a:p>
        </p:txBody>
      </p:sp>
      <p:sp>
        <p:nvSpPr>
          <p:cNvPr id="2" name="Rectangle 1"/>
          <p:cNvSpPr/>
          <p:nvPr/>
        </p:nvSpPr>
        <p:spPr>
          <a:xfrm>
            <a:off x="-16327" y="5136956"/>
            <a:ext cx="6858000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bg1"/>
                </a:solidFill>
              </a:rPr>
              <a:t>There is no single "no code" for "revenue operations" because revenue operations (</a:t>
            </a:r>
            <a:r>
              <a:rPr lang="en-US" sz="1400" dirty="0" err="1">
                <a:solidFill>
                  <a:schemeClr val="bg1"/>
                </a:solidFill>
              </a:rPr>
              <a:t>RevOps</a:t>
            </a:r>
            <a:r>
              <a:rPr lang="en-US" sz="1400" dirty="0">
                <a:solidFill>
                  <a:schemeClr val="bg1"/>
                </a:solidFill>
              </a:rPr>
              <a:t>) is a professional function, not a single piece of software. However, many </a:t>
            </a:r>
            <a:r>
              <a:rPr lang="en-US" sz="1400" dirty="0" err="1">
                <a:solidFill>
                  <a:schemeClr val="bg1"/>
                </a:solidFill>
              </a:rPr>
              <a:t>RevOps</a:t>
            </a:r>
            <a:r>
              <a:rPr lang="en-US" sz="1400" dirty="0">
                <a:solidFill>
                  <a:schemeClr val="bg1"/>
                </a:solidFill>
              </a:rPr>
              <a:t> professionals use low-code or no-code tools to automate workflows and connect different systems, which helps them overcome the limitations of a manually-integrated tech stack, which is often necessary because they aren't typically software engineers themselves. </a:t>
            </a:r>
            <a:r>
              <a:rPr lang="en-US" sz="1400" b="1" dirty="0" err="1" smtClean="0">
                <a:solidFill>
                  <a:schemeClr val="bg1"/>
                </a:solidFill>
              </a:rPr>
              <a:t>RevOps</a:t>
            </a:r>
            <a:r>
              <a:rPr lang="en-US" sz="1400" b="1" dirty="0" smtClean="0">
                <a:solidFill>
                  <a:schemeClr val="bg1"/>
                </a:solidFill>
              </a:rPr>
              <a:t> </a:t>
            </a:r>
            <a:r>
              <a:rPr lang="en-US" sz="1400" b="1" dirty="0">
                <a:solidFill>
                  <a:schemeClr val="bg1"/>
                </a:solidFill>
              </a:rPr>
              <a:t>is a function, not a </a:t>
            </a:r>
            <a:r>
              <a:rPr lang="en-US" sz="1400" b="1" dirty="0" smtClean="0">
                <a:solidFill>
                  <a:schemeClr val="bg1"/>
                </a:solidFill>
              </a:rPr>
              <a:t>product.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304" y="6585045"/>
            <a:ext cx="6822696" cy="160043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The adoption of a dedicated </a:t>
            </a:r>
            <a:r>
              <a:rPr lang="en-US" sz="1400" dirty="0" err="1">
                <a:solidFill>
                  <a:schemeClr val="bg1"/>
                </a:solidFill>
              </a:rPr>
              <a:t>RevOps</a:t>
            </a:r>
            <a:r>
              <a:rPr lang="en-US" sz="1400" dirty="0">
                <a:solidFill>
                  <a:schemeClr val="bg1"/>
                </a:solidFill>
              </a:rPr>
              <a:t> function has increased significantly, from 33% of companies in 2020 to 48% in 2024, with predictions that 75% of high-growth companies will adopt this model by 2025. This growth is reflected in the job market, with over 174,000 </a:t>
            </a:r>
            <a:r>
              <a:rPr lang="en-US" sz="1400" dirty="0" err="1">
                <a:solidFill>
                  <a:schemeClr val="bg1"/>
                </a:solidFill>
              </a:rPr>
              <a:t>RevOps</a:t>
            </a:r>
            <a:r>
              <a:rPr lang="en-US" sz="1400" dirty="0">
                <a:solidFill>
                  <a:schemeClr val="bg1"/>
                </a:solidFill>
              </a:rPr>
              <a:t> job postings found on </a:t>
            </a:r>
            <a:r>
              <a:rPr lang="en-US" sz="1400" dirty="0" err="1">
                <a:solidFill>
                  <a:schemeClr val="bg1"/>
                </a:solidFill>
              </a:rPr>
              <a:t>ZipRecruiter</a:t>
            </a:r>
            <a:r>
              <a:rPr lang="en-US" sz="1400" dirty="0">
                <a:solidFill>
                  <a:schemeClr val="bg1"/>
                </a:solidFill>
              </a:rPr>
              <a:t> in mid-2024. The revenue operations software market alone was valued at $3.71 billion in 2023 and is projected to reach $15.9 billion by 2033, demonstrating substantial investment in the field. Companies with aligned processes and technology due to </a:t>
            </a:r>
            <a:r>
              <a:rPr lang="en-US" sz="1400" dirty="0" err="1">
                <a:solidFill>
                  <a:schemeClr val="bg1"/>
                </a:solidFill>
              </a:rPr>
              <a:t>RevOps</a:t>
            </a:r>
            <a:r>
              <a:rPr lang="en-US" sz="1400" dirty="0">
                <a:solidFill>
                  <a:schemeClr val="bg1"/>
                </a:solidFill>
              </a:rPr>
              <a:t> have shown significant revenue growth and profitability. </a:t>
            </a:r>
          </a:p>
        </p:txBody>
      </p:sp>
      <p:sp>
        <p:nvSpPr>
          <p:cNvPr id="5" name="Rectangle 4"/>
          <p:cNvSpPr/>
          <p:nvPr/>
        </p:nvSpPr>
        <p:spPr>
          <a:xfrm>
            <a:off x="-1813" y="8261327"/>
            <a:ext cx="6906162" cy="81560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References:</a:t>
            </a:r>
          </a:p>
          <a:p>
            <a:r>
              <a:rPr lang="en-US" sz="1100" dirty="0" smtClean="0">
                <a:solidFill>
                  <a:schemeClr val="bg1"/>
                </a:solidFill>
                <a:hlinkClick r:id="rId5"/>
              </a:rPr>
              <a:t>https</a:t>
            </a:r>
            <a:r>
              <a:rPr lang="en-US" sz="1100" dirty="0">
                <a:solidFill>
                  <a:schemeClr val="bg1"/>
                </a:solidFill>
                <a:hlinkClick r:id="rId5"/>
              </a:rPr>
              <a:t>://www.salesforce.com/ap/sales/revenue-lifecycle-management/what-is-revenue-operations</a:t>
            </a:r>
            <a:r>
              <a:rPr lang="en-US" sz="1100" dirty="0" smtClean="0">
                <a:solidFill>
                  <a:schemeClr val="bg1"/>
                </a:solidFill>
                <a:hlinkClick r:id="rId5"/>
              </a:rPr>
              <a:t>/</a:t>
            </a:r>
            <a:r>
              <a:rPr lang="en-US" sz="1100" dirty="0" smtClean="0">
                <a:solidFill>
                  <a:schemeClr val="bg1"/>
                </a:solidFill>
              </a:rPr>
              <a:t> </a:t>
            </a:r>
            <a:r>
              <a:rPr lang="en-US" sz="1100" dirty="0">
                <a:solidFill>
                  <a:schemeClr val="bg1"/>
                </a:solidFill>
              </a:rPr>
              <a:t/>
            </a:r>
            <a:br>
              <a:rPr lang="en-US" sz="1100" dirty="0">
                <a:solidFill>
                  <a:schemeClr val="bg1"/>
                </a:solidFill>
              </a:rPr>
            </a:br>
            <a:r>
              <a:rPr lang="en-US" sz="1100" dirty="0">
                <a:solidFill>
                  <a:schemeClr val="bg1"/>
                </a:solidFill>
                <a:hlinkClick r:id="rId6"/>
              </a:rPr>
              <a:t>https://</a:t>
            </a:r>
            <a:r>
              <a:rPr lang="en-US" sz="1100" dirty="0" smtClean="0">
                <a:solidFill>
                  <a:schemeClr val="bg1"/>
                </a:solidFill>
                <a:hlinkClick r:id="rId6"/>
              </a:rPr>
              <a:t>www.cognism.com/blog/revenue-operations</a:t>
            </a:r>
            <a:endParaRPr lang="en-US" sz="1100" dirty="0" smtClean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  <a:hlinkClick r:id="rId7"/>
              </a:rPr>
              <a:t>https://www.revenueoperationsalliance.com/what-is-revenue-operations-revops</a:t>
            </a:r>
            <a:r>
              <a:rPr lang="en-US" sz="1100" dirty="0" smtClean="0">
                <a:hlinkClick r:id="rId7"/>
              </a:rPr>
              <a:t>/</a:t>
            </a:r>
            <a:r>
              <a:rPr lang="en-US" sz="1100" dirty="0" smtClean="0"/>
              <a:t>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20019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사용자 지정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3CDD6"/>
      </a:accent1>
      <a:accent2>
        <a:srgbClr val="000C1D"/>
      </a:accent2>
      <a:accent3>
        <a:srgbClr val="06B5C6"/>
      </a:accent3>
      <a:accent4>
        <a:srgbClr val="1CA2DA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Bebas Neue"/>
        <a:ea typeface="Calibri"/>
        <a:cs typeface=""/>
      </a:majorFont>
      <a:minorFont>
        <a:latin typeface="Calibri"/>
        <a:ea typeface="Calibri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3487</TotalTime>
  <Words>287</Words>
  <Application>Microsoft Office PowerPoint</Application>
  <PresentationFormat>Letter Paper (8.5x11 in)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Wingdings</vt:lpstr>
      <vt:lpstr>Arial</vt:lpstr>
      <vt:lpstr>Malgun Gothic</vt:lpstr>
      <vt:lpstr>Bebas Neue</vt:lpstr>
      <vt:lpstr>Calibri</vt:lpstr>
      <vt:lpstr>Office 테마</vt:lpstr>
      <vt:lpstr>PowerPoint Presentation</vt:lpstr>
    </vt:vector>
  </TitlesOfParts>
  <Manager>Slide Members</Manager>
  <Company>YESFORM Co.,Ltd.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Members</dc:title>
  <dc:subject>Powerpoint Templates , Diagram, Chart, Google slides, Keynote</dc:subject>
  <dc:creator>Slide Members by IA.HAN</dc:creator>
  <cp:keywords>SlideMembers, ppt, PPT Templates, Presentation, Diagram, Chart, Yesform, Google slides, Keynote, Free Slides</cp:keywords>
  <dc:description>The copyright of this document is at Slide Members. Unauthorized copying may result in legal sanctions.</dc:description>
  <cp:lastModifiedBy>HP</cp:lastModifiedBy>
  <cp:revision>210</cp:revision>
  <dcterms:created xsi:type="dcterms:W3CDTF">2022-01-01T06:51:30Z</dcterms:created>
  <dcterms:modified xsi:type="dcterms:W3CDTF">2025-12-12T18:26:26Z</dcterms:modified>
  <cp:category>www.slidemembers.com</cp:category>
</cp:coreProperties>
</file>