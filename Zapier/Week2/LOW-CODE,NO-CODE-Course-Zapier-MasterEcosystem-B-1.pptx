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sldIdLst>
    <p:sldId id="256" r:id="rId2"/>
    <p:sldId id="293" r:id="rId3"/>
    <p:sldId id="298" r:id="rId4"/>
    <p:sldId id="300" r:id="rId5"/>
    <p:sldId id="299" r:id="rId6"/>
    <p:sldId id="301" r:id="rId7"/>
    <p:sldId id="304" r:id="rId8"/>
    <p:sldId id="305" r:id="rId9"/>
    <p:sldId id="302" r:id="rId10"/>
    <p:sldId id="303" r:id="rId11"/>
    <p:sldId id="306" r:id="rId12"/>
    <p:sldId id="307" r:id="rId13"/>
    <p:sldId id="308" r:id="rId14"/>
    <p:sldId id="309" r:id="rId15"/>
    <p:sldId id="294" r:id="rId16"/>
    <p:sldId id="295" r:id="rId17"/>
    <p:sldId id="289" r:id="rId18"/>
  </p:sldIdLst>
  <p:sldSz cx="6858000" cy="9144000" type="letter"/>
  <p:notesSz cx="6858000" cy="9144000"/>
  <p:embeddedFontLst>
    <p:embeddedFont>
      <p:font typeface="Calibri" panose="020F0502020204030204" pitchFamily="34" charset="0"/>
      <p:regular r:id="rId19"/>
      <p:bold r:id="rId20"/>
      <p:italic r:id="rId21"/>
      <p:boldItalic r:id="rId22"/>
    </p:embeddedFont>
    <p:embeddedFont>
      <p:font typeface="Segoe UI" panose="020B0502040204020203" pitchFamily="34" charset="0"/>
      <p:regular r:id="rId23"/>
      <p:bold r:id="rId24"/>
      <p:italic r:id="rId25"/>
      <p:boldItalic r:id="rId26"/>
    </p:embeddedFont>
    <p:embeddedFont>
      <p:font typeface="Segoe UI Symbol" panose="020B0502040204020203" pitchFamily="34" charset="0"/>
      <p:regular r:id="rId27"/>
    </p:embeddedFont>
    <p:embeddedFont>
      <p:font typeface="Malgun Gothic" panose="020B0503020000020004" pitchFamily="34" charset="-127"/>
      <p:regular r:id="rId28"/>
      <p:bold r:id="rId29"/>
    </p:embeddedFont>
    <p:embeddedFont>
      <p:font typeface="Anton" panose="020B0604020202020204" charset="0"/>
      <p:regular r:id="rId3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14" autoAdjust="0"/>
  </p:normalViewPr>
  <p:slideViewPr>
    <p:cSldViewPr snapToGrid="0">
      <p:cViewPr varScale="1">
        <p:scale>
          <a:sx n="88" d="100"/>
          <a:sy n="88" d="100"/>
        </p:scale>
        <p:origin x="2886" y="90"/>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4FD1D7F-2ACD-4881-8790-F2715FA5E1B3}" type="datetimeFigureOut">
              <a:rPr lang="ko-KR" altLang="en-US" smtClean="0"/>
              <a:t>2025-12-18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C735C646-72D8-48C6-BF50-138A065842B4}" type="slidenum">
              <a:rPr lang="ko-KR" altLang="en-US" smtClean="0"/>
              <a:t>‹#›</a:t>
            </a:fld>
            <a:endParaRPr lang="ko-KR" altLang="en-US"/>
          </a:p>
        </p:txBody>
      </p:sp>
      <p:sp>
        <p:nvSpPr>
          <p:cNvPr id="12" name="그림 개체 틀 11">
            <a:extLst>
              <a:ext uri="{FF2B5EF4-FFF2-40B4-BE49-F238E27FC236}">
                <a16:creationId xmlns:a16="http://schemas.microsoft.com/office/drawing/2014/main" xmlns="" id="{BA8C479E-FF98-4BEF-871E-87AD32125683}"/>
              </a:ext>
            </a:extLst>
          </p:cNvPr>
          <p:cNvSpPr>
            <a:spLocks noGrp="1"/>
          </p:cNvSpPr>
          <p:nvPr>
            <p:ph type="pic" sz="quarter" idx="13"/>
          </p:nvPr>
        </p:nvSpPr>
        <p:spPr>
          <a:xfrm>
            <a:off x="1" y="-1"/>
            <a:ext cx="5244027" cy="6506269"/>
          </a:xfrm>
        </p:spPr>
        <p:txBody>
          <a:bodyPr/>
          <a:lstStyle/>
          <a:p>
            <a:endParaRPr lang="ko-KR" altLang="en-US"/>
          </a:p>
        </p:txBody>
      </p:sp>
    </p:spTree>
    <p:extLst>
      <p:ext uri="{BB962C8B-B14F-4D97-AF65-F5344CB8AC3E}">
        <p14:creationId xmlns:p14="http://schemas.microsoft.com/office/powerpoint/2010/main" val="467300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제목 슬라이드">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4FD1D7F-2ACD-4881-8790-F2715FA5E1B3}" type="datetimeFigureOut">
              <a:rPr lang="ko-KR" altLang="en-US" smtClean="0"/>
              <a:t>2025-12-18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C735C646-72D8-48C6-BF50-138A065842B4}" type="slidenum">
              <a:rPr lang="ko-KR" altLang="en-US" smtClean="0"/>
              <a:t>‹#›</a:t>
            </a:fld>
            <a:endParaRPr lang="ko-KR" altLang="en-US"/>
          </a:p>
        </p:txBody>
      </p:sp>
      <p:sp>
        <p:nvSpPr>
          <p:cNvPr id="3" name="그림 개체 틀 2">
            <a:extLst>
              <a:ext uri="{FF2B5EF4-FFF2-40B4-BE49-F238E27FC236}">
                <a16:creationId xmlns:a16="http://schemas.microsoft.com/office/drawing/2014/main" xmlns="" id="{715A3FE1-F415-4599-A59C-30DB58FDCEB3}"/>
              </a:ext>
            </a:extLst>
          </p:cNvPr>
          <p:cNvSpPr>
            <a:spLocks noGrp="1"/>
          </p:cNvSpPr>
          <p:nvPr>
            <p:ph type="pic" sz="quarter" idx="13"/>
          </p:nvPr>
        </p:nvSpPr>
        <p:spPr>
          <a:xfrm>
            <a:off x="1476261" y="0"/>
            <a:ext cx="5381740" cy="9144000"/>
          </a:xfrm>
        </p:spPr>
        <p:txBody>
          <a:bodyPr/>
          <a:lstStyle/>
          <a:p>
            <a:endParaRPr lang="ko-KR" altLang="en-US"/>
          </a:p>
        </p:txBody>
      </p:sp>
    </p:spTree>
    <p:extLst>
      <p:ext uri="{BB962C8B-B14F-4D97-AF65-F5344CB8AC3E}">
        <p14:creationId xmlns:p14="http://schemas.microsoft.com/office/powerpoint/2010/main" val="30363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제목 슬라이드">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4FD1D7F-2ACD-4881-8790-F2715FA5E1B3}" type="datetimeFigureOut">
              <a:rPr lang="ko-KR" altLang="en-US" smtClean="0"/>
              <a:t>2025-12-18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C735C646-72D8-48C6-BF50-138A065842B4}" type="slidenum">
              <a:rPr lang="ko-KR" altLang="en-US" smtClean="0"/>
              <a:t>‹#›</a:t>
            </a:fld>
            <a:endParaRPr lang="ko-KR" altLang="en-US"/>
          </a:p>
        </p:txBody>
      </p:sp>
    </p:spTree>
    <p:extLst>
      <p:ext uri="{BB962C8B-B14F-4D97-AF65-F5344CB8AC3E}">
        <p14:creationId xmlns:p14="http://schemas.microsoft.com/office/powerpoint/2010/main" val="2377056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제목 슬라이드">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4FD1D7F-2ACD-4881-8790-F2715FA5E1B3}" type="datetimeFigureOut">
              <a:rPr lang="ko-KR" altLang="en-US" smtClean="0"/>
              <a:t>2025-12-18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C735C646-72D8-48C6-BF50-138A065842B4}" type="slidenum">
              <a:rPr lang="ko-KR" altLang="en-US" smtClean="0"/>
              <a:t>‹#›</a:t>
            </a:fld>
            <a:endParaRPr lang="ko-KR" altLang="en-US"/>
          </a:p>
        </p:txBody>
      </p:sp>
      <p:sp>
        <p:nvSpPr>
          <p:cNvPr id="3" name="그림 개체 틀 2">
            <a:extLst>
              <a:ext uri="{FF2B5EF4-FFF2-40B4-BE49-F238E27FC236}">
                <a16:creationId xmlns:a16="http://schemas.microsoft.com/office/drawing/2014/main" xmlns="" id="{B9F56E78-54C7-4901-98C4-1DD94EDAE919}"/>
              </a:ext>
            </a:extLst>
          </p:cNvPr>
          <p:cNvSpPr>
            <a:spLocks noGrp="1"/>
          </p:cNvSpPr>
          <p:nvPr>
            <p:ph type="pic" sz="quarter" idx="13"/>
          </p:nvPr>
        </p:nvSpPr>
        <p:spPr>
          <a:xfrm>
            <a:off x="3429000" y="914400"/>
            <a:ext cx="3429000" cy="5100848"/>
          </a:xfrm>
        </p:spPr>
        <p:txBody>
          <a:bodyPr/>
          <a:lstStyle/>
          <a:p>
            <a:endParaRPr lang="ko-KR" altLang="en-US"/>
          </a:p>
        </p:txBody>
      </p:sp>
    </p:spTree>
    <p:extLst>
      <p:ext uri="{BB962C8B-B14F-4D97-AF65-F5344CB8AC3E}">
        <p14:creationId xmlns:p14="http://schemas.microsoft.com/office/powerpoint/2010/main" val="2437761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제목 슬라이드">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4FD1D7F-2ACD-4881-8790-F2715FA5E1B3}" type="datetimeFigureOut">
              <a:rPr lang="ko-KR" altLang="en-US" smtClean="0"/>
              <a:t>2025-12-18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C735C646-72D8-48C6-BF50-138A065842B4}" type="slidenum">
              <a:rPr lang="ko-KR" altLang="en-US" smtClean="0"/>
              <a:t>‹#›</a:t>
            </a:fld>
            <a:endParaRPr lang="ko-KR" altLang="en-US"/>
          </a:p>
        </p:txBody>
      </p:sp>
      <p:sp>
        <p:nvSpPr>
          <p:cNvPr id="10" name="그림 개체 틀 6">
            <a:extLst>
              <a:ext uri="{FF2B5EF4-FFF2-40B4-BE49-F238E27FC236}">
                <a16:creationId xmlns:a16="http://schemas.microsoft.com/office/drawing/2014/main" xmlns="" id="{6234F5D6-DA1D-4B4D-9980-EB9416AFC19F}"/>
              </a:ext>
            </a:extLst>
          </p:cNvPr>
          <p:cNvSpPr>
            <a:spLocks noGrp="1"/>
          </p:cNvSpPr>
          <p:nvPr>
            <p:ph type="pic" sz="quarter" idx="15"/>
          </p:nvPr>
        </p:nvSpPr>
        <p:spPr>
          <a:xfrm>
            <a:off x="4726237" y="3682824"/>
            <a:ext cx="2131764" cy="2131764"/>
          </a:xfrm>
        </p:spPr>
        <p:txBody>
          <a:bodyPr/>
          <a:lstStyle/>
          <a:p>
            <a:endParaRPr lang="ko-KR" altLang="en-US" dirty="0"/>
          </a:p>
        </p:txBody>
      </p:sp>
    </p:spTree>
    <p:extLst>
      <p:ext uri="{BB962C8B-B14F-4D97-AF65-F5344CB8AC3E}">
        <p14:creationId xmlns:p14="http://schemas.microsoft.com/office/powerpoint/2010/main" val="2601584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제목 슬라이드">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4FD1D7F-2ACD-4881-8790-F2715FA5E1B3}" type="datetimeFigureOut">
              <a:rPr lang="ko-KR" altLang="en-US" smtClean="0"/>
              <a:t>2025-12-18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C735C646-72D8-48C6-BF50-138A065842B4}" type="slidenum">
              <a:rPr lang="ko-KR" altLang="en-US" smtClean="0"/>
              <a:t>‹#›</a:t>
            </a:fld>
            <a:endParaRPr lang="ko-KR" altLang="en-US"/>
          </a:p>
        </p:txBody>
      </p:sp>
      <p:sp>
        <p:nvSpPr>
          <p:cNvPr id="8" name="그림 개체 틀 7">
            <a:extLst>
              <a:ext uri="{FF2B5EF4-FFF2-40B4-BE49-F238E27FC236}">
                <a16:creationId xmlns:a16="http://schemas.microsoft.com/office/drawing/2014/main" xmlns="" id="{C75E999C-36A9-4B13-A499-7BE05F2F0D7E}"/>
              </a:ext>
            </a:extLst>
          </p:cNvPr>
          <p:cNvSpPr>
            <a:spLocks noGrp="1"/>
          </p:cNvSpPr>
          <p:nvPr>
            <p:ph type="pic" sz="quarter" idx="13"/>
          </p:nvPr>
        </p:nvSpPr>
        <p:spPr>
          <a:xfrm>
            <a:off x="4726237" y="0"/>
            <a:ext cx="2131763" cy="4572000"/>
          </a:xfrm>
        </p:spPr>
        <p:txBody>
          <a:bodyPr/>
          <a:lstStyle/>
          <a:p>
            <a:endParaRPr lang="ko-KR" altLang="en-US"/>
          </a:p>
        </p:txBody>
      </p:sp>
      <p:sp>
        <p:nvSpPr>
          <p:cNvPr id="11" name="그림 개체 틀 7">
            <a:extLst>
              <a:ext uri="{FF2B5EF4-FFF2-40B4-BE49-F238E27FC236}">
                <a16:creationId xmlns:a16="http://schemas.microsoft.com/office/drawing/2014/main" xmlns="" id="{2BFD267E-B080-4CC0-AD1A-8172B75093C3}"/>
              </a:ext>
            </a:extLst>
          </p:cNvPr>
          <p:cNvSpPr>
            <a:spLocks noGrp="1"/>
          </p:cNvSpPr>
          <p:nvPr>
            <p:ph type="pic" sz="quarter" idx="14"/>
          </p:nvPr>
        </p:nvSpPr>
        <p:spPr>
          <a:xfrm>
            <a:off x="4726237" y="4572000"/>
            <a:ext cx="2131763" cy="2286000"/>
          </a:xfrm>
        </p:spPr>
        <p:txBody>
          <a:bodyPr/>
          <a:lstStyle/>
          <a:p>
            <a:endParaRPr lang="ko-KR" altLang="en-US"/>
          </a:p>
        </p:txBody>
      </p:sp>
      <p:sp>
        <p:nvSpPr>
          <p:cNvPr id="12" name="그림 개체 틀 7">
            <a:extLst>
              <a:ext uri="{FF2B5EF4-FFF2-40B4-BE49-F238E27FC236}">
                <a16:creationId xmlns:a16="http://schemas.microsoft.com/office/drawing/2014/main" xmlns="" id="{6DE5BDA9-4DC8-4873-8EFF-C5EA1F370141}"/>
              </a:ext>
            </a:extLst>
          </p:cNvPr>
          <p:cNvSpPr>
            <a:spLocks noGrp="1"/>
          </p:cNvSpPr>
          <p:nvPr>
            <p:ph type="pic" sz="quarter" idx="15"/>
          </p:nvPr>
        </p:nvSpPr>
        <p:spPr>
          <a:xfrm>
            <a:off x="4726237" y="6858000"/>
            <a:ext cx="2131763" cy="2286000"/>
          </a:xfrm>
        </p:spPr>
        <p:txBody>
          <a:bodyPr/>
          <a:lstStyle/>
          <a:p>
            <a:endParaRPr lang="ko-KR" altLang="en-US"/>
          </a:p>
        </p:txBody>
      </p:sp>
    </p:spTree>
    <p:extLst>
      <p:ext uri="{BB962C8B-B14F-4D97-AF65-F5344CB8AC3E}">
        <p14:creationId xmlns:p14="http://schemas.microsoft.com/office/powerpoint/2010/main" val="685211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제목 슬라이드">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4FD1D7F-2ACD-4881-8790-F2715FA5E1B3}" type="datetimeFigureOut">
              <a:rPr lang="ko-KR" altLang="en-US" smtClean="0"/>
              <a:t>2025-12-18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C735C646-72D8-48C6-BF50-138A065842B4}" type="slidenum">
              <a:rPr lang="ko-KR" altLang="en-US" smtClean="0"/>
              <a:t>‹#›</a:t>
            </a:fld>
            <a:endParaRPr lang="ko-KR" altLang="en-US"/>
          </a:p>
        </p:txBody>
      </p:sp>
      <p:sp>
        <p:nvSpPr>
          <p:cNvPr id="3" name="그림 개체 틀 2">
            <a:extLst>
              <a:ext uri="{FF2B5EF4-FFF2-40B4-BE49-F238E27FC236}">
                <a16:creationId xmlns:a16="http://schemas.microsoft.com/office/drawing/2014/main" xmlns="" id="{6FDA95E9-E0C5-4AAA-87CB-BC91AAC492DA}"/>
              </a:ext>
            </a:extLst>
          </p:cNvPr>
          <p:cNvSpPr>
            <a:spLocks noGrp="1"/>
          </p:cNvSpPr>
          <p:nvPr>
            <p:ph type="pic" sz="quarter" idx="13"/>
          </p:nvPr>
        </p:nvSpPr>
        <p:spPr>
          <a:xfrm>
            <a:off x="660400" y="1214304"/>
            <a:ext cx="1981200" cy="2120900"/>
          </a:xfrm>
        </p:spPr>
        <p:txBody>
          <a:bodyPr/>
          <a:lstStyle/>
          <a:p>
            <a:endParaRPr lang="ko-KR" altLang="en-US"/>
          </a:p>
        </p:txBody>
      </p:sp>
      <p:sp>
        <p:nvSpPr>
          <p:cNvPr id="10" name="그림 개체 틀 2">
            <a:extLst>
              <a:ext uri="{FF2B5EF4-FFF2-40B4-BE49-F238E27FC236}">
                <a16:creationId xmlns:a16="http://schemas.microsoft.com/office/drawing/2014/main" xmlns="" id="{967BAA89-9438-49D0-BCCB-CB3A519AD6CA}"/>
              </a:ext>
            </a:extLst>
          </p:cNvPr>
          <p:cNvSpPr>
            <a:spLocks noGrp="1"/>
          </p:cNvSpPr>
          <p:nvPr>
            <p:ph type="pic" sz="quarter" idx="14"/>
          </p:nvPr>
        </p:nvSpPr>
        <p:spPr>
          <a:xfrm>
            <a:off x="660400" y="3709854"/>
            <a:ext cx="1981200" cy="2120900"/>
          </a:xfrm>
        </p:spPr>
        <p:txBody>
          <a:bodyPr/>
          <a:lstStyle/>
          <a:p>
            <a:endParaRPr lang="ko-KR" altLang="en-US"/>
          </a:p>
        </p:txBody>
      </p:sp>
      <p:sp>
        <p:nvSpPr>
          <p:cNvPr id="13" name="그림 개체 틀 2">
            <a:extLst>
              <a:ext uri="{FF2B5EF4-FFF2-40B4-BE49-F238E27FC236}">
                <a16:creationId xmlns:a16="http://schemas.microsoft.com/office/drawing/2014/main" xmlns="" id="{F5455D17-87B1-4D60-AEEC-1EE80C06C1B3}"/>
              </a:ext>
            </a:extLst>
          </p:cNvPr>
          <p:cNvSpPr>
            <a:spLocks noGrp="1"/>
          </p:cNvSpPr>
          <p:nvPr>
            <p:ph type="pic" sz="quarter" idx="15"/>
          </p:nvPr>
        </p:nvSpPr>
        <p:spPr>
          <a:xfrm>
            <a:off x="660400" y="6205404"/>
            <a:ext cx="1981200" cy="2120900"/>
          </a:xfrm>
        </p:spPr>
        <p:txBody>
          <a:bodyPr/>
          <a:lstStyle/>
          <a:p>
            <a:endParaRPr lang="ko-KR" altLang="en-US"/>
          </a:p>
        </p:txBody>
      </p:sp>
    </p:spTree>
    <p:extLst>
      <p:ext uri="{BB962C8B-B14F-4D97-AF65-F5344CB8AC3E}">
        <p14:creationId xmlns:p14="http://schemas.microsoft.com/office/powerpoint/2010/main" val="409516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제목 슬라이드">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4FD1D7F-2ACD-4881-8790-F2715FA5E1B3}" type="datetimeFigureOut">
              <a:rPr lang="ko-KR" altLang="en-US" smtClean="0"/>
              <a:t>2025-12-18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C735C646-72D8-48C6-BF50-138A065842B4}" type="slidenum">
              <a:rPr lang="ko-KR" altLang="en-US" smtClean="0"/>
              <a:t>‹#›</a:t>
            </a:fld>
            <a:endParaRPr lang="ko-KR" altLang="en-US"/>
          </a:p>
        </p:txBody>
      </p:sp>
      <p:sp>
        <p:nvSpPr>
          <p:cNvPr id="3" name="그림 개체 틀 2">
            <a:extLst>
              <a:ext uri="{FF2B5EF4-FFF2-40B4-BE49-F238E27FC236}">
                <a16:creationId xmlns:a16="http://schemas.microsoft.com/office/drawing/2014/main" xmlns="" id="{6FDA95E9-E0C5-4AAA-87CB-BC91AAC492DA}"/>
              </a:ext>
            </a:extLst>
          </p:cNvPr>
          <p:cNvSpPr>
            <a:spLocks noGrp="1"/>
          </p:cNvSpPr>
          <p:nvPr>
            <p:ph type="pic" sz="quarter" idx="13"/>
          </p:nvPr>
        </p:nvSpPr>
        <p:spPr>
          <a:xfrm>
            <a:off x="660400" y="1214304"/>
            <a:ext cx="3136530" cy="3357696"/>
          </a:xfrm>
        </p:spPr>
        <p:txBody>
          <a:bodyPr/>
          <a:lstStyle/>
          <a:p>
            <a:endParaRPr lang="ko-KR" altLang="en-US"/>
          </a:p>
        </p:txBody>
      </p:sp>
    </p:spTree>
    <p:extLst>
      <p:ext uri="{BB962C8B-B14F-4D97-AF65-F5344CB8AC3E}">
        <p14:creationId xmlns:p14="http://schemas.microsoft.com/office/powerpoint/2010/main" val="1621181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제목 슬라이드">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4FD1D7F-2ACD-4881-8790-F2715FA5E1B3}" type="datetimeFigureOut">
              <a:rPr lang="ko-KR" altLang="en-US" smtClean="0"/>
              <a:t>2025-12-18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C735C646-72D8-48C6-BF50-138A065842B4}" type="slidenum">
              <a:rPr lang="ko-KR" altLang="en-US" smtClean="0"/>
              <a:t>‹#›</a:t>
            </a:fld>
            <a:endParaRPr lang="ko-KR" altLang="en-US"/>
          </a:p>
        </p:txBody>
      </p:sp>
      <p:sp>
        <p:nvSpPr>
          <p:cNvPr id="3" name="그림 개체 틀 2">
            <a:extLst>
              <a:ext uri="{FF2B5EF4-FFF2-40B4-BE49-F238E27FC236}">
                <a16:creationId xmlns:a16="http://schemas.microsoft.com/office/drawing/2014/main" xmlns="" id="{6FDA95E9-E0C5-4AAA-87CB-BC91AAC492DA}"/>
              </a:ext>
            </a:extLst>
          </p:cNvPr>
          <p:cNvSpPr>
            <a:spLocks noGrp="1"/>
          </p:cNvSpPr>
          <p:nvPr>
            <p:ph type="pic" sz="quarter" idx="13"/>
          </p:nvPr>
        </p:nvSpPr>
        <p:spPr>
          <a:xfrm>
            <a:off x="0" y="5232400"/>
            <a:ext cx="6858000" cy="3911600"/>
          </a:xfrm>
        </p:spPr>
        <p:txBody>
          <a:bodyPr/>
          <a:lstStyle/>
          <a:p>
            <a:endParaRPr lang="ko-KR" altLang="en-US"/>
          </a:p>
        </p:txBody>
      </p:sp>
    </p:spTree>
    <p:extLst>
      <p:ext uri="{BB962C8B-B14F-4D97-AF65-F5344CB8AC3E}">
        <p14:creationId xmlns:p14="http://schemas.microsoft.com/office/powerpoint/2010/main" val="441140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제목 슬라이드">
    <p:spTree>
      <p:nvGrpSpPr>
        <p:cNvPr id="1" name=""/>
        <p:cNvGrpSpPr/>
        <p:nvPr/>
      </p:nvGrpSpPr>
      <p:grpSpPr>
        <a:xfrm>
          <a:off x="0" y="0"/>
          <a:ext cx="0" cy="0"/>
          <a:chOff x="0" y="0"/>
          <a:chExt cx="0" cy="0"/>
        </a:xfrm>
      </p:grpSpPr>
      <p:sp>
        <p:nvSpPr>
          <p:cNvPr id="13" name="그림 개체 틀 12">
            <a:extLst>
              <a:ext uri="{FF2B5EF4-FFF2-40B4-BE49-F238E27FC236}">
                <a16:creationId xmlns:a16="http://schemas.microsoft.com/office/drawing/2014/main" xmlns="" id="{F9CA3016-B232-431B-BB1E-58901FDEF520}"/>
              </a:ext>
            </a:extLst>
          </p:cNvPr>
          <p:cNvSpPr>
            <a:spLocks noGrp="1"/>
          </p:cNvSpPr>
          <p:nvPr>
            <p:ph type="pic" sz="quarter" idx="13"/>
          </p:nvPr>
        </p:nvSpPr>
        <p:spPr>
          <a:xfrm>
            <a:off x="836341" y="1426698"/>
            <a:ext cx="2592659" cy="2267415"/>
          </a:xfrm>
        </p:spPr>
        <p:txBody>
          <a:bodyPr/>
          <a:lstStyle/>
          <a:p>
            <a:endParaRPr lang="ko-KR" altLang="en-US"/>
          </a:p>
        </p:txBody>
      </p:sp>
      <p:sp>
        <p:nvSpPr>
          <p:cNvPr id="14" name="그림 개체 틀 12">
            <a:extLst>
              <a:ext uri="{FF2B5EF4-FFF2-40B4-BE49-F238E27FC236}">
                <a16:creationId xmlns:a16="http://schemas.microsoft.com/office/drawing/2014/main" xmlns="" id="{9217A25A-6F90-4954-B6C5-1DB2A4DB7731}"/>
              </a:ext>
            </a:extLst>
          </p:cNvPr>
          <p:cNvSpPr>
            <a:spLocks noGrp="1"/>
          </p:cNvSpPr>
          <p:nvPr>
            <p:ph type="pic" sz="quarter" idx="14"/>
          </p:nvPr>
        </p:nvSpPr>
        <p:spPr>
          <a:xfrm>
            <a:off x="3429000" y="3694441"/>
            <a:ext cx="2592659" cy="2267415"/>
          </a:xfrm>
        </p:spPr>
        <p:txBody>
          <a:bodyPr/>
          <a:lstStyle/>
          <a:p>
            <a:endParaRPr lang="ko-KR" altLang="en-US"/>
          </a:p>
        </p:txBody>
      </p:sp>
      <p:sp>
        <p:nvSpPr>
          <p:cNvPr id="15" name="그림 개체 틀 12">
            <a:extLst>
              <a:ext uri="{FF2B5EF4-FFF2-40B4-BE49-F238E27FC236}">
                <a16:creationId xmlns:a16="http://schemas.microsoft.com/office/drawing/2014/main" xmlns="" id="{7CC91F37-218F-40ED-AF88-0526384100A6}"/>
              </a:ext>
            </a:extLst>
          </p:cNvPr>
          <p:cNvSpPr>
            <a:spLocks noGrp="1"/>
          </p:cNvSpPr>
          <p:nvPr>
            <p:ph type="pic" sz="quarter" idx="15"/>
          </p:nvPr>
        </p:nvSpPr>
        <p:spPr>
          <a:xfrm>
            <a:off x="836341" y="5962185"/>
            <a:ext cx="2592659" cy="2267415"/>
          </a:xfrm>
        </p:spPr>
        <p:txBody>
          <a:bodyPr/>
          <a:lstStyle/>
          <a:p>
            <a:endParaRPr lang="ko-KR" altLang="en-US"/>
          </a:p>
        </p:txBody>
      </p:sp>
      <p:sp>
        <p:nvSpPr>
          <p:cNvPr id="4" name="Date Placeholder 3"/>
          <p:cNvSpPr>
            <a:spLocks noGrp="1"/>
          </p:cNvSpPr>
          <p:nvPr>
            <p:ph type="dt" sz="half" idx="10"/>
          </p:nvPr>
        </p:nvSpPr>
        <p:spPr/>
        <p:txBody>
          <a:bodyPr/>
          <a:lstStyle/>
          <a:p>
            <a:fld id="{A4FD1D7F-2ACD-4881-8790-F2715FA5E1B3}" type="datetimeFigureOut">
              <a:rPr lang="ko-KR" altLang="en-US" smtClean="0"/>
              <a:t>2025-12-18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C735C646-72D8-48C6-BF50-138A065842B4}" type="slidenum">
              <a:rPr lang="ko-KR" altLang="en-US" smtClean="0"/>
              <a:t>‹#›</a:t>
            </a:fld>
            <a:endParaRPr lang="ko-KR" altLang="en-US"/>
          </a:p>
        </p:txBody>
      </p:sp>
    </p:spTree>
    <p:extLst>
      <p:ext uri="{BB962C8B-B14F-4D97-AF65-F5344CB8AC3E}">
        <p14:creationId xmlns:p14="http://schemas.microsoft.com/office/powerpoint/2010/main" val="4033847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제목 슬라이드">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4FD1D7F-2ACD-4881-8790-F2715FA5E1B3}" type="datetimeFigureOut">
              <a:rPr lang="ko-KR" altLang="en-US" smtClean="0"/>
              <a:t>2025-12-18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C735C646-72D8-48C6-BF50-138A065842B4}" type="slidenum">
              <a:rPr lang="ko-KR" altLang="en-US" smtClean="0"/>
              <a:t>‹#›</a:t>
            </a:fld>
            <a:endParaRPr lang="ko-KR" altLang="en-US"/>
          </a:p>
        </p:txBody>
      </p:sp>
      <p:sp>
        <p:nvSpPr>
          <p:cNvPr id="8" name="그림 개체 틀 12">
            <a:extLst>
              <a:ext uri="{FF2B5EF4-FFF2-40B4-BE49-F238E27FC236}">
                <a16:creationId xmlns:a16="http://schemas.microsoft.com/office/drawing/2014/main" xmlns="" id="{129FF008-80D0-4AD7-8A40-F242EC75A848}"/>
              </a:ext>
            </a:extLst>
          </p:cNvPr>
          <p:cNvSpPr>
            <a:spLocks noGrp="1"/>
          </p:cNvSpPr>
          <p:nvPr>
            <p:ph type="pic" sz="quarter" idx="14"/>
          </p:nvPr>
        </p:nvSpPr>
        <p:spPr>
          <a:xfrm>
            <a:off x="3910988" y="4572000"/>
            <a:ext cx="2110671" cy="3903136"/>
          </a:xfrm>
        </p:spPr>
        <p:txBody>
          <a:bodyPr/>
          <a:lstStyle/>
          <a:p>
            <a:endParaRPr lang="ko-KR" altLang="en-US"/>
          </a:p>
        </p:txBody>
      </p:sp>
    </p:spTree>
    <p:extLst>
      <p:ext uri="{BB962C8B-B14F-4D97-AF65-F5344CB8AC3E}">
        <p14:creationId xmlns:p14="http://schemas.microsoft.com/office/powerpoint/2010/main" val="29345734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제목 슬라이드">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4FD1D7F-2ACD-4881-8790-F2715FA5E1B3}" type="datetimeFigureOut">
              <a:rPr lang="ko-KR" altLang="en-US" smtClean="0"/>
              <a:t>2025-12-18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C735C646-72D8-48C6-BF50-138A065842B4}" type="slidenum">
              <a:rPr lang="ko-KR" altLang="en-US" smtClean="0"/>
              <a:t>‹#›</a:t>
            </a:fld>
            <a:endParaRPr lang="ko-KR" altLang="en-US"/>
          </a:p>
        </p:txBody>
      </p:sp>
      <p:sp>
        <p:nvSpPr>
          <p:cNvPr id="8" name="그림 개체 틀 12">
            <a:extLst>
              <a:ext uri="{FF2B5EF4-FFF2-40B4-BE49-F238E27FC236}">
                <a16:creationId xmlns:a16="http://schemas.microsoft.com/office/drawing/2014/main" xmlns="" id="{129FF008-80D0-4AD7-8A40-F242EC75A848}"/>
              </a:ext>
            </a:extLst>
          </p:cNvPr>
          <p:cNvSpPr>
            <a:spLocks noGrp="1"/>
          </p:cNvSpPr>
          <p:nvPr>
            <p:ph type="pic" sz="quarter" idx="14"/>
          </p:nvPr>
        </p:nvSpPr>
        <p:spPr>
          <a:xfrm>
            <a:off x="609600" y="936434"/>
            <a:ext cx="4233863" cy="2765233"/>
          </a:xfrm>
        </p:spPr>
        <p:txBody>
          <a:bodyPr/>
          <a:lstStyle/>
          <a:p>
            <a:endParaRPr lang="ko-KR" altLang="en-US"/>
          </a:p>
        </p:txBody>
      </p:sp>
    </p:spTree>
    <p:extLst>
      <p:ext uri="{BB962C8B-B14F-4D97-AF65-F5344CB8AC3E}">
        <p14:creationId xmlns:p14="http://schemas.microsoft.com/office/powerpoint/2010/main" val="17957327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_제목 슬라이드">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4FD1D7F-2ACD-4881-8790-F2715FA5E1B3}" type="datetimeFigureOut">
              <a:rPr lang="ko-KR" altLang="en-US" smtClean="0"/>
              <a:t>2025-12-18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C735C646-72D8-48C6-BF50-138A065842B4}" type="slidenum">
              <a:rPr lang="ko-KR" altLang="en-US" smtClean="0"/>
              <a:t>‹#›</a:t>
            </a:fld>
            <a:endParaRPr lang="ko-KR" altLang="en-US"/>
          </a:p>
        </p:txBody>
      </p:sp>
      <p:sp>
        <p:nvSpPr>
          <p:cNvPr id="8" name="그림 개체 틀 12">
            <a:extLst>
              <a:ext uri="{FF2B5EF4-FFF2-40B4-BE49-F238E27FC236}">
                <a16:creationId xmlns:a16="http://schemas.microsoft.com/office/drawing/2014/main" xmlns="" id="{129FF008-80D0-4AD7-8A40-F242EC75A848}"/>
              </a:ext>
            </a:extLst>
          </p:cNvPr>
          <p:cNvSpPr>
            <a:spLocks noGrp="1"/>
          </p:cNvSpPr>
          <p:nvPr>
            <p:ph type="pic" sz="quarter" idx="14"/>
          </p:nvPr>
        </p:nvSpPr>
        <p:spPr>
          <a:xfrm>
            <a:off x="0" y="6345717"/>
            <a:ext cx="6858000" cy="2798284"/>
          </a:xfrm>
        </p:spPr>
        <p:txBody>
          <a:bodyPr/>
          <a:lstStyle/>
          <a:p>
            <a:endParaRPr lang="ko-KR" altLang="en-US"/>
          </a:p>
        </p:txBody>
      </p:sp>
    </p:spTree>
    <p:extLst>
      <p:ext uri="{BB962C8B-B14F-4D97-AF65-F5344CB8AC3E}">
        <p14:creationId xmlns:p14="http://schemas.microsoft.com/office/powerpoint/2010/main" val="5012019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75000"/>
                  </a:schemeClr>
                </a:solidFill>
              </a:defRPr>
            </a:lvl1pPr>
          </a:lstStyle>
          <a:p>
            <a:fld id="{A4FD1D7F-2ACD-4881-8790-F2715FA5E1B3}" type="datetimeFigureOut">
              <a:rPr lang="ko-KR" altLang="en-US" smtClean="0"/>
              <a:t>2025-12-18</a:t>
            </a:fld>
            <a:endParaRPr lang="ko-KR" alt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ko-KR" alt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75000"/>
                  </a:schemeClr>
                </a:solidFill>
              </a:defRPr>
            </a:lvl1pPr>
          </a:lstStyle>
          <a:p>
            <a:fld id="{C735C646-72D8-48C6-BF50-138A065842B4}" type="slidenum">
              <a:rPr lang="ko-KR" altLang="en-US" smtClean="0"/>
              <a:t>‹#›</a:t>
            </a:fld>
            <a:endParaRPr lang="ko-KR" altLang="en-US"/>
          </a:p>
        </p:txBody>
      </p:sp>
    </p:spTree>
    <p:extLst>
      <p:ext uri="{BB962C8B-B14F-4D97-AF65-F5344CB8AC3E}">
        <p14:creationId xmlns:p14="http://schemas.microsoft.com/office/powerpoint/2010/main" val="12624635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hyperlink" Target="https://www.nexskill.com/" TargetMode="External"/><Relationship Id="rId4" Type="http://schemas.openxmlformats.org/officeDocument/2006/relationships/hyperlink" Target="http://www.zapier.com/"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zapier.com/blog/zapier-tables-guide/"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hyperlink" Target="https://community.zapier.com/p/zapier-canvas" TargetMode="External"/><Relationship Id="rId4" Type="http://schemas.openxmlformats.org/officeDocument/2006/relationships/hyperlink" Target="https://zapier.com/canvas"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s://help.zapier.com/hc/en-us/articles/14490267815949-Create-interactive-pages-and-apps-with-Zapier-Interfaces" TargetMode="External"/><Relationship Id="rId3" Type="http://schemas.openxmlformats.org/officeDocument/2006/relationships/hyperlink" Target="https://help.zapier.com/hc/en-us/articles/29712888250509-Zapier-Tables-quick-start-guide" TargetMode="External"/><Relationship Id="rId7" Type="http://schemas.openxmlformats.org/officeDocument/2006/relationships/hyperlink" Target="https://help.zapier.com/hc/en-us/articles/9804340895245-Create-tables-and-store-data-with-Zapier-Tables"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help.zapier.com/hc/en-us/categories/13398036609933-Tables" TargetMode="External"/><Relationship Id="rId5" Type="http://schemas.openxmlformats.org/officeDocument/2006/relationships/hyperlink" Target="https://zapier.com/blog/zapier-tables-guide/" TargetMode="External"/><Relationship Id="rId4" Type="http://schemas.openxmlformats.org/officeDocument/2006/relationships/hyperlink" Target="https://zapier.com/tables"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zapier.com/interfaces" TargetMode="External"/><Relationship Id="rId7" Type="http://schemas.openxmlformats.org/officeDocument/2006/relationships/hyperlink" Target="https://help.zapier.com/hc/en-us/categories/14490381804173-Interfaces"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help.zapier.com/hc/en-us/articles/14490267815949-Create-interactive-pages-and-apps-with-Zapier-Interfaces" TargetMode="External"/><Relationship Id="rId5" Type="http://schemas.openxmlformats.org/officeDocument/2006/relationships/hyperlink" Target="https://help.zapier.com/hc/en-us/articles/27310207159053-Zapier-Interfaces-quick-start-guide" TargetMode="External"/><Relationship Id="rId4" Type="http://schemas.openxmlformats.org/officeDocument/2006/relationships/hyperlink" Target="https://zapier.com/blog/zapier-interfaces-guide/"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zapier.com/blog/create-custom-ai-chatbots-with-interfaces/" TargetMode="External"/><Relationship Id="rId7" Type="http://schemas.openxmlformats.org/officeDocument/2006/relationships/hyperlink" Target="https://zapier.com/ai/chatbot"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help.zapier.com/hc/en-us/articles/31471114927501-Connect-your-chatbot-to-messaging-apps-through-Zaps" TargetMode="External"/><Relationship Id="rId5" Type="http://schemas.openxmlformats.org/officeDocument/2006/relationships/hyperlink" Target="https://help.zapier.com/hc/en-us/articles/21960697323533-Set-up-a-chatbot" TargetMode="External"/><Relationship Id="rId4" Type="http://schemas.openxmlformats.org/officeDocument/2006/relationships/hyperlink" Target="https://help.zapier.com/hc/en-us/articles/21959444384013-Zapier-Chatbots-quick-start-guide"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zapier.com/blog/zapier-canvas-guide/"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community.zapier.com/p/zapier-canvas" TargetMode="External"/><Relationship Id="rId5" Type="http://schemas.openxmlformats.org/officeDocument/2006/relationships/hyperlink" Target="https://help.zapier.com/hc/en-us/articles/19880280846221-Create-a-canvas-to-visualize-your-automated-system" TargetMode="External"/><Relationship Id="rId4" Type="http://schemas.openxmlformats.org/officeDocument/2006/relationships/hyperlink" Target="https://zapier.com/canvas"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zapier.com/blog/zapier-agents-guide/" TargetMode="External"/><Relationship Id="rId7" Type="http://schemas.openxmlformats.org/officeDocument/2006/relationships/hyperlink" Target="https://zapier.com/blog/orchestrate-zapier-agents/"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zapier.com/agents" TargetMode="External"/><Relationship Id="rId5" Type="http://schemas.openxmlformats.org/officeDocument/2006/relationships/hyperlink" Target="https://help.zapier.com/hc/en-us/articles/24393442652557-Build-an-agent-in-Zapier-Agents" TargetMode="External"/><Relationship Id="rId4" Type="http://schemas.openxmlformats.org/officeDocument/2006/relationships/hyperlink" Target="https://zapier.com/blog/zapier-agents-pods-dashboards/"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zapier.com/blog/orchestrate-zapier-agents/"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help.zapier.com/hc/en-us/articles/24393442652557-Build-an-agent-in-Zapier-Agents" TargetMode="External"/><Relationship Id="rId5" Type="http://schemas.openxmlformats.org/officeDocument/2006/relationships/hyperlink" Target="https://zapier.com/agents" TargetMode="External"/><Relationship Id="rId4" Type="http://schemas.openxmlformats.org/officeDocument/2006/relationships/hyperlink" Target="https://zapier.com/blog/zapier-agents-guide/" TargetMode="External"/></Relationships>
</file>

<file path=ppt/slides/_rels/slide9.xml.rels><?xml version="1.0" encoding="UTF-8" standalone="yes"?>
<Relationships xmlns="http://schemas.openxmlformats.org/package/2006/relationships"><Relationship Id="rId8" Type="http://schemas.openxmlformats.org/officeDocument/2006/relationships/hyperlink" Target="https://help.zapier.com/hc/en-us/articles/8496310939021-Use-JavaScript-code-in-Zaps" TargetMode="External"/><Relationship Id="rId3" Type="http://schemas.openxmlformats.org/officeDocument/2006/relationships/hyperlink" Target="https://zapier.com/functions" TargetMode="External"/><Relationship Id="rId7" Type="http://schemas.openxmlformats.org/officeDocument/2006/relationships/hyperlink" Target="https://functions.zapier.app/demos"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help.zapier.com/hc/en-us/articles/32942766367885-Create-a-workflow-using-Python-with-Functions" TargetMode="External"/><Relationship Id="rId5" Type="http://schemas.openxmlformats.org/officeDocument/2006/relationships/hyperlink" Target="https://help.zapier.com/hc/en-us/articles/32943046820621-Write-code-in-Zapier-Functions" TargetMode="External"/><Relationship Id="rId10" Type="http://schemas.openxmlformats.org/officeDocument/2006/relationships/hyperlink" Target="https://help.zapier.com/hc/en-us/articles/8496197098253-JavaScript-code-examples-in-Zaps" TargetMode="External"/><Relationship Id="rId4" Type="http://schemas.openxmlformats.org/officeDocument/2006/relationships/hyperlink" Target="https://help.zapier.com/hc/en-us/articles/36538594180237-Call-a-function-from-Zaps-agents-or-MCP-servers" TargetMode="External"/><Relationship Id="rId9" Type="http://schemas.openxmlformats.org/officeDocument/2006/relationships/hyperlink" Target="https://help.zapier.com/hc/en-us/articles/36785770231309-Build-advanced-workflows-using-code-and-APIs"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help.zapier.com/hc/en-us/articles/38238430938637-Use-Lead-Router-to-assign-leads"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help.zapier.com/hc/en-us/articles/39972451686157-Distribution-types-in-Zapier-Lead-Router" TargetMode="External"/><Relationship Id="rId5" Type="http://schemas.openxmlformats.org/officeDocument/2006/relationships/hyperlink" Target="https://zapier.com/l/leadrouter" TargetMode="External"/><Relationship Id="rId4" Type="http://schemas.openxmlformats.org/officeDocument/2006/relationships/hyperlink" Target="https://zapier.com/blog/zapier-lead-router-guide/"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zapier.com/blog/zapier-copilot-guide/"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consultevo.com/zapier-copilot-new-features-guide/" TargetMode="External"/><Relationship Id="rId5" Type="http://schemas.openxmlformats.org/officeDocument/2006/relationships/hyperlink" Target="https://www.globenewswire.com/news-release/2025/09/29/3157774/0/en/Zapier-Adds-Copilot-Assistant-and-Enterprise-Grade-Governance-to-AI-Orchestration-Platform.html" TargetMode="External"/><Relationship Id="rId4" Type="http://schemas.openxmlformats.org/officeDocument/2006/relationships/hyperlink" Target="https://help.zapier.com/hc/en-us/articles/15703650952077-Use-the-power-of-AI-to-generate-Zaps"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globenewswire.com/news-release/2025/09/29/3157774/0/en/Zapier-Adds-Copilot-Assistant-and-Enterprise-Grade-Governance-to-AI-Orchestration-Platform.html" TargetMode="External"/><Relationship Id="rId7" Type="http://schemas.openxmlformats.org/officeDocument/2006/relationships/hyperlink" Target="https://consultevo.com/zapier-copilot-new-features-guide/"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www.enterpriseaiworld.com/Articles/News/News/Zapier-Offers-Copilot-Assistant-and-Adds-Enterprise-Grade-Governance-to-its-AI-Orchestration-Platform-171695.aspx" TargetMode="External"/><Relationship Id="rId5" Type="http://schemas.openxmlformats.org/officeDocument/2006/relationships/hyperlink" Target="https://help.zapier.com/hc/en-us/articles/15703650952077-Use-the-power-of-AI-to-generate-Zaps" TargetMode="External"/><Relationship Id="rId4" Type="http://schemas.openxmlformats.org/officeDocument/2006/relationships/hyperlink" Target="https://zapier.com/blog/zapier-copilot-guide/"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zapier.com/mcp"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zapier.com/blog/zapier-mcp-guide/" TargetMode="External"/><Relationship Id="rId5" Type="http://schemas.openxmlformats.org/officeDocument/2006/relationships/hyperlink" Target="https://help.zapier.com/hc/en-us/articles/36265392843917-Use-Zapier-MCP-with-your-client" TargetMode="External"/><Relationship Id="rId4" Type="http://schemas.openxmlformats.org/officeDocument/2006/relationships/hyperlink" Target="https://zapier.com/blog/mcp/"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help.zapier.com/hc/en-us/articles/36265392843917-Use-Zapier-MCP-with-your-client"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zapier.com/blog/zapier-mcp-guide/" TargetMode="External"/><Relationship Id="rId5" Type="http://schemas.openxmlformats.org/officeDocument/2006/relationships/hyperlink" Target="https://modelcontextprotocol.io/docs/learn/server-concepts" TargetMode="External"/><Relationship Id="rId4" Type="http://schemas.openxmlformats.org/officeDocument/2006/relationships/hyperlink" Target="https://zapier.com/mcp"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zapier.com/zap-sharing"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ww.zapier.com/"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pic>
        <p:nvPicPr>
          <p:cNvPr id="35" name="그림 개체 틀 34">
            <a:extLst>
              <a:ext uri="{FF2B5EF4-FFF2-40B4-BE49-F238E27FC236}">
                <a16:creationId xmlns:a16="http://schemas.microsoft.com/office/drawing/2014/main" xmlns="" id="{C56D4255-4316-45AF-BC29-01086BAE9F3E}"/>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brightnessContrast bright="-50000" contrast="20000"/>
                    </a14:imgEffect>
                  </a14:imgLayer>
                </a14:imgProps>
              </a:ext>
              <a:ext uri="{28A0092B-C50C-407E-A947-70E740481C1C}">
                <a14:useLocalDpi xmlns:a14="http://schemas.microsoft.com/office/drawing/2010/main" val="0"/>
              </a:ext>
            </a:extLst>
          </a:blip>
          <a:srcRect l="23120" r="23120"/>
          <a:stretch/>
        </p:blipFill>
        <p:spPr>
          <a:xfrm>
            <a:off x="1" y="-32658"/>
            <a:ext cx="5244027" cy="6506269"/>
          </a:xfrm>
        </p:spPr>
      </p:pic>
      <p:sp>
        <p:nvSpPr>
          <p:cNvPr id="21" name="직사각형 20">
            <a:extLst>
              <a:ext uri="{FF2B5EF4-FFF2-40B4-BE49-F238E27FC236}">
                <a16:creationId xmlns:a16="http://schemas.microsoft.com/office/drawing/2014/main" xmlns="" id="{18DB2B89-F5A3-41CF-BF51-01B93D5D32B8}"/>
              </a:ext>
            </a:extLst>
          </p:cNvPr>
          <p:cNvSpPr/>
          <p:nvPr/>
        </p:nvSpPr>
        <p:spPr>
          <a:xfrm>
            <a:off x="0" y="3561992"/>
            <a:ext cx="5244023" cy="2942725"/>
          </a:xfrm>
          <a:prstGeom prst="rect">
            <a:avLst/>
          </a:prstGeom>
          <a:gradFill flip="none" rotWithShape="1">
            <a:gsLst>
              <a:gs pos="0">
                <a:schemeClr val="tx1">
                  <a:alpha val="57000"/>
                </a:schemeClr>
              </a:gs>
              <a:gs pos="10000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직사각형 2">
            <a:extLst>
              <a:ext uri="{FF2B5EF4-FFF2-40B4-BE49-F238E27FC236}">
                <a16:creationId xmlns:a16="http://schemas.microsoft.com/office/drawing/2014/main" xmlns="" id="{21994844-62B0-419F-9C48-6E7F67EDA5E7}"/>
              </a:ext>
            </a:extLst>
          </p:cNvPr>
          <p:cNvSpPr/>
          <p:nvPr/>
        </p:nvSpPr>
        <p:spPr>
          <a:xfrm>
            <a:off x="-2" y="6538917"/>
            <a:ext cx="5244025" cy="26377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a:extLst>
              <a:ext uri="{FF2B5EF4-FFF2-40B4-BE49-F238E27FC236}">
                <a16:creationId xmlns:a16="http://schemas.microsoft.com/office/drawing/2014/main" xmlns="" id="{4F540AE5-0C35-4971-B09D-C63F48CE6B1A}"/>
              </a:ext>
            </a:extLst>
          </p:cNvPr>
          <p:cNvSpPr/>
          <p:nvPr/>
        </p:nvSpPr>
        <p:spPr>
          <a:xfrm>
            <a:off x="5244024" y="-1"/>
            <a:ext cx="1613976" cy="650626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 name="TextBox 59">
            <a:extLst>
              <a:ext uri="{FF2B5EF4-FFF2-40B4-BE49-F238E27FC236}">
                <a16:creationId xmlns:a16="http://schemas.microsoft.com/office/drawing/2014/main" xmlns="" id="{8ACD699C-AACA-4660-BAC5-1D38B503CAC5}"/>
              </a:ext>
            </a:extLst>
          </p:cNvPr>
          <p:cNvSpPr txBox="1"/>
          <p:nvPr/>
        </p:nvSpPr>
        <p:spPr>
          <a:xfrm>
            <a:off x="574131" y="1123413"/>
            <a:ext cx="4447809" cy="2646878"/>
          </a:xfrm>
          <a:prstGeom prst="rect">
            <a:avLst/>
          </a:prstGeom>
          <a:noFill/>
        </p:spPr>
        <p:txBody>
          <a:bodyPr wrap="square" rtlCol="0">
            <a:spAutoFit/>
          </a:bodyPr>
          <a:lstStyle/>
          <a:p>
            <a:r>
              <a:rPr lang="en-US" altLang="ko-KR" sz="7200" dirty="0" smtClean="0">
                <a:solidFill>
                  <a:schemeClr val="bg1"/>
                </a:solidFill>
                <a:latin typeface="+mj-lt"/>
              </a:rPr>
              <a:t>Zapier</a:t>
            </a:r>
            <a:r>
              <a:rPr lang="en-US" altLang="ko-KR" sz="1600" dirty="0" smtClean="0">
                <a:solidFill>
                  <a:schemeClr val="bg1"/>
                </a:solidFill>
                <a:latin typeface="+mj-lt"/>
                <a:hlinkClick r:id="rId4"/>
              </a:rPr>
              <a:t>www.zapier.com</a:t>
            </a:r>
            <a:endParaRPr lang="en-US" altLang="ko-KR" sz="1600" dirty="0" smtClean="0">
              <a:solidFill>
                <a:schemeClr val="bg1"/>
              </a:solidFill>
              <a:latin typeface="+mj-lt"/>
            </a:endParaRPr>
          </a:p>
          <a:p>
            <a:pPr marL="285750" indent="-285750">
              <a:buFont typeface="Wingdings" panose="05000000000000000000" pitchFamily="2" charset="2"/>
              <a:buChar char="q"/>
            </a:pPr>
            <a:r>
              <a:rPr lang="en-US" altLang="ko-KR" sz="2000" dirty="0" smtClean="0">
                <a:solidFill>
                  <a:schemeClr val="bg1"/>
                </a:solidFill>
                <a:latin typeface="+mj-lt"/>
              </a:rPr>
              <a:t>Develop </a:t>
            </a:r>
            <a:r>
              <a:rPr lang="en-US" altLang="ko-KR" sz="2000" dirty="0">
                <a:solidFill>
                  <a:schemeClr val="bg1"/>
                </a:solidFill>
                <a:latin typeface="+mj-lt"/>
              </a:rPr>
              <a:t>Workflows</a:t>
            </a:r>
          </a:p>
          <a:p>
            <a:pPr marL="285750" indent="-285750">
              <a:buFont typeface="Wingdings" panose="05000000000000000000" pitchFamily="2" charset="2"/>
              <a:buChar char="q"/>
            </a:pPr>
            <a:r>
              <a:rPr lang="en-US" altLang="ko-KR" sz="2000" dirty="0" smtClean="0">
                <a:solidFill>
                  <a:schemeClr val="bg1"/>
                </a:solidFill>
                <a:latin typeface="+mj-lt"/>
              </a:rPr>
              <a:t>Perform </a:t>
            </a:r>
            <a:r>
              <a:rPr lang="en-US" altLang="ko-KR" sz="2000" dirty="0">
                <a:solidFill>
                  <a:schemeClr val="bg1"/>
                </a:solidFill>
                <a:latin typeface="+mj-lt"/>
              </a:rPr>
              <a:t>Automations</a:t>
            </a:r>
          </a:p>
          <a:p>
            <a:pPr marL="285750" indent="-285750">
              <a:buFont typeface="Wingdings" panose="05000000000000000000" pitchFamily="2" charset="2"/>
              <a:buChar char="q"/>
            </a:pPr>
            <a:r>
              <a:rPr lang="en-US" altLang="ko-KR" sz="2000" dirty="0" smtClean="0">
                <a:solidFill>
                  <a:schemeClr val="bg1"/>
                </a:solidFill>
                <a:latin typeface="+mj-lt"/>
              </a:rPr>
              <a:t>Execute </a:t>
            </a:r>
            <a:r>
              <a:rPr lang="en-US" altLang="ko-KR" sz="2000" dirty="0">
                <a:solidFill>
                  <a:schemeClr val="bg1"/>
                </a:solidFill>
                <a:latin typeface="+mj-lt"/>
              </a:rPr>
              <a:t>Integrations</a:t>
            </a:r>
          </a:p>
          <a:p>
            <a:pPr marL="285750" indent="-285750">
              <a:buFont typeface="Wingdings" panose="05000000000000000000" pitchFamily="2" charset="2"/>
              <a:buChar char="q"/>
            </a:pPr>
            <a:r>
              <a:rPr lang="en-US" altLang="ko-KR" sz="2000" dirty="0" smtClean="0">
                <a:solidFill>
                  <a:schemeClr val="bg1"/>
                </a:solidFill>
                <a:latin typeface="+mj-lt"/>
              </a:rPr>
              <a:t>Connect </a:t>
            </a:r>
            <a:r>
              <a:rPr lang="en-US" altLang="ko-KR" sz="2000" dirty="0">
                <a:solidFill>
                  <a:schemeClr val="bg1"/>
                </a:solidFill>
                <a:latin typeface="+mj-lt"/>
              </a:rPr>
              <a:t>8000+ online data sources</a:t>
            </a:r>
          </a:p>
          <a:p>
            <a:endParaRPr lang="ko-KR" altLang="en-US" sz="1400" dirty="0">
              <a:solidFill>
                <a:schemeClr val="bg1"/>
              </a:solidFill>
              <a:latin typeface="+mj-lt"/>
            </a:endParaRPr>
          </a:p>
        </p:txBody>
      </p:sp>
      <p:sp>
        <p:nvSpPr>
          <p:cNvPr id="62" name="직사각형 61">
            <a:extLst>
              <a:ext uri="{FF2B5EF4-FFF2-40B4-BE49-F238E27FC236}">
                <a16:creationId xmlns:a16="http://schemas.microsoft.com/office/drawing/2014/main" xmlns="" id="{52C2B049-C5ED-415F-B918-7930490AC8B9}"/>
              </a:ext>
            </a:extLst>
          </p:cNvPr>
          <p:cNvSpPr/>
          <p:nvPr/>
        </p:nvSpPr>
        <p:spPr>
          <a:xfrm>
            <a:off x="998365" y="5029888"/>
            <a:ext cx="2375401" cy="1277273"/>
          </a:xfrm>
          <a:prstGeom prst="rect">
            <a:avLst/>
          </a:prstGeom>
        </p:spPr>
        <p:txBody>
          <a:bodyPr wrap="square">
            <a:spAutoFit/>
          </a:bodyPr>
          <a:lstStyle/>
          <a:p>
            <a:r>
              <a:rPr lang="en-US" altLang="ko-KR" sz="1600" dirty="0">
                <a:solidFill>
                  <a:schemeClr val="bg1"/>
                </a:solidFill>
              </a:rPr>
              <a:t>About  Institute: </a:t>
            </a:r>
          </a:p>
          <a:p>
            <a:r>
              <a:rPr lang="en-US" altLang="ko-KR" sz="1050" b="1" dirty="0" err="1">
                <a:solidFill>
                  <a:schemeClr val="bg1"/>
                </a:solidFill>
              </a:rPr>
              <a:t>NexSkill</a:t>
            </a:r>
            <a:r>
              <a:rPr lang="en-US" altLang="ko-KR" sz="1050" b="1" dirty="0">
                <a:solidFill>
                  <a:schemeClr val="bg1"/>
                </a:solidFill>
              </a:rPr>
              <a:t> </a:t>
            </a:r>
            <a:r>
              <a:rPr lang="en-US" altLang="ko-KR" sz="1000" dirty="0">
                <a:solidFill>
                  <a:schemeClr val="bg1"/>
                </a:solidFill>
              </a:rPr>
              <a:t>is Pakistan's leading IT training institute, providing the best IT training in Pakistan. </a:t>
            </a:r>
            <a:r>
              <a:rPr lang="en-US" altLang="ko-KR" sz="1000" dirty="0" err="1">
                <a:solidFill>
                  <a:schemeClr val="bg1"/>
                </a:solidFill>
              </a:rPr>
              <a:t>NexSkill</a:t>
            </a:r>
            <a:r>
              <a:rPr lang="en-US" altLang="ko-KR" sz="1000" dirty="0">
                <a:solidFill>
                  <a:schemeClr val="bg1"/>
                </a:solidFill>
              </a:rPr>
              <a:t> offers a variety of professional learning platforms to its students.</a:t>
            </a:r>
          </a:p>
          <a:p>
            <a:r>
              <a:rPr lang="en-US" altLang="ko-KR" sz="1050" dirty="0">
                <a:latin typeface="Calibri" panose="020F0502020204030204" pitchFamily="34" charset="0"/>
                <a:hlinkClick r:id="rId5"/>
              </a:rPr>
              <a:t>https://www.nexskill.com/</a:t>
            </a:r>
            <a:r>
              <a:rPr lang="en-US" altLang="ko-KR" sz="1050" dirty="0">
                <a:latin typeface="Calibri" panose="020F0502020204030204" pitchFamily="34" charset="0"/>
              </a:rPr>
              <a:t>  </a:t>
            </a:r>
          </a:p>
        </p:txBody>
      </p:sp>
      <p:cxnSp>
        <p:nvCxnSpPr>
          <p:cNvPr id="6" name="직선 연결선 5">
            <a:extLst>
              <a:ext uri="{FF2B5EF4-FFF2-40B4-BE49-F238E27FC236}">
                <a16:creationId xmlns:a16="http://schemas.microsoft.com/office/drawing/2014/main" xmlns="" id="{B7A2A2E7-9A23-43E3-AD55-A1BD883C2E61}"/>
              </a:ext>
            </a:extLst>
          </p:cNvPr>
          <p:cNvCxnSpPr>
            <a:cxnSpLocks/>
          </p:cNvCxnSpPr>
          <p:nvPr/>
        </p:nvCxnSpPr>
        <p:spPr>
          <a:xfrm>
            <a:off x="5609063" y="0"/>
            <a:ext cx="0" cy="9144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직선 연결선 8">
            <a:extLst>
              <a:ext uri="{FF2B5EF4-FFF2-40B4-BE49-F238E27FC236}">
                <a16:creationId xmlns:a16="http://schemas.microsoft.com/office/drawing/2014/main" xmlns="" id="{F06E4C64-079C-46E8-8732-53283B54BDED}"/>
              </a:ext>
            </a:extLst>
          </p:cNvPr>
          <p:cNvCxnSpPr/>
          <p:nvPr/>
        </p:nvCxnSpPr>
        <p:spPr>
          <a:xfrm>
            <a:off x="0" y="4917688"/>
            <a:ext cx="685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xmlns="" id="{467ABD42-31F8-48D5-B528-2F89C7AFF54F}"/>
              </a:ext>
            </a:extLst>
          </p:cNvPr>
          <p:cNvCxnSpPr>
            <a:cxnSpLocks/>
          </p:cNvCxnSpPr>
          <p:nvPr/>
        </p:nvCxnSpPr>
        <p:spPr>
          <a:xfrm>
            <a:off x="639732" y="3791415"/>
            <a:ext cx="0" cy="535258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xmlns="" id="{8A080E01-AA60-494B-9865-B3F511871DB3}"/>
              </a:ext>
            </a:extLst>
          </p:cNvPr>
          <p:cNvCxnSpPr>
            <a:cxnSpLocks/>
          </p:cNvCxnSpPr>
          <p:nvPr/>
        </p:nvCxnSpPr>
        <p:spPr>
          <a:xfrm>
            <a:off x="0" y="4282067"/>
            <a:ext cx="1040016" cy="10400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9" name="직사각형 78">
            <a:extLst>
              <a:ext uri="{FF2B5EF4-FFF2-40B4-BE49-F238E27FC236}">
                <a16:creationId xmlns:a16="http://schemas.microsoft.com/office/drawing/2014/main" xmlns="" id="{0B2A42EB-7C3A-4AC4-8FEA-D734E9FC03FB}"/>
              </a:ext>
            </a:extLst>
          </p:cNvPr>
          <p:cNvSpPr/>
          <p:nvPr/>
        </p:nvSpPr>
        <p:spPr>
          <a:xfrm>
            <a:off x="626459" y="1657885"/>
            <a:ext cx="2375401" cy="246221"/>
          </a:xfrm>
          <a:prstGeom prst="rect">
            <a:avLst/>
          </a:prstGeom>
        </p:spPr>
        <p:txBody>
          <a:bodyPr wrap="square">
            <a:spAutoFit/>
          </a:bodyPr>
          <a:lstStyle/>
          <a:p>
            <a:endParaRPr lang="ko-KR" altLang="en-US" sz="1000" dirty="0">
              <a:solidFill>
                <a:schemeClr val="bg1"/>
              </a:solidFill>
            </a:endParaRPr>
          </a:p>
        </p:txBody>
      </p:sp>
      <p:sp>
        <p:nvSpPr>
          <p:cNvPr id="2" name="Rectangle 1"/>
          <p:cNvSpPr/>
          <p:nvPr/>
        </p:nvSpPr>
        <p:spPr>
          <a:xfrm>
            <a:off x="0" y="35637"/>
            <a:ext cx="6858000" cy="369332"/>
          </a:xfrm>
          <a:prstGeom prst="rect">
            <a:avLst/>
          </a:prstGeom>
        </p:spPr>
        <p:txBody>
          <a:bodyPr wrap="square">
            <a:spAutoFit/>
          </a:bodyPr>
          <a:lstStyle/>
          <a:p>
            <a:r>
              <a:rPr lang="en-US" b="1" dirty="0">
                <a:solidFill>
                  <a:schemeClr val="bg1"/>
                </a:solidFill>
              </a:rPr>
              <a:t>No-code/low-code software </a:t>
            </a:r>
            <a:r>
              <a:rPr lang="en-US" b="1" dirty="0" smtClean="0">
                <a:solidFill>
                  <a:schemeClr val="bg1"/>
                </a:solidFill>
              </a:rPr>
              <a:t>course</a:t>
            </a:r>
            <a:endParaRPr lang="en-US" b="1" dirty="0">
              <a:solidFill>
                <a:schemeClr val="bg1"/>
              </a:solidFill>
            </a:endParaRPr>
          </a:p>
        </p:txBody>
      </p:sp>
      <p:pic>
        <p:nvPicPr>
          <p:cNvPr id="33" name="Picture 32"/>
          <p:cNvPicPr>
            <a:picLocks noChangeAspect="1"/>
          </p:cNvPicPr>
          <p:nvPr/>
        </p:nvPicPr>
        <p:blipFill>
          <a:blip r:embed="rId6"/>
          <a:stretch>
            <a:fillRect/>
          </a:stretch>
        </p:blipFill>
        <p:spPr>
          <a:xfrm>
            <a:off x="3919117" y="404969"/>
            <a:ext cx="1324906" cy="1019971"/>
          </a:xfrm>
          <a:prstGeom prst="rect">
            <a:avLst/>
          </a:prstGeom>
        </p:spPr>
      </p:pic>
      <p:sp>
        <p:nvSpPr>
          <p:cNvPr id="5" name="Rectangle 4"/>
          <p:cNvSpPr/>
          <p:nvPr/>
        </p:nvSpPr>
        <p:spPr>
          <a:xfrm>
            <a:off x="931127" y="3580372"/>
            <a:ext cx="3429000" cy="1354217"/>
          </a:xfrm>
          <a:prstGeom prst="rect">
            <a:avLst/>
          </a:prstGeom>
        </p:spPr>
        <p:txBody>
          <a:bodyPr>
            <a:spAutoFit/>
          </a:bodyPr>
          <a:lstStyle/>
          <a:p>
            <a:r>
              <a:rPr lang="en-US" altLang="ko-KR" sz="1600" dirty="0">
                <a:solidFill>
                  <a:schemeClr val="bg1"/>
                </a:solidFill>
              </a:rPr>
              <a:t>About  Instructor:</a:t>
            </a:r>
          </a:p>
          <a:p>
            <a:r>
              <a:rPr lang="en-US" altLang="ko-KR" sz="1100" b="1" dirty="0" err="1">
                <a:solidFill>
                  <a:schemeClr val="bg1"/>
                </a:solidFill>
              </a:rPr>
              <a:t>Shahzad</a:t>
            </a:r>
            <a:r>
              <a:rPr lang="en-US" altLang="ko-KR" sz="1100" b="1" dirty="0">
                <a:solidFill>
                  <a:schemeClr val="bg1"/>
                </a:solidFill>
              </a:rPr>
              <a:t> </a:t>
            </a:r>
            <a:r>
              <a:rPr lang="en-US" altLang="ko-KR" sz="1100" dirty="0">
                <a:solidFill>
                  <a:schemeClr val="bg1"/>
                </a:solidFill>
              </a:rPr>
              <a:t>- Software Fractional Strategy Consultant - 25+ Years Of Experience In Software Industry - With Clients In  Across North America And  Europe, With Focus On:</a:t>
            </a:r>
          </a:p>
          <a:p>
            <a:pPr marL="342900" indent="-342900">
              <a:buFont typeface="Wingdings" panose="05000000000000000000" pitchFamily="2" charset="2"/>
              <a:buChar char="q"/>
            </a:pPr>
            <a:r>
              <a:rPr lang="en-US" altLang="ko-KR" sz="1100" dirty="0">
                <a:solidFill>
                  <a:schemeClr val="bg1"/>
                </a:solidFill>
              </a:rPr>
              <a:t>Cloud/</a:t>
            </a:r>
            <a:r>
              <a:rPr lang="en-US" altLang="ko-KR" sz="1100" dirty="0" err="1">
                <a:solidFill>
                  <a:schemeClr val="bg1"/>
                </a:solidFill>
              </a:rPr>
              <a:t>SaaS</a:t>
            </a:r>
            <a:r>
              <a:rPr lang="en-US" altLang="ko-KR" sz="1100" dirty="0">
                <a:solidFill>
                  <a:schemeClr val="bg1"/>
                </a:solidFill>
              </a:rPr>
              <a:t>- Software As Service</a:t>
            </a:r>
          </a:p>
          <a:p>
            <a:pPr marL="342900" indent="-342900">
              <a:buFont typeface="Wingdings" panose="05000000000000000000" pitchFamily="2" charset="2"/>
              <a:buChar char="q"/>
            </a:pPr>
            <a:r>
              <a:rPr lang="en-US" altLang="ko-KR" sz="1100" dirty="0">
                <a:solidFill>
                  <a:schemeClr val="bg1"/>
                </a:solidFill>
              </a:rPr>
              <a:t>Artificial Intelligence  &amp; Generative AI &amp; LLM</a:t>
            </a:r>
          </a:p>
          <a:p>
            <a:pPr marL="342900" indent="-342900">
              <a:buFont typeface="Wingdings" panose="05000000000000000000" pitchFamily="2" charset="2"/>
              <a:buChar char="q"/>
            </a:pPr>
            <a:r>
              <a:rPr lang="en-US" altLang="ko-KR" sz="1100" dirty="0">
                <a:solidFill>
                  <a:schemeClr val="bg1"/>
                </a:solidFill>
              </a:rPr>
              <a:t>No-code/Low-code Software Development</a:t>
            </a:r>
          </a:p>
        </p:txBody>
      </p:sp>
    </p:spTree>
    <p:extLst>
      <p:ext uri="{BB962C8B-B14F-4D97-AF65-F5344CB8AC3E}">
        <p14:creationId xmlns:p14="http://schemas.microsoft.com/office/powerpoint/2010/main" val="2437419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7" name="직사각형 26">
            <a:extLst>
              <a:ext uri="{FF2B5EF4-FFF2-40B4-BE49-F238E27FC236}">
                <a16:creationId xmlns:a16="http://schemas.microsoft.com/office/drawing/2014/main" xmlns="" id="{8D122637-2F9F-4D6D-B650-CED44ECF1A91}"/>
              </a:ext>
            </a:extLst>
          </p:cNvPr>
          <p:cNvSpPr/>
          <p:nvPr/>
        </p:nvSpPr>
        <p:spPr>
          <a:xfrm>
            <a:off x="0" y="0"/>
            <a:ext cx="461500" cy="50078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9" name="직선 연결선 28">
            <a:extLst>
              <a:ext uri="{FF2B5EF4-FFF2-40B4-BE49-F238E27FC236}">
                <a16:creationId xmlns:a16="http://schemas.microsoft.com/office/drawing/2014/main" xmlns="" id="{2AA171E4-1F6F-41A4-B104-0EFC14B58D33}"/>
              </a:ext>
            </a:extLst>
          </p:cNvPr>
          <p:cNvCxnSpPr>
            <a:cxnSpLocks/>
            <a:stCxn id="27" idx="0"/>
          </p:cNvCxnSpPr>
          <p:nvPr/>
        </p:nvCxnSpPr>
        <p:spPr>
          <a:xfrm flipH="1">
            <a:off x="212613" y="0"/>
            <a:ext cx="18137" cy="922020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xmlns="" id="{B5061A88-7C4D-45A8-89EA-77CDE39728FC}"/>
              </a:ext>
            </a:extLst>
          </p:cNvPr>
          <p:cNvCxnSpPr>
            <a:cxnSpLocks/>
          </p:cNvCxnSpPr>
          <p:nvPr/>
        </p:nvCxnSpPr>
        <p:spPr>
          <a:xfrm>
            <a:off x="0" y="563933"/>
            <a:ext cx="685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2"/>
          <a:stretch>
            <a:fillRect/>
          </a:stretch>
        </p:blipFill>
        <p:spPr>
          <a:xfrm>
            <a:off x="0" y="7358743"/>
            <a:ext cx="6858000" cy="1785257"/>
          </a:xfrm>
          <a:prstGeom prst="rect">
            <a:avLst/>
          </a:prstGeom>
        </p:spPr>
      </p:pic>
      <p:sp>
        <p:nvSpPr>
          <p:cNvPr id="2" name="Rectangle 1"/>
          <p:cNvSpPr/>
          <p:nvPr/>
        </p:nvSpPr>
        <p:spPr>
          <a:xfrm>
            <a:off x="461500" y="107516"/>
            <a:ext cx="5673348" cy="369332"/>
          </a:xfrm>
          <a:prstGeom prst="rect">
            <a:avLst/>
          </a:prstGeom>
        </p:spPr>
        <p:txBody>
          <a:bodyPr wrap="none">
            <a:spAutoFit/>
          </a:bodyPr>
          <a:lstStyle/>
          <a:p>
            <a:r>
              <a:rPr lang="en-US" b="1" dirty="0">
                <a:solidFill>
                  <a:schemeClr val="bg1"/>
                </a:solidFill>
                <a:latin typeface="Inter"/>
              </a:rPr>
              <a:t>Explore essential products and features on </a:t>
            </a:r>
            <a:r>
              <a:rPr lang="en-US" b="1" dirty="0" err="1">
                <a:solidFill>
                  <a:schemeClr val="bg1"/>
                </a:solidFill>
                <a:latin typeface="Inter"/>
              </a:rPr>
              <a:t>Zapier</a:t>
            </a:r>
            <a:endParaRPr lang="en-US" b="1" dirty="0">
              <a:solidFill>
                <a:schemeClr val="bg1"/>
              </a:solidFill>
            </a:endParaRPr>
          </a:p>
        </p:txBody>
      </p:sp>
      <p:sp>
        <p:nvSpPr>
          <p:cNvPr id="3" name="Rectangle 2"/>
          <p:cNvSpPr/>
          <p:nvPr/>
        </p:nvSpPr>
        <p:spPr>
          <a:xfrm>
            <a:off x="484361" y="648895"/>
            <a:ext cx="6373639" cy="2308324"/>
          </a:xfrm>
          <a:prstGeom prst="rect">
            <a:avLst/>
          </a:prstGeom>
        </p:spPr>
        <p:txBody>
          <a:bodyPr wrap="square">
            <a:spAutoFit/>
          </a:bodyPr>
          <a:lstStyle/>
          <a:p>
            <a:pPr marL="285750" indent="-285750">
              <a:buFont typeface="Wingdings" panose="05000000000000000000" pitchFamily="2" charset="2"/>
              <a:buChar char="q"/>
            </a:pPr>
            <a:r>
              <a:rPr lang="en-US" dirty="0">
                <a:solidFill>
                  <a:schemeClr val="bg1"/>
                </a:solidFill>
              </a:rPr>
              <a:t>An overview of the </a:t>
            </a:r>
            <a:r>
              <a:rPr lang="en-US" dirty="0" err="1">
                <a:solidFill>
                  <a:schemeClr val="bg1"/>
                </a:solidFill>
              </a:rPr>
              <a:t>Zapier</a:t>
            </a:r>
            <a:r>
              <a:rPr lang="en-US" dirty="0">
                <a:solidFill>
                  <a:schemeClr val="bg1"/>
                </a:solidFill>
              </a:rPr>
              <a:t> home page and where to start building workflows.</a:t>
            </a:r>
          </a:p>
          <a:p>
            <a:pPr marL="285750" indent="-285750">
              <a:buFont typeface="Wingdings" panose="05000000000000000000" pitchFamily="2" charset="2"/>
              <a:buChar char="q"/>
            </a:pPr>
            <a:r>
              <a:rPr lang="en-US" dirty="0">
                <a:solidFill>
                  <a:schemeClr val="bg1"/>
                </a:solidFill>
              </a:rPr>
              <a:t>How to use the </a:t>
            </a:r>
            <a:r>
              <a:rPr lang="en-US" dirty="0" err="1">
                <a:solidFill>
                  <a:schemeClr val="bg1"/>
                </a:solidFill>
              </a:rPr>
              <a:t>Zapier</a:t>
            </a:r>
            <a:r>
              <a:rPr lang="en-US" dirty="0">
                <a:solidFill>
                  <a:schemeClr val="bg1"/>
                </a:solidFill>
              </a:rPr>
              <a:t> visual editor to create and publish Zaps.</a:t>
            </a:r>
          </a:p>
          <a:p>
            <a:pPr marL="285750" indent="-285750">
              <a:buFont typeface="Wingdings" panose="05000000000000000000" pitchFamily="2" charset="2"/>
              <a:buChar char="q"/>
            </a:pPr>
            <a:r>
              <a:rPr lang="en-US" dirty="0">
                <a:solidFill>
                  <a:schemeClr val="bg1"/>
                </a:solidFill>
              </a:rPr>
              <a:t>How to leverage products such as Tables, Interfaces, AI </a:t>
            </a:r>
            <a:r>
              <a:rPr lang="en-US" dirty="0" err="1">
                <a:solidFill>
                  <a:schemeClr val="bg1"/>
                </a:solidFill>
              </a:rPr>
              <a:t>Chatbots</a:t>
            </a:r>
            <a:r>
              <a:rPr lang="en-US" dirty="0">
                <a:solidFill>
                  <a:schemeClr val="bg1"/>
                </a:solidFill>
              </a:rPr>
              <a:t>, and Canvas to connect to your Zaps and expand the automation experience with a suite of tools.</a:t>
            </a:r>
          </a:p>
          <a:p>
            <a:pPr marL="285750" indent="-285750">
              <a:buFont typeface="Wingdings" panose="05000000000000000000" pitchFamily="2" charset="2"/>
              <a:buChar char="q"/>
            </a:pPr>
            <a:r>
              <a:rPr lang="en-US" dirty="0">
                <a:solidFill>
                  <a:schemeClr val="bg1"/>
                </a:solidFill>
              </a:rPr>
              <a:t>Explore the Zap history, Apps directory, and where to find help resources when you need support.</a:t>
            </a:r>
          </a:p>
        </p:txBody>
      </p:sp>
      <p:graphicFrame>
        <p:nvGraphicFramePr>
          <p:cNvPr id="4" name="Table 3"/>
          <p:cNvGraphicFramePr>
            <a:graphicFrameLocks noGrp="1"/>
          </p:cNvGraphicFramePr>
          <p:nvPr>
            <p:extLst>
              <p:ext uri="{D42A27DB-BD31-4B8C-83A1-F6EECF244321}">
                <p14:modId xmlns:p14="http://schemas.microsoft.com/office/powerpoint/2010/main" val="3168762221"/>
              </p:ext>
            </p:extLst>
          </p:nvPr>
        </p:nvGraphicFramePr>
        <p:xfrm>
          <a:off x="603621" y="2957219"/>
          <a:ext cx="6254379" cy="1830705"/>
        </p:xfrm>
        <a:graphic>
          <a:graphicData uri="http://schemas.openxmlformats.org/drawingml/2006/table">
            <a:tbl>
              <a:tblPr firstRow="1" firstCol="1" bandRow="1">
                <a:tableStyleId>{5C22544A-7EE6-4342-B048-85BDC9FD1C3A}</a:tableStyleId>
              </a:tblPr>
              <a:tblGrid>
                <a:gridCol w="1138093"/>
                <a:gridCol w="2405743"/>
                <a:gridCol w="2710543"/>
              </a:tblGrid>
              <a:tr h="0">
                <a:tc>
                  <a:txBody>
                    <a:bodyPr/>
                    <a:lstStyle/>
                    <a:p>
                      <a:pPr marL="0" marR="0" algn="ctr">
                        <a:lnSpc>
                          <a:spcPct val="107000"/>
                        </a:lnSpc>
                        <a:spcBef>
                          <a:spcPts val="0"/>
                        </a:spcBef>
                        <a:spcAft>
                          <a:spcPts val="0"/>
                        </a:spcAft>
                      </a:pPr>
                      <a:r>
                        <a:rPr lang="en-US" sz="1200" dirty="0">
                          <a:effectLst/>
                        </a:rPr>
                        <a:t>Product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rPr>
                        <a:t>Primary Use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200">
                          <a:effectLst/>
                        </a:rPr>
                        <a:t>Key Highlights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0">
                <a:tc>
                  <a:txBody>
                    <a:bodyPr/>
                    <a:lstStyle/>
                    <a:p>
                      <a:pPr marL="0" marR="0">
                        <a:lnSpc>
                          <a:spcPct val="107000"/>
                        </a:lnSpc>
                        <a:spcBef>
                          <a:spcPts val="0"/>
                        </a:spcBef>
                        <a:spcAft>
                          <a:spcPts val="0"/>
                        </a:spcAft>
                      </a:pPr>
                      <a:r>
                        <a:rPr lang="en-US" sz="1200">
                          <a:effectLst/>
                        </a:rPr>
                        <a:t>Tables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a:effectLst/>
                        </a:rPr>
                        <a:t>Structured data storage &amp; automation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dirty="0">
                          <a:effectLst/>
                        </a:rPr>
                        <a:t>No-task, triggers, </a:t>
                      </a:r>
                      <a:r>
                        <a:rPr lang="en-US" sz="1200" dirty="0" smtClean="0">
                          <a:effectLst/>
                        </a:rPr>
                        <a:t>formulas, linked </a:t>
                      </a:r>
                      <a:r>
                        <a:rPr lang="en-US" sz="1200" dirty="0">
                          <a:effectLst/>
                        </a:rPr>
                        <a:t>records, AI support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0">
                <a:tc>
                  <a:txBody>
                    <a:bodyPr/>
                    <a:lstStyle/>
                    <a:p>
                      <a:pPr marL="0" marR="0">
                        <a:lnSpc>
                          <a:spcPct val="107000"/>
                        </a:lnSpc>
                        <a:spcBef>
                          <a:spcPts val="0"/>
                        </a:spcBef>
                        <a:spcAft>
                          <a:spcPts val="0"/>
                        </a:spcAft>
                      </a:pPr>
                      <a:r>
                        <a:rPr lang="en-US" sz="1200">
                          <a:effectLst/>
                        </a:rPr>
                        <a:t>Interfaces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a:effectLst/>
                        </a:rPr>
                        <a:t>Internal tools, forms, client-facing UI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dirty="0">
                          <a:effectLst/>
                        </a:rPr>
                        <a:t>Drag-drop pages, authentication, </a:t>
                      </a:r>
                      <a:r>
                        <a:rPr lang="en-US" sz="1200" dirty="0" smtClean="0">
                          <a:effectLst/>
                        </a:rPr>
                        <a:t>                          </a:t>
                      </a:r>
                      <a:r>
                        <a:rPr lang="en-US" sz="1200" dirty="0" err="1" smtClean="0">
                          <a:effectLst/>
                        </a:rPr>
                        <a:t>brandable</a:t>
                      </a:r>
                      <a:r>
                        <a:rPr lang="en-US" sz="1200" dirty="0" smtClean="0">
                          <a:effectLst/>
                        </a:rPr>
                        <a:t> </a:t>
                      </a:r>
                      <a:r>
                        <a:rPr lang="en-US" sz="1200" dirty="0">
                          <a:effectLst/>
                        </a:rPr>
                        <a:t>portals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0">
                <a:tc>
                  <a:txBody>
                    <a:bodyPr/>
                    <a:lstStyle/>
                    <a:p>
                      <a:pPr marL="0" marR="0">
                        <a:lnSpc>
                          <a:spcPct val="107000"/>
                        </a:lnSpc>
                        <a:spcBef>
                          <a:spcPts val="0"/>
                        </a:spcBef>
                        <a:spcAft>
                          <a:spcPts val="0"/>
                        </a:spcAft>
                      </a:pPr>
                      <a:r>
                        <a:rPr lang="en-US" sz="1200">
                          <a:effectLst/>
                        </a:rPr>
                        <a:t>Chatbots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a:effectLst/>
                        </a:rPr>
                        <a:t>AI assistants on websites &amp; portals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dirty="0">
                          <a:effectLst/>
                        </a:rPr>
                        <a:t>GPT-based, </a:t>
                      </a:r>
                      <a:r>
                        <a:rPr lang="en-US" sz="1200" dirty="0" smtClean="0">
                          <a:effectLst/>
                        </a:rPr>
                        <a:t>knowledge-</a:t>
                      </a:r>
                      <a:r>
                        <a:rPr lang="en-US" sz="1200" dirty="0" err="1" smtClean="0">
                          <a:effectLst/>
                        </a:rPr>
                        <a:t>driven,embedded</a:t>
                      </a:r>
                      <a:r>
                        <a:rPr lang="en-US" sz="1200" dirty="0">
                          <a:effectLst/>
                        </a:rPr>
                        <a:t>, Zap-connected reply logic</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0">
                <a:tc>
                  <a:txBody>
                    <a:bodyPr/>
                    <a:lstStyle/>
                    <a:p>
                      <a:pPr marL="0" marR="0">
                        <a:lnSpc>
                          <a:spcPct val="107000"/>
                        </a:lnSpc>
                        <a:spcBef>
                          <a:spcPts val="0"/>
                        </a:spcBef>
                        <a:spcAft>
                          <a:spcPts val="0"/>
                        </a:spcAft>
                      </a:pPr>
                      <a:r>
                        <a:rPr lang="en-US" sz="1200">
                          <a:effectLst/>
                        </a:rPr>
                        <a:t>Canvas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a:effectLst/>
                        </a:rPr>
                        <a:t>Visual + AI-based workflow design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200" dirty="0">
                          <a:effectLst/>
                        </a:rPr>
                        <a:t>Diagramming → live build, </a:t>
                      </a:r>
                      <a:r>
                        <a:rPr lang="en-US" sz="1200" dirty="0" smtClean="0">
                          <a:effectLst/>
                        </a:rPr>
                        <a:t>                            Copilot </a:t>
                      </a:r>
                      <a:r>
                        <a:rPr lang="en-US" sz="1200" dirty="0">
                          <a:effectLst/>
                        </a:rPr>
                        <a:t>suggestions, </a:t>
                      </a:r>
                      <a:r>
                        <a:rPr lang="en-US" sz="1200" dirty="0" err="1">
                          <a:effectLst/>
                        </a:rPr>
                        <a:t>versionable</a:t>
                      </a:r>
                      <a:r>
                        <a:rPr lang="en-US" sz="1200" dirty="0">
                          <a:effectLst/>
                        </a:rPr>
                        <a:t> drafts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bl>
          </a:graphicData>
        </a:graphic>
      </p:graphicFrame>
      <p:sp>
        <p:nvSpPr>
          <p:cNvPr id="5" name="Rectangle 1"/>
          <p:cNvSpPr>
            <a:spLocks noChangeArrowheads="1"/>
          </p:cNvSpPr>
          <p:nvPr/>
        </p:nvSpPr>
        <p:spPr bwMode="auto">
          <a:xfrm>
            <a:off x="484361" y="5228272"/>
            <a:ext cx="625437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bg1"/>
                </a:solidFill>
                <a:effectLst/>
                <a:latin typeface="Calibri" panose="020F0502020204030204" pitchFamily="34" charset="0"/>
                <a:ea typeface="Times New Roman" panose="02020603050405020304" pitchFamily="18" charset="0"/>
                <a:cs typeface="Segoe UI Symbol" panose="020B0502040204020203" pitchFamily="34" charset="0"/>
              </a:rPr>
              <a:t>📊</a:t>
            </a:r>
            <a:r>
              <a:rPr kumimoji="0" lang="en-US" sz="1600" b="1" i="0" u="none" strike="noStrike" cap="none" normalizeH="0" baseline="0" dirty="0"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 Summary Table</a:t>
            </a:r>
            <a:endParaRPr kumimoji="0" lang="en-US" sz="1600" b="0" i="0" u="none" strike="noStrike" cap="none" normalizeH="0" baseline="0" dirty="0" smtClean="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Each tool tightly integrates with </a:t>
            </a:r>
            <a:r>
              <a:rPr kumimoji="0" lang="en-US" sz="1600" b="0" i="0" u="none" strike="noStrike" cap="none" normalizeH="0" baseline="0" dirty="0" err="1"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Zapier</a:t>
            </a:r>
            <a:r>
              <a:rPr kumimoji="0" lang="en-US" sz="1600" b="0" i="0" u="none" strike="noStrike" cap="none" normalizeH="0" baseline="0" dirty="0" err="1" smtClean="0">
                <a:ln>
                  <a:noFill/>
                </a:ln>
                <a:solidFill>
                  <a:schemeClr val="bg1"/>
                </a:solidFill>
                <a:effectLst/>
                <a:latin typeface="Calibri" panose="020F0502020204030204" pitchFamily="34" charset="0"/>
                <a:ea typeface="Times New Roman" panose="02020603050405020304" pitchFamily="18" charset="0"/>
                <a:cs typeface="Segoe UI" panose="020B0502040204020203" pitchFamily="34" charset="0"/>
              </a:rPr>
              <a:t>’</a:t>
            </a:r>
            <a:r>
              <a:rPr kumimoji="0" lang="en-US" sz="1600" b="0" i="0" u="none" strike="noStrike" cap="none" normalizeH="0" baseline="0" dirty="0" err="1"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s</a:t>
            </a:r>
            <a:r>
              <a:rPr kumimoji="0" lang="en-US" sz="1600" b="0" i="0" u="none" strike="noStrike" cap="none" normalizeH="0" baseline="0" dirty="0"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 ecosystem</a:t>
            </a:r>
            <a:r>
              <a:rPr kumimoji="0" lang="en-US" sz="1600" b="0" i="0" u="none" strike="noStrike" cap="none" normalizeH="0" baseline="0" dirty="0" smtClean="0">
                <a:ln>
                  <a:noFill/>
                </a:ln>
                <a:solidFill>
                  <a:schemeClr val="bg1"/>
                </a:solidFill>
                <a:effectLst/>
                <a:latin typeface="Calibri" panose="020F0502020204030204" pitchFamily="34" charset="0"/>
                <a:ea typeface="Times New Roman" panose="02020603050405020304" pitchFamily="18" charset="0"/>
                <a:cs typeface="Segoe UI" panose="020B0502040204020203" pitchFamily="34" charset="0"/>
              </a:rPr>
              <a:t>—</a:t>
            </a:r>
            <a:r>
              <a:rPr kumimoji="0" lang="en-US" sz="1600" b="0" i="0" u="none" strike="noStrike" cap="none" normalizeH="0" baseline="0" dirty="0"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including Zaps, Tables, Interfaces, </a:t>
            </a:r>
            <a:r>
              <a:rPr kumimoji="0" lang="en-US" sz="1600" b="0" i="0" u="none" strike="noStrike" cap="none" normalizeH="0" baseline="0" dirty="0" err="1"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Chatbots</a:t>
            </a:r>
            <a:r>
              <a:rPr kumimoji="0" lang="en-US" sz="1600" b="0" i="0" u="none" strike="noStrike" cap="none" normalizeH="0" baseline="0" dirty="0"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 Agents,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and Copilot</a:t>
            </a:r>
            <a:r>
              <a:rPr kumimoji="0" lang="en-US" sz="1600" b="0" i="0" u="none" strike="noStrike" cap="none" normalizeH="0" baseline="0" dirty="0" smtClean="0">
                <a:ln>
                  <a:noFill/>
                </a:ln>
                <a:solidFill>
                  <a:schemeClr val="bg1"/>
                </a:solidFill>
                <a:effectLst/>
                <a:latin typeface="Calibri" panose="020F0502020204030204" pitchFamily="34" charset="0"/>
                <a:ea typeface="Times New Roman" panose="02020603050405020304" pitchFamily="18" charset="0"/>
                <a:cs typeface="Segoe UI" panose="020B0502040204020203" pitchFamily="34" charset="0"/>
              </a:rPr>
              <a:t>—</a:t>
            </a:r>
            <a:r>
              <a:rPr kumimoji="0" lang="en-US" sz="1600" b="0" i="0" u="none" strike="noStrike" cap="none" normalizeH="0" baseline="0" dirty="0"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enabling users to </a:t>
            </a:r>
            <a:r>
              <a:rPr kumimoji="0" lang="en-US" sz="1600" b="1" i="0" u="none" strike="noStrike" cap="none" normalizeH="0" baseline="0" dirty="0"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plan</a:t>
            </a:r>
            <a:r>
              <a:rPr kumimoji="0" lang="en-US" sz="1600" b="0" i="0" u="none" strike="noStrike" cap="none" normalizeH="0" baseline="0" dirty="0"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sz="1600" b="1" i="0" u="none" strike="noStrike" cap="none" normalizeH="0" baseline="0" dirty="0"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build</a:t>
            </a:r>
            <a:r>
              <a:rPr kumimoji="0" lang="en-US" sz="1600" b="0" i="0" u="none" strike="noStrike" cap="none" normalizeH="0" baseline="0" dirty="0"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sz="1600" b="1" i="0" u="none" strike="noStrike" cap="none" normalizeH="0" baseline="0" dirty="0"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automate</a:t>
            </a:r>
            <a:r>
              <a:rPr kumimoji="0" lang="en-US" sz="1600" b="0" i="0" u="none" strike="noStrike" cap="none" normalizeH="0" baseline="0" dirty="0"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sz="1600" b="1" i="0" u="none" strike="noStrike" cap="none" normalizeH="0" baseline="0" dirty="0"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collaborate</a:t>
            </a:r>
            <a:r>
              <a:rPr kumimoji="0" lang="en-US" sz="1600" b="0" i="0" u="none" strike="noStrike" cap="none" normalizeH="0" baseline="0" dirty="0"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 and </a:t>
            </a:r>
            <a:r>
              <a:rPr kumimoji="0" lang="en-US" sz="1600" b="1" i="0" u="none" strike="noStrike" cap="none" normalizeH="0" baseline="0" dirty="0"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manage data</a:t>
            </a:r>
            <a:r>
              <a:rPr kumimoji="0" lang="en-US" sz="1600" b="0" i="0" u="none" strike="noStrike" cap="none" normalizeH="0" baseline="0" dirty="0"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 entirely within </a:t>
            </a:r>
            <a:r>
              <a:rPr kumimoji="0" lang="en-US" sz="1600" b="0" i="0" u="none" strike="noStrike" cap="none" normalizeH="0" baseline="0" dirty="0" err="1"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Zapier</a:t>
            </a:r>
            <a:r>
              <a:rPr kumimoji="0" lang="en-US" sz="1600" b="0" i="0" u="none" strike="noStrike" cap="none" normalizeH="0" baseline="0" dirty="0"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sz="1000" b="0" i="0" u="none" strike="noStrike" cap="none" normalizeH="0" baseline="0" dirty="0"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hlinkClick r:id="rId3"/>
              </a:rPr>
              <a:t>[zapier.com]</a:t>
            </a:r>
            <a:r>
              <a:rPr kumimoji="0" lang="en-US" sz="1000" b="0" i="0" u="none" strike="noStrike" cap="none" normalizeH="0" baseline="0" dirty="0"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sz="1000" b="0" i="0" u="none" strike="noStrike" cap="none" normalizeH="0" baseline="0" dirty="0"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hlinkClick r:id="rId4"/>
              </a:rPr>
              <a:t>[zapier.com]</a:t>
            </a:r>
            <a:r>
              <a:rPr kumimoji="0" lang="en-US" sz="1000" b="0" i="0" u="none" strike="noStrike" cap="none" normalizeH="0" baseline="0" dirty="0"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rPr>
              <a:t>, </a:t>
            </a:r>
            <a:r>
              <a:rPr kumimoji="0" lang="en-US" sz="1000" b="0" i="0" u="none" strike="noStrike" cap="none" normalizeH="0" baseline="0" dirty="0" smtClean="0">
                <a:ln>
                  <a:noFill/>
                </a:ln>
                <a:solidFill>
                  <a:schemeClr val="bg1"/>
                </a:solidFill>
                <a:effectLst/>
                <a:latin typeface="Segoe UI" panose="020B0502040204020203" pitchFamily="34" charset="0"/>
                <a:ea typeface="Times New Roman" panose="02020603050405020304" pitchFamily="18" charset="0"/>
                <a:cs typeface="Segoe UI" panose="020B0502040204020203" pitchFamily="34" charset="0"/>
                <a:hlinkClick r:id="rId5"/>
              </a:rPr>
              <a:t>[community.zapier.com]</a:t>
            </a:r>
            <a:endParaRPr kumimoji="0" lang="en-US" sz="1800" b="0" i="0" u="none" strike="noStrike" cap="none" normalizeH="0" baseline="0" dirty="0" smtClean="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4924751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7" name="직사각형 26">
            <a:extLst>
              <a:ext uri="{FF2B5EF4-FFF2-40B4-BE49-F238E27FC236}">
                <a16:creationId xmlns:a16="http://schemas.microsoft.com/office/drawing/2014/main" xmlns="" id="{8D122637-2F9F-4D6D-B650-CED44ECF1A91}"/>
              </a:ext>
            </a:extLst>
          </p:cNvPr>
          <p:cNvSpPr/>
          <p:nvPr/>
        </p:nvSpPr>
        <p:spPr>
          <a:xfrm>
            <a:off x="0" y="0"/>
            <a:ext cx="461500" cy="50078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9" name="직선 연결선 28">
            <a:extLst>
              <a:ext uri="{FF2B5EF4-FFF2-40B4-BE49-F238E27FC236}">
                <a16:creationId xmlns:a16="http://schemas.microsoft.com/office/drawing/2014/main" xmlns="" id="{2AA171E4-1F6F-41A4-B104-0EFC14B58D33}"/>
              </a:ext>
            </a:extLst>
          </p:cNvPr>
          <p:cNvCxnSpPr>
            <a:cxnSpLocks/>
            <a:stCxn id="27" idx="0"/>
          </p:cNvCxnSpPr>
          <p:nvPr/>
        </p:nvCxnSpPr>
        <p:spPr>
          <a:xfrm flipH="1">
            <a:off x="212613" y="0"/>
            <a:ext cx="18137" cy="922020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xmlns="" id="{B5061A88-7C4D-45A8-89EA-77CDE39728FC}"/>
              </a:ext>
            </a:extLst>
          </p:cNvPr>
          <p:cNvCxnSpPr>
            <a:cxnSpLocks/>
          </p:cNvCxnSpPr>
          <p:nvPr/>
        </p:nvCxnSpPr>
        <p:spPr>
          <a:xfrm>
            <a:off x="0" y="563933"/>
            <a:ext cx="685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2"/>
          <a:stretch>
            <a:fillRect/>
          </a:stretch>
        </p:blipFill>
        <p:spPr>
          <a:xfrm>
            <a:off x="0" y="7358743"/>
            <a:ext cx="6858000" cy="1785257"/>
          </a:xfrm>
          <a:prstGeom prst="rect">
            <a:avLst/>
          </a:prstGeom>
        </p:spPr>
      </p:pic>
      <p:sp>
        <p:nvSpPr>
          <p:cNvPr id="2" name="Rectangle 1"/>
          <p:cNvSpPr/>
          <p:nvPr/>
        </p:nvSpPr>
        <p:spPr>
          <a:xfrm>
            <a:off x="461500" y="107516"/>
            <a:ext cx="2721707" cy="467564"/>
          </a:xfrm>
          <a:prstGeom prst="rect">
            <a:avLst/>
          </a:prstGeom>
        </p:spPr>
        <p:txBody>
          <a:bodyPr wrap="none">
            <a:spAutoFit/>
          </a:bodyPr>
          <a:lstStyle/>
          <a:p>
            <a:pPr>
              <a:lnSpc>
                <a:spcPct val="107000"/>
              </a:lnSpc>
              <a:spcAft>
                <a:spcPts val="800"/>
              </a:spcAft>
            </a:pPr>
            <a:r>
              <a:rPr lang="en-US" sz="2400" b="1" dirty="0">
                <a:solidFill>
                  <a:schemeClr val="bg1"/>
                </a:solidFill>
                <a:latin typeface="Segoe UI Symbol" panose="020B0502040204020203" pitchFamily="34" charset="0"/>
                <a:ea typeface="Times New Roman" panose="02020603050405020304" pitchFamily="18" charset="0"/>
                <a:cs typeface="Segoe UI Symbol" panose="020B0502040204020203" pitchFamily="34" charset="0"/>
              </a:rPr>
              <a:t>🛠</a:t>
            </a:r>
            <a:r>
              <a:rPr lang="en-US" sz="2400" b="1" dirty="0">
                <a:solidFill>
                  <a:schemeClr val="bg1"/>
                </a:solidFill>
                <a:latin typeface="Segoe UI" panose="020B0502040204020203" pitchFamily="34" charset="0"/>
                <a:ea typeface="Times New Roman" panose="02020603050405020304" pitchFamily="18" charset="0"/>
                <a:cs typeface="Times New Roman" panose="02020603050405020304" pitchFamily="18" charset="0"/>
              </a:rPr>
              <a:t>️ </a:t>
            </a:r>
            <a:r>
              <a:rPr lang="en-US" sz="2400" b="1" dirty="0" err="1">
                <a:solidFill>
                  <a:schemeClr val="bg1"/>
                </a:solidFill>
                <a:latin typeface="Segoe UI" panose="020B0502040204020203" pitchFamily="34" charset="0"/>
                <a:ea typeface="Times New Roman" panose="02020603050405020304" pitchFamily="18" charset="0"/>
                <a:cs typeface="Times New Roman" panose="02020603050405020304" pitchFamily="18" charset="0"/>
              </a:rPr>
              <a:t>Zapier</a:t>
            </a:r>
            <a:r>
              <a:rPr lang="en-US" sz="2400" b="1" dirty="0">
                <a:solidFill>
                  <a:schemeClr val="bg1"/>
                </a:solidFill>
                <a:latin typeface="Segoe UI" panose="020B0502040204020203" pitchFamily="34" charset="0"/>
                <a:ea typeface="Times New Roman" panose="02020603050405020304" pitchFamily="18" charset="0"/>
                <a:cs typeface="Times New Roman" panose="02020603050405020304" pitchFamily="18" charset="0"/>
              </a:rPr>
              <a:t> Tables</a:t>
            </a:r>
            <a:endParaRPr lang="en-US" sz="24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30" name="Rectangle 29"/>
          <p:cNvSpPr/>
          <p:nvPr/>
        </p:nvSpPr>
        <p:spPr>
          <a:xfrm>
            <a:off x="367195" y="808637"/>
            <a:ext cx="6490805" cy="4773102"/>
          </a:xfrm>
          <a:prstGeom prst="rect">
            <a:avLst/>
          </a:prstGeom>
        </p:spPr>
        <p:txBody>
          <a:bodyPr wrap="square">
            <a:spAutoFit/>
          </a:bodyPr>
          <a:lstStyle/>
          <a:p>
            <a:pPr marL="342900" marR="0" lvl="0" indent="-342900">
              <a:lnSpc>
                <a:spcPts val="1500"/>
              </a:lnSpc>
              <a:spcBef>
                <a:spcPts val="0"/>
              </a:spcBef>
              <a:spcAft>
                <a:spcPts val="800"/>
              </a:spcAft>
              <a:buSzPts val="1000"/>
              <a:buFont typeface="Wingdings" panose="05000000000000000000" pitchFamily="2" charset="2"/>
              <a:buChar char="q"/>
              <a:tabLst>
                <a:tab pos="457200" algn="l"/>
              </a:tabLst>
            </a:pPr>
            <a:r>
              <a:rPr lang="en-US" b="1" dirty="0" smtClean="0">
                <a:solidFill>
                  <a:schemeClr val="bg1"/>
                </a:solidFill>
                <a:latin typeface="Segoe UI" panose="020B0502040204020203" pitchFamily="34" charset="0"/>
                <a:ea typeface="Times New Roman" panose="02020603050405020304" pitchFamily="18" charset="0"/>
                <a:cs typeface="Times New Roman" panose="02020603050405020304" pitchFamily="18" charset="0"/>
              </a:rPr>
              <a:t>Automation-first </a:t>
            </a:r>
            <a:r>
              <a:rPr lang="en-US" b="1" dirty="0">
                <a:solidFill>
                  <a:schemeClr val="bg1"/>
                </a:solidFill>
                <a:latin typeface="Segoe UI" panose="020B0502040204020203" pitchFamily="34" charset="0"/>
                <a:ea typeface="Times New Roman" panose="02020603050405020304" pitchFamily="18" charset="0"/>
                <a:cs typeface="Times New Roman" panose="02020603050405020304" pitchFamily="18" charset="0"/>
              </a:rPr>
              <a:t>database</a:t>
            </a:r>
            <a:r>
              <a:rPr lang="en-US" dirty="0">
                <a:solidFill>
                  <a:schemeClr val="bg1"/>
                </a:solidFill>
                <a:latin typeface="Segoe UI" panose="020B0502040204020203" pitchFamily="34" charset="0"/>
                <a:ea typeface="Times New Roman" panose="02020603050405020304" pitchFamily="18" charset="0"/>
                <a:cs typeface="Times New Roman" panose="02020603050405020304" pitchFamily="18" charset="0"/>
              </a:rPr>
              <a:t>: native data storage that integrates with 8,000+ apps—exceeding standard spreadsheet sync. </a:t>
            </a:r>
            <a:r>
              <a:rPr lang="en-US" dirty="0">
                <a:solidFill>
                  <a:schemeClr val="bg1"/>
                </a:solidFill>
                <a:latin typeface="Segoe UI" panose="020B0502040204020203" pitchFamily="34" charset="0"/>
                <a:ea typeface="Times New Roman" panose="02020603050405020304" pitchFamily="18" charset="0"/>
                <a:cs typeface="Times New Roman" panose="02020603050405020304" pitchFamily="18" charset="0"/>
                <a:hlinkClick r:id="rId3"/>
              </a:rPr>
              <a:t>[help.zapier.com]</a:t>
            </a:r>
            <a:r>
              <a:rPr lang="en-US" dirty="0">
                <a:solidFill>
                  <a:schemeClr val="bg1"/>
                </a:solidFill>
                <a:latin typeface="Segoe UI" panose="020B0502040204020203" pitchFamily="34" charset="0"/>
                <a:ea typeface="Times New Roman" panose="02020603050405020304" pitchFamily="18" charset="0"/>
                <a:cs typeface="Times New Roman" panose="02020603050405020304" pitchFamily="18" charset="0"/>
              </a:rPr>
              <a:t>, </a:t>
            </a:r>
            <a:r>
              <a:rPr lang="en-US" dirty="0">
                <a:solidFill>
                  <a:schemeClr val="bg1"/>
                </a:solidFill>
                <a:latin typeface="Segoe UI" panose="020B0502040204020203" pitchFamily="34" charset="0"/>
                <a:ea typeface="Times New Roman" panose="02020603050405020304" pitchFamily="18" charset="0"/>
                <a:cs typeface="Times New Roman" panose="02020603050405020304" pitchFamily="18" charset="0"/>
                <a:hlinkClick r:id="rId4"/>
              </a:rPr>
              <a:t>[zapier.com</a:t>
            </a:r>
            <a:r>
              <a:rPr lang="en-US" dirty="0" smtClean="0">
                <a:solidFill>
                  <a:schemeClr val="bg1"/>
                </a:solidFill>
                <a:latin typeface="Segoe UI" panose="020B0502040204020203" pitchFamily="34" charset="0"/>
                <a:ea typeface="Times New Roman" panose="02020603050405020304" pitchFamily="18" charset="0"/>
                <a:cs typeface="Times New Roman" panose="02020603050405020304" pitchFamily="18" charset="0"/>
                <a:hlinkClick r:id="rId4"/>
              </a:rPr>
              <a:t>]</a:t>
            </a:r>
            <a:endParaRPr lang="en-US" dirty="0" smtClean="0">
              <a:solidFill>
                <a:schemeClr val="bg1"/>
              </a:solidFill>
              <a:latin typeface="Segoe UI" panose="020B0502040204020203" pitchFamily="34" charset="0"/>
              <a:ea typeface="Times New Roman" panose="02020603050405020304" pitchFamily="18" charset="0"/>
              <a:cs typeface="Times New Roman" panose="02020603050405020304" pitchFamily="18" charset="0"/>
            </a:endParaRPr>
          </a:p>
          <a:p>
            <a:pPr marL="342900" marR="0" lvl="0" indent="-342900">
              <a:lnSpc>
                <a:spcPts val="1500"/>
              </a:lnSpc>
              <a:spcBef>
                <a:spcPts val="0"/>
              </a:spcBef>
              <a:spcAft>
                <a:spcPts val="800"/>
              </a:spcAft>
              <a:buSzPts val="1000"/>
              <a:buFont typeface="Wingdings" panose="05000000000000000000" pitchFamily="2" charset="2"/>
              <a:buChar char="q"/>
              <a:tabLst>
                <a:tab pos="457200" algn="l"/>
              </a:tabLst>
            </a:pPr>
            <a:endParaRPr lang="en-US" sz="20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ts val="1500"/>
              </a:lnSpc>
              <a:spcBef>
                <a:spcPts val="0"/>
              </a:spcBef>
              <a:spcAft>
                <a:spcPts val="800"/>
              </a:spcAft>
              <a:buSzPts val="1000"/>
              <a:buFont typeface="Wingdings" panose="05000000000000000000" pitchFamily="2" charset="2"/>
              <a:buChar char="q"/>
              <a:tabLst>
                <a:tab pos="457200" algn="l"/>
              </a:tabLst>
            </a:pPr>
            <a:r>
              <a:rPr lang="en-US" b="1" dirty="0">
                <a:solidFill>
                  <a:schemeClr val="bg1"/>
                </a:solidFill>
                <a:latin typeface="Segoe UI" panose="020B0502040204020203" pitchFamily="34" charset="0"/>
                <a:ea typeface="Times New Roman" panose="02020603050405020304" pitchFamily="18" charset="0"/>
                <a:cs typeface="Times New Roman" panose="02020603050405020304" pitchFamily="18" charset="0"/>
              </a:rPr>
              <a:t>Free-tier inclusion</a:t>
            </a:r>
            <a:r>
              <a:rPr lang="en-US" dirty="0">
                <a:solidFill>
                  <a:schemeClr val="bg1"/>
                </a:solidFill>
                <a:latin typeface="Segoe UI" panose="020B0502040204020203" pitchFamily="34" charset="0"/>
                <a:ea typeface="Times New Roman" panose="02020603050405020304" pitchFamily="18" charset="0"/>
                <a:cs typeface="Times New Roman" panose="02020603050405020304" pitchFamily="18" charset="0"/>
              </a:rPr>
              <a:t>: available on all plans and does </a:t>
            </a:r>
            <a:r>
              <a:rPr lang="en-US" i="1" dirty="0">
                <a:solidFill>
                  <a:schemeClr val="bg1"/>
                </a:solidFill>
                <a:latin typeface="Segoe UI" panose="020B0502040204020203" pitchFamily="34" charset="0"/>
                <a:ea typeface="Times New Roman" panose="02020603050405020304" pitchFamily="18" charset="0"/>
                <a:cs typeface="Times New Roman" panose="02020603050405020304" pitchFamily="18" charset="0"/>
              </a:rPr>
              <a:t>not</a:t>
            </a:r>
            <a:r>
              <a:rPr lang="en-US" dirty="0">
                <a:solidFill>
                  <a:schemeClr val="bg1"/>
                </a:solidFill>
                <a:latin typeface="Segoe UI" panose="020B0502040204020203" pitchFamily="34" charset="0"/>
                <a:ea typeface="Times New Roman" panose="02020603050405020304" pitchFamily="18" charset="0"/>
                <a:cs typeface="Times New Roman" panose="02020603050405020304" pitchFamily="18" charset="0"/>
              </a:rPr>
              <a:t> consume </a:t>
            </a:r>
            <a:r>
              <a:rPr lang="en-US" dirty="0" err="1">
                <a:solidFill>
                  <a:schemeClr val="bg1"/>
                </a:solidFill>
                <a:latin typeface="Segoe UI" panose="020B0502040204020203" pitchFamily="34" charset="0"/>
                <a:ea typeface="Times New Roman" panose="02020603050405020304" pitchFamily="18" charset="0"/>
                <a:cs typeface="Times New Roman" panose="02020603050405020304" pitchFamily="18" charset="0"/>
              </a:rPr>
              <a:t>Zapier</a:t>
            </a:r>
            <a:r>
              <a:rPr lang="en-US" dirty="0">
                <a:solidFill>
                  <a:schemeClr val="bg1"/>
                </a:solidFill>
                <a:latin typeface="Segoe UI" panose="020B0502040204020203" pitchFamily="34" charset="0"/>
                <a:ea typeface="Times New Roman" panose="02020603050405020304" pitchFamily="18" charset="0"/>
                <a:cs typeface="Times New Roman" panose="02020603050405020304" pitchFamily="18" charset="0"/>
              </a:rPr>
              <a:t> task usage. </a:t>
            </a:r>
            <a:r>
              <a:rPr lang="en-US" dirty="0">
                <a:solidFill>
                  <a:schemeClr val="bg1"/>
                </a:solidFill>
                <a:latin typeface="Segoe UI" panose="020B0502040204020203" pitchFamily="34" charset="0"/>
                <a:ea typeface="Times New Roman" panose="02020603050405020304" pitchFamily="18" charset="0"/>
                <a:cs typeface="Times New Roman" panose="02020603050405020304" pitchFamily="18" charset="0"/>
                <a:hlinkClick r:id="rId5"/>
              </a:rPr>
              <a:t>[zapier.com]</a:t>
            </a:r>
            <a:endParaRPr lang="en-US" sz="20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ts val="1500"/>
              </a:lnSpc>
              <a:spcBef>
                <a:spcPts val="0"/>
              </a:spcBef>
              <a:spcAft>
                <a:spcPts val="800"/>
              </a:spcAft>
              <a:buSzPts val="1000"/>
              <a:buFont typeface="Wingdings" panose="05000000000000000000" pitchFamily="2" charset="2"/>
              <a:buChar char="q"/>
              <a:tabLst>
                <a:tab pos="457200" algn="l"/>
              </a:tabLst>
            </a:pPr>
            <a:endParaRPr lang="en-US" b="1" dirty="0" smtClean="0">
              <a:solidFill>
                <a:schemeClr val="bg1"/>
              </a:solidFill>
              <a:latin typeface="Segoe UI" panose="020B0502040204020203" pitchFamily="34" charset="0"/>
              <a:ea typeface="Times New Roman" panose="02020603050405020304" pitchFamily="18" charset="0"/>
              <a:cs typeface="Times New Roman" panose="02020603050405020304" pitchFamily="18" charset="0"/>
            </a:endParaRPr>
          </a:p>
          <a:p>
            <a:pPr marL="342900" marR="0" lvl="0" indent="-342900">
              <a:lnSpc>
                <a:spcPts val="1500"/>
              </a:lnSpc>
              <a:spcBef>
                <a:spcPts val="0"/>
              </a:spcBef>
              <a:spcAft>
                <a:spcPts val="800"/>
              </a:spcAft>
              <a:buSzPts val="1000"/>
              <a:buFont typeface="Wingdings" panose="05000000000000000000" pitchFamily="2" charset="2"/>
              <a:buChar char="q"/>
              <a:tabLst>
                <a:tab pos="457200" algn="l"/>
              </a:tabLst>
            </a:pPr>
            <a:r>
              <a:rPr lang="en-US" b="1" dirty="0" smtClean="0">
                <a:solidFill>
                  <a:schemeClr val="bg1"/>
                </a:solidFill>
                <a:latin typeface="Segoe UI" panose="020B0502040204020203" pitchFamily="34" charset="0"/>
                <a:ea typeface="Times New Roman" panose="02020603050405020304" pitchFamily="18" charset="0"/>
                <a:cs typeface="Times New Roman" panose="02020603050405020304" pitchFamily="18" charset="0"/>
              </a:rPr>
              <a:t>Flexible </a:t>
            </a:r>
            <a:r>
              <a:rPr lang="en-US" b="1" dirty="0">
                <a:solidFill>
                  <a:schemeClr val="bg1"/>
                </a:solidFill>
                <a:latin typeface="Segoe UI" panose="020B0502040204020203" pitchFamily="34" charset="0"/>
                <a:ea typeface="Times New Roman" panose="02020603050405020304" pitchFamily="18" charset="0"/>
                <a:cs typeface="Times New Roman" panose="02020603050405020304" pitchFamily="18" charset="0"/>
              </a:rPr>
              <a:t>structure</a:t>
            </a:r>
            <a:r>
              <a:rPr lang="en-US" dirty="0">
                <a:solidFill>
                  <a:schemeClr val="bg1"/>
                </a:solidFill>
                <a:latin typeface="Segoe UI" panose="020B0502040204020203" pitchFamily="34" charset="0"/>
                <a:ea typeface="Times New Roman" panose="02020603050405020304" pitchFamily="18" charset="0"/>
                <a:cs typeface="Times New Roman" panose="02020603050405020304" pitchFamily="18" charset="0"/>
              </a:rPr>
              <a:t>: supports custom fields, formulas, linked records, summary &amp; operators. </a:t>
            </a:r>
            <a:r>
              <a:rPr lang="en-US" dirty="0">
                <a:solidFill>
                  <a:schemeClr val="bg1"/>
                </a:solidFill>
                <a:latin typeface="Segoe UI" panose="020B0502040204020203" pitchFamily="34" charset="0"/>
                <a:ea typeface="Times New Roman" panose="02020603050405020304" pitchFamily="18" charset="0"/>
                <a:cs typeface="Times New Roman" panose="02020603050405020304" pitchFamily="18" charset="0"/>
                <a:hlinkClick r:id="rId6"/>
              </a:rPr>
              <a:t>[help.zapier.com]</a:t>
            </a:r>
            <a:endParaRPr lang="en-US" sz="20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ts val="1500"/>
              </a:lnSpc>
              <a:spcBef>
                <a:spcPts val="0"/>
              </a:spcBef>
              <a:spcAft>
                <a:spcPts val="800"/>
              </a:spcAft>
              <a:buSzPts val="1000"/>
              <a:buFont typeface="Wingdings" panose="05000000000000000000" pitchFamily="2" charset="2"/>
              <a:buChar char="q"/>
              <a:tabLst>
                <a:tab pos="457200" algn="l"/>
              </a:tabLst>
            </a:pPr>
            <a:endParaRPr lang="en-US" b="1" dirty="0" smtClean="0">
              <a:solidFill>
                <a:schemeClr val="bg1"/>
              </a:solidFill>
              <a:latin typeface="Segoe UI" panose="020B0502040204020203" pitchFamily="34" charset="0"/>
              <a:ea typeface="Times New Roman" panose="02020603050405020304" pitchFamily="18" charset="0"/>
              <a:cs typeface="Times New Roman" panose="02020603050405020304" pitchFamily="18" charset="0"/>
            </a:endParaRPr>
          </a:p>
          <a:p>
            <a:pPr marL="342900" marR="0" lvl="0" indent="-342900">
              <a:lnSpc>
                <a:spcPts val="1500"/>
              </a:lnSpc>
              <a:spcBef>
                <a:spcPts val="0"/>
              </a:spcBef>
              <a:spcAft>
                <a:spcPts val="800"/>
              </a:spcAft>
              <a:buSzPts val="1000"/>
              <a:buFont typeface="Wingdings" panose="05000000000000000000" pitchFamily="2" charset="2"/>
              <a:buChar char="q"/>
              <a:tabLst>
                <a:tab pos="457200" algn="l"/>
              </a:tabLst>
            </a:pPr>
            <a:r>
              <a:rPr lang="en-US" b="1" dirty="0" smtClean="0">
                <a:solidFill>
                  <a:schemeClr val="bg1"/>
                </a:solidFill>
                <a:latin typeface="Segoe UI" panose="020B0502040204020203" pitchFamily="34" charset="0"/>
                <a:ea typeface="Times New Roman" panose="02020603050405020304" pitchFamily="18" charset="0"/>
                <a:cs typeface="Times New Roman" panose="02020603050405020304" pitchFamily="18" charset="0"/>
              </a:rPr>
              <a:t>Low-code </a:t>
            </a:r>
            <a:r>
              <a:rPr lang="en-US" b="1" dirty="0">
                <a:solidFill>
                  <a:schemeClr val="bg1"/>
                </a:solidFill>
                <a:latin typeface="Segoe UI" panose="020B0502040204020203" pitchFamily="34" charset="0"/>
                <a:ea typeface="Times New Roman" panose="02020603050405020304" pitchFamily="18" charset="0"/>
                <a:cs typeface="Times New Roman" panose="02020603050405020304" pitchFamily="18" charset="0"/>
              </a:rPr>
              <a:t>import &amp; triggers</a:t>
            </a:r>
            <a:r>
              <a:rPr lang="en-US" dirty="0">
                <a:solidFill>
                  <a:schemeClr val="bg1"/>
                </a:solidFill>
                <a:latin typeface="Segoe UI" panose="020B0502040204020203" pitchFamily="34" charset="0"/>
                <a:ea typeface="Times New Roman" panose="02020603050405020304" pitchFamily="18" charset="0"/>
                <a:cs typeface="Times New Roman" panose="02020603050405020304" pitchFamily="18" charset="0"/>
              </a:rPr>
              <a:t>: import via CSV/Sheets/Excel, and fire Zaps on record creation or updates. </a:t>
            </a:r>
            <a:r>
              <a:rPr lang="en-US" dirty="0">
                <a:solidFill>
                  <a:schemeClr val="bg1"/>
                </a:solidFill>
                <a:latin typeface="Segoe UI" panose="020B0502040204020203" pitchFamily="34" charset="0"/>
                <a:ea typeface="Times New Roman" panose="02020603050405020304" pitchFamily="18" charset="0"/>
                <a:cs typeface="Times New Roman" panose="02020603050405020304" pitchFamily="18" charset="0"/>
                <a:hlinkClick r:id="rId3"/>
              </a:rPr>
              <a:t>[help.zapier.com]</a:t>
            </a:r>
            <a:r>
              <a:rPr lang="en-US" dirty="0">
                <a:solidFill>
                  <a:schemeClr val="bg1"/>
                </a:solidFill>
                <a:latin typeface="Segoe UI" panose="020B0502040204020203" pitchFamily="34" charset="0"/>
                <a:ea typeface="Times New Roman" panose="02020603050405020304" pitchFamily="18" charset="0"/>
                <a:cs typeface="Times New Roman" panose="02020603050405020304" pitchFamily="18" charset="0"/>
              </a:rPr>
              <a:t>, </a:t>
            </a:r>
            <a:r>
              <a:rPr lang="en-US" dirty="0">
                <a:solidFill>
                  <a:schemeClr val="bg1"/>
                </a:solidFill>
                <a:latin typeface="Segoe UI" panose="020B0502040204020203" pitchFamily="34" charset="0"/>
                <a:ea typeface="Times New Roman" panose="02020603050405020304" pitchFamily="18" charset="0"/>
                <a:cs typeface="Times New Roman" panose="02020603050405020304" pitchFamily="18" charset="0"/>
                <a:hlinkClick r:id="rId5"/>
              </a:rPr>
              <a:t>[zapier.com]</a:t>
            </a:r>
            <a:endParaRPr lang="en-US" sz="20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ts val="1500"/>
              </a:lnSpc>
              <a:spcBef>
                <a:spcPts val="0"/>
              </a:spcBef>
              <a:spcAft>
                <a:spcPts val="800"/>
              </a:spcAft>
              <a:buSzPts val="1000"/>
              <a:buFont typeface="Wingdings" panose="05000000000000000000" pitchFamily="2" charset="2"/>
              <a:buChar char="q"/>
              <a:tabLst>
                <a:tab pos="457200" algn="l"/>
              </a:tabLst>
            </a:pPr>
            <a:endParaRPr lang="en-US" b="1" dirty="0" smtClean="0">
              <a:solidFill>
                <a:schemeClr val="bg1"/>
              </a:solidFill>
              <a:latin typeface="Segoe UI" panose="020B0502040204020203" pitchFamily="34" charset="0"/>
              <a:ea typeface="Times New Roman" panose="02020603050405020304" pitchFamily="18" charset="0"/>
              <a:cs typeface="Times New Roman" panose="02020603050405020304" pitchFamily="18" charset="0"/>
            </a:endParaRPr>
          </a:p>
          <a:p>
            <a:pPr marL="342900" marR="0" lvl="0" indent="-342900">
              <a:lnSpc>
                <a:spcPts val="1500"/>
              </a:lnSpc>
              <a:spcBef>
                <a:spcPts val="0"/>
              </a:spcBef>
              <a:spcAft>
                <a:spcPts val="800"/>
              </a:spcAft>
              <a:buSzPts val="1000"/>
              <a:buFont typeface="Wingdings" panose="05000000000000000000" pitchFamily="2" charset="2"/>
              <a:buChar char="q"/>
              <a:tabLst>
                <a:tab pos="457200" algn="l"/>
              </a:tabLst>
            </a:pPr>
            <a:r>
              <a:rPr lang="en-US" b="1" dirty="0" smtClean="0">
                <a:solidFill>
                  <a:schemeClr val="bg1"/>
                </a:solidFill>
                <a:latin typeface="Segoe UI" panose="020B0502040204020203" pitchFamily="34" charset="0"/>
                <a:ea typeface="Times New Roman" panose="02020603050405020304" pitchFamily="18" charset="0"/>
                <a:cs typeface="Times New Roman" panose="02020603050405020304" pitchFamily="18" charset="0"/>
              </a:rPr>
              <a:t>Built-in </a:t>
            </a:r>
            <a:r>
              <a:rPr lang="en-US" b="1" dirty="0">
                <a:solidFill>
                  <a:schemeClr val="bg1"/>
                </a:solidFill>
                <a:latin typeface="Segoe UI" panose="020B0502040204020203" pitchFamily="34" charset="0"/>
                <a:ea typeface="Times New Roman" panose="02020603050405020304" pitchFamily="18" charset="0"/>
                <a:cs typeface="Times New Roman" panose="02020603050405020304" pitchFamily="18" charset="0"/>
              </a:rPr>
              <a:t>actions</a:t>
            </a:r>
            <a:r>
              <a:rPr lang="en-US" dirty="0">
                <a:solidFill>
                  <a:schemeClr val="bg1"/>
                </a:solidFill>
                <a:latin typeface="Segoe UI" panose="020B0502040204020203" pitchFamily="34" charset="0"/>
                <a:ea typeface="Times New Roman" panose="02020603050405020304" pitchFamily="18" charset="0"/>
                <a:cs typeface="Times New Roman" panose="02020603050405020304" pitchFamily="18" charset="0"/>
              </a:rPr>
              <a:t>: edit, freeze, sort, filter, share, and set granular permissions. </a:t>
            </a:r>
            <a:r>
              <a:rPr lang="en-US" dirty="0">
                <a:solidFill>
                  <a:schemeClr val="bg1"/>
                </a:solidFill>
                <a:latin typeface="Segoe UI" panose="020B0502040204020203" pitchFamily="34" charset="0"/>
                <a:ea typeface="Times New Roman" panose="02020603050405020304" pitchFamily="18" charset="0"/>
                <a:cs typeface="Times New Roman" panose="02020603050405020304" pitchFamily="18" charset="0"/>
                <a:hlinkClick r:id="rId6"/>
              </a:rPr>
              <a:t>[help.zapier.com]</a:t>
            </a:r>
            <a:r>
              <a:rPr lang="en-US" dirty="0">
                <a:solidFill>
                  <a:schemeClr val="bg1"/>
                </a:solidFill>
                <a:latin typeface="Segoe UI" panose="020B0502040204020203" pitchFamily="34" charset="0"/>
                <a:ea typeface="Times New Roman" panose="02020603050405020304" pitchFamily="18" charset="0"/>
                <a:cs typeface="Times New Roman" panose="02020603050405020304" pitchFamily="18" charset="0"/>
              </a:rPr>
              <a:t>, </a:t>
            </a:r>
            <a:r>
              <a:rPr lang="en-US" dirty="0">
                <a:solidFill>
                  <a:schemeClr val="bg1"/>
                </a:solidFill>
                <a:latin typeface="Segoe UI" panose="020B0502040204020203" pitchFamily="34" charset="0"/>
                <a:ea typeface="Times New Roman" panose="02020603050405020304" pitchFamily="18" charset="0"/>
                <a:cs typeface="Times New Roman" panose="02020603050405020304" pitchFamily="18" charset="0"/>
                <a:hlinkClick r:id="rId5"/>
              </a:rPr>
              <a:t>[zapier.com]</a:t>
            </a:r>
            <a:endParaRPr lang="en-US" sz="20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ts val="1500"/>
              </a:lnSpc>
              <a:spcBef>
                <a:spcPts val="0"/>
              </a:spcBef>
              <a:spcAft>
                <a:spcPts val="800"/>
              </a:spcAft>
              <a:buSzPts val="1000"/>
              <a:buFont typeface="Wingdings" panose="05000000000000000000" pitchFamily="2" charset="2"/>
              <a:buChar char="q"/>
              <a:tabLst>
                <a:tab pos="457200" algn="l"/>
              </a:tabLst>
            </a:pPr>
            <a:endParaRPr lang="en-US" b="1" dirty="0" smtClean="0">
              <a:solidFill>
                <a:schemeClr val="bg1"/>
              </a:solidFill>
              <a:latin typeface="Segoe UI" panose="020B0502040204020203" pitchFamily="34" charset="0"/>
              <a:ea typeface="Times New Roman" panose="02020603050405020304" pitchFamily="18" charset="0"/>
              <a:cs typeface="Times New Roman" panose="02020603050405020304" pitchFamily="18" charset="0"/>
            </a:endParaRPr>
          </a:p>
          <a:p>
            <a:pPr marL="342900" marR="0" lvl="0" indent="-342900">
              <a:lnSpc>
                <a:spcPts val="1500"/>
              </a:lnSpc>
              <a:spcBef>
                <a:spcPts val="0"/>
              </a:spcBef>
              <a:spcAft>
                <a:spcPts val="800"/>
              </a:spcAft>
              <a:buSzPts val="1000"/>
              <a:buFont typeface="Wingdings" panose="05000000000000000000" pitchFamily="2" charset="2"/>
              <a:buChar char="q"/>
              <a:tabLst>
                <a:tab pos="457200" algn="l"/>
              </a:tabLst>
            </a:pPr>
            <a:r>
              <a:rPr lang="en-US" b="1" dirty="0" smtClean="0">
                <a:solidFill>
                  <a:schemeClr val="bg1"/>
                </a:solidFill>
                <a:latin typeface="Segoe UI" panose="020B0502040204020203" pitchFamily="34" charset="0"/>
                <a:ea typeface="Times New Roman" panose="02020603050405020304" pitchFamily="18" charset="0"/>
                <a:cs typeface="Times New Roman" panose="02020603050405020304" pitchFamily="18" charset="0"/>
              </a:rPr>
              <a:t>Copilot </a:t>
            </a:r>
            <a:r>
              <a:rPr lang="en-US" b="1" dirty="0">
                <a:solidFill>
                  <a:schemeClr val="bg1"/>
                </a:solidFill>
                <a:latin typeface="Segoe UI" panose="020B0502040204020203" pitchFamily="34" charset="0"/>
                <a:ea typeface="Times New Roman" panose="02020603050405020304" pitchFamily="18" charset="0"/>
                <a:cs typeface="Times New Roman" panose="02020603050405020304" pitchFamily="18" charset="0"/>
              </a:rPr>
              <a:t>integration</a:t>
            </a:r>
            <a:r>
              <a:rPr lang="en-US" dirty="0">
                <a:solidFill>
                  <a:schemeClr val="bg1"/>
                </a:solidFill>
                <a:latin typeface="Segoe UI" panose="020B0502040204020203" pitchFamily="34" charset="0"/>
                <a:ea typeface="Times New Roman" panose="02020603050405020304" pitchFamily="18" charset="0"/>
                <a:cs typeface="Times New Roman" panose="02020603050405020304" pitchFamily="18" charset="0"/>
              </a:rPr>
              <a:t>: AI-powered chat support to modify table content inline. </a:t>
            </a:r>
            <a:r>
              <a:rPr lang="en-US" dirty="0">
                <a:solidFill>
                  <a:schemeClr val="bg1"/>
                </a:solidFill>
                <a:latin typeface="Segoe UI" panose="020B0502040204020203" pitchFamily="34" charset="0"/>
                <a:ea typeface="Times New Roman" panose="02020603050405020304" pitchFamily="18" charset="0"/>
                <a:cs typeface="Times New Roman" panose="02020603050405020304" pitchFamily="18" charset="0"/>
                <a:hlinkClick r:id="rId7"/>
              </a:rPr>
              <a:t>[help.zapier.com]</a:t>
            </a:r>
            <a:r>
              <a:rPr lang="en-US" dirty="0">
                <a:solidFill>
                  <a:schemeClr val="bg1"/>
                </a:solidFill>
                <a:latin typeface="Segoe UI" panose="020B0502040204020203" pitchFamily="34" charset="0"/>
                <a:ea typeface="Times New Roman" panose="02020603050405020304" pitchFamily="18" charset="0"/>
                <a:cs typeface="Times New Roman" panose="02020603050405020304" pitchFamily="18" charset="0"/>
              </a:rPr>
              <a:t>, </a:t>
            </a:r>
            <a:r>
              <a:rPr lang="en-US" dirty="0">
                <a:solidFill>
                  <a:schemeClr val="bg1"/>
                </a:solidFill>
                <a:latin typeface="Segoe UI" panose="020B0502040204020203" pitchFamily="34" charset="0"/>
                <a:ea typeface="Times New Roman" panose="02020603050405020304" pitchFamily="18" charset="0"/>
                <a:cs typeface="Times New Roman" panose="02020603050405020304" pitchFamily="18" charset="0"/>
                <a:hlinkClick r:id="rId8"/>
              </a:rPr>
              <a:t>[help.zapier.com]</a:t>
            </a:r>
            <a:endParaRPr lang="en-US" sz="20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223049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7" name="직사각형 26">
            <a:extLst>
              <a:ext uri="{FF2B5EF4-FFF2-40B4-BE49-F238E27FC236}">
                <a16:creationId xmlns:a16="http://schemas.microsoft.com/office/drawing/2014/main" xmlns="" id="{8D122637-2F9F-4D6D-B650-CED44ECF1A91}"/>
              </a:ext>
            </a:extLst>
          </p:cNvPr>
          <p:cNvSpPr/>
          <p:nvPr/>
        </p:nvSpPr>
        <p:spPr>
          <a:xfrm>
            <a:off x="0" y="0"/>
            <a:ext cx="461500" cy="50078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9" name="직선 연결선 28">
            <a:extLst>
              <a:ext uri="{FF2B5EF4-FFF2-40B4-BE49-F238E27FC236}">
                <a16:creationId xmlns:a16="http://schemas.microsoft.com/office/drawing/2014/main" xmlns="" id="{2AA171E4-1F6F-41A4-B104-0EFC14B58D33}"/>
              </a:ext>
            </a:extLst>
          </p:cNvPr>
          <p:cNvCxnSpPr>
            <a:cxnSpLocks/>
            <a:stCxn id="27" idx="0"/>
          </p:cNvCxnSpPr>
          <p:nvPr/>
        </p:nvCxnSpPr>
        <p:spPr>
          <a:xfrm flipH="1">
            <a:off x="212613" y="0"/>
            <a:ext cx="18137" cy="922020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xmlns="" id="{B5061A88-7C4D-45A8-89EA-77CDE39728FC}"/>
              </a:ext>
            </a:extLst>
          </p:cNvPr>
          <p:cNvCxnSpPr>
            <a:cxnSpLocks/>
          </p:cNvCxnSpPr>
          <p:nvPr/>
        </p:nvCxnSpPr>
        <p:spPr>
          <a:xfrm>
            <a:off x="0" y="563933"/>
            <a:ext cx="685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2"/>
          <a:stretch>
            <a:fillRect/>
          </a:stretch>
        </p:blipFill>
        <p:spPr>
          <a:xfrm>
            <a:off x="0" y="7358743"/>
            <a:ext cx="6858000" cy="1785257"/>
          </a:xfrm>
          <a:prstGeom prst="rect">
            <a:avLst/>
          </a:prstGeom>
        </p:spPr>
      </p:pic>
      <p:sp>
        <p:nvSpPr>
          <p:cNvPr id="2" name="Rectangle 1"/>
          <p:cNvSpPr/>
          <p:nvPr/>
        </p:nvSpPr>
        <p:spPr>
          <a:xfrm>
            <a:off x="461500" y="107516"/>
            <a:ext cx="3244799" cy="461665"/>
          </a:xfrm>
          <a:prstGeom prst="rect">
            <a:avLst/>
          </a:prstGeom>
        </p:spPr>
        <p:txBody>
          <a:bodyPr wrap="none">
            <a:spAutoFit/>
          </a:bodyPr>
          <a:lstStyle/>
          <a:p>
            <a:r>
              <a:rPr lang="en-US" sz="2400" b="1" dirty="0">
                <a:solidFill>
                  <a:schemeClr val="bg1"/>
                </a:solidFill>
                <a:latin typeface="Inter"/>
              </a:rPr>
              <a:t>🖥️ </a:t>
            </a:r>
            <a:r>
              <a:rPr lang="en-US" sz="2400" b="1" dirty="0" err="1">
                <a:solidFill>
                  <a:schemeClr val="bg1"/>
                </a:solidFill>
                <a:latin typeface="Inter"/>
              </a:rPr>
              <a:t>Zapier</a:t>
            </a:r>
            <a:r>
              <a:rPr lang="en-US" sz="2400" b="1" dirty="0">
                <a:solidFill>
                  <a:schemeClr val="bg1"/>
                </a:solidFill>
                <a:latin typeface="Inter"/>
              </a:rPr>
              <a:t> Interfaces</a:t>
            </a:r>
          </a:p>
        </p:txBody>
      </p:sp>
      <p:sp>
        <p:nvSpPr>
          <p:cNvPr id="30" name="Rectangle 29"/>
          <p:cNvSpPr/>
          <p:nvPr/>
        </p:nvSpPr>
        <p:spPr>
          <a:xfrm>
            <a:off x="367195" y="808637"/>
            <a:ext cx="6703418" cy="6463308"/>
          </a:xfrm>
          <a:prstGeom prst="rect">
            <a:avLst/>
          </a:prstGeom>
        </p:spPr>
        <p:txBody>
          <a:bodyPr wrap="square">
            <a:spAutoFit/>
          </a:bodyPr>
          <a:lstStyle/>
          <a:p>
            <a:pPr marL="285750" lvl="0" indent="-285750">
              <a:buFont typeface="Wingdings" panose="05000000000000000000" pitchFamily="2" charset="2"/>
              <a:buChar char="q"/>
            </a:pPr>
            <a:r>
              <a:rPr lang="en-US" b="1" dirty="0">
                <a:solidFill>
                  <a:schemeClr val="bg1"/>
                </a:solidFill>
              </a:rPr>
              <a:t>No-code app builder</a:t>
            </a:r>
            <a:r>
              <a:rPr lang="en-US" dirty="0">
                <a:solidFill>
                  <a:schemeClr val="bg1"/>
                </a:solidFill>
              </a:rPr>
              <a:t>: drag-and-drop form, portal, and dashboard creator—integrated with </a:t>
            </a:r>
            <a:r>
              <a:rPr lang="en-US" dirty="0" err="1">
                <a:solidFill>
                  <a:schemeClr val="bg1"/>
                </a:solidFill>
              </a:rPr>
              <a:t>Zapier</a:t>
            </a:r>
            <a:r>
              <a:rPr lang="en-US" dirty="0">
                <a:solidFill>
                  <a:schemeClr val="bg1"/>
                </a:solidFill>
              </a:rPr>
              <a:t> workflows. </a:t>
            </a:r>
            <a:r>
              <a:rPr lang="en-US" dirty="0">
                <a:solidFill>
                  <a:schemeClr val="bg1"/>
                </a:solidFill>
                <a:hlinkClick r:id="rId3"/>
              </a:rPr>
              <a:t>[zapier.com]</a:t>
            </a:r>
            <a:r>
              <a:rPr lang="en-US" dirty="0">
                <a:solidFill>
                  <a:schemeClr val="bg1"/>
                </a:solidFill>
              </a:rPr>
              <a:t>, </a:t>
            </a:r>
            <a:r>
              <a:rPr lang="en-US" dirty="0">
                <a:solidFill>
                  <a:schemeClr val="bg1"/>
                </a:solidFill>
                <a:hlinkClick r:id="rId4"/>
              </a:rPr>
              <a:t>[zapier.com</a:t>
            </a:r>
            <a:r>
              <a:rPr lang="en-US" dirty="0" smtClean="0">
                <a:solidFill>
                  <a:schemeClr val="bg1"/>
                </a:solidFill>
                <a:hlinkClick r:id="rId4"/>
              </a:rPr>
              <a:t>]</a:t>
            </a:r>
            <a:endParaRPr lang="en-US" dirty="0" smtClean="0">
              <a:solidFill>
                <a:schemeClr val="bg1"/>
              </a:solidFill>
            </a:endParaRPr>
          </a:p>
          <a:p>
            <a:pPr marL="285750" lvl="0" indent="-285750">
              <a:buFont typeface="Wingdings" panose="05000000000000000000" pitchFamily="2" charset="2"/>
              <a:buChar char="q"/>
            </a:pPr>
            <a:endParaRPr lang="en-US" dirty="0">
              <a:solidFill>
                <a:schemeClr val="bg1"/>
              </a:solidFill>
            </a:endParaRPr>
          </a:p>
          <a:p>
            <a:pPr marL="285750" lvl="0" indent="-285750">
              <a:buFont typeface="Wingdings" panose="05000000000000000000" pitchFamily="2" charset="2"/>
              <a:buChar char="q"/>
            </a:pPr>
            <a:r>
              <a:rPr lang="en-US" b="1" dirty="0">
                <a:solidFill>
                  <a:schemeClr val="bg1"/>
                </a:solidFill>
              </a:rPr>
              <a:t>Templates for common needs</a:t>
            </a:r>
            <a:r>
              <a:rPr lang="en-US" dirty="0">
                <a:solidFill>
                  <a:schemeClr val="bg1"/>
                </a:solidFill>
              </a:rPr>
              <a:t>: lead capture, onboarding, client portals, billing tools. </a:t>
            </a:r>
            <a:r>
              <a:rPr lang="en-US" dirty="0">
                <a:solidFill>
                  <a:schemeClr val="bg1"/>
                </a:solidFill>
                <a:hlinkClick r:id="rId3"/>
              </a:rPr>
              <a:t>[zapier.com]</a:t>
            </a:r>
            <a:r>
              <a:rPr lang="en-US" dirty="0">
                <a:solidFill>
                  <a:schemeClr val="bg1"/>
                </a:solidFill>
              </a:rPr>
              <a:t>, </a:t>
            </a:r>
            <a:r>
              <a:rPr lang="en-US" dirty="0">
                <a:solidFill>
                  <a:schemeClr val="bg1"/>
                </a:solidFill>
                <a:hlinkClick r:id="rId5"/>
              </a:rPr>
              <a:t>[help.zapier.com</a:t>
            </a:r>
            <a:r>
              <a:rPr lang="en-US" dirty="0" smtClean="0">
                <a:solidFill>
                  <a:schemeClr val="bg1"/>
                </a:solidFill>
                <a:hlinkClick r:id="rId5"/>
              </a:rPr>
              <a:t>]</a:t>
            </a:r>
            <a:endParaRPr lang="en-US" dirty="0" smtClean="0">
              <a:solidFill>
                <a:schemeClr val="bg1"/>
              </a:solidFill>
            </a:endParaRPr>
          </a:p>
          <a:p>
            <a:pPr marL="285750" lvl="0" indent="-285750">
              <a:buFont typeface="Wingdings" panose="05000000000000000000" pitchFamily="2" charset="2"/>
              <a:buChar char="q"/>
            </a:pPr>
            <a:endParaRPr lang="en-US" dirty="0">
              <a:solidFill>
                <a:schemeClr val="bg1"/>
              </a:solidFill>
            </a:endParaRPr>
          </a:p>
          <a:p>
            <a:pPr marL="285750" lvl="0" indent="-285750">
              <a:buFont typeface="Wingdings" panose="05000000000000000000" pitchFamily="2" charset="2"/>
              <a:buChar char="q"/>
            </a:pPr>
            <a:r>
              <a:rPr lang="en-US" b="1" dirty="0">
                <a:solidFill>
                  <a:schemeClr val="bg1"/>
                </a:solidFill>
              </a:rPr>
              <a:t>Multicomponent pages</a:t>
            </a:r>
            <a:r>
              <a:rPr lang="en-US" dirty="0">
                <a:solidFill>
                  <a:schemeClr val="bg1"/>
                </a:solidFill>
              </a:rPr>
              <a:t>: build multi-page apps with forms, </a:t>
            </a:r>
            <a:r>
              <a:rPr lang="en-US" dirty="0" smtClean="0">
                <a:solidFill>
                  <a:schemeClr val="bg1"/>
                </a:solidFill>
              </a:rPr>
              <a:t>                           media </a:t>
            </a:r>
            <a:r>
              <a:rPr lang="en-US" dirty="0">
                <a:solidFill>
                  <a:schemeClr val="bg1"/>
                </a:solidFill>
              </a:rPr>
              <a:t>embeds, </a:t>
            </a:r>
            <a:r>
              <a:rPr lang="en-US" dirty="0" err="1">
                <a:solidFill>
                  <a:schemeClr val="bg1"/>
                </a:solidFill>
              </a:rPr>
              <a:t>Kanban</a:t>
            </a:r>
            <a:r>
              <a:rPr lang="en-US" dirty="0">
                <a:solidFill>
                  <a:schemeClr val="bg1"/>
                </a:solidFill>
              </a:rPr>
              <a:t> boards, file uploads. </a:t>
            </a:r>
            <a:r>
              <a:rPr lang="en-US" dirty="0">
                <a:solidFill>
                  <a:schemeClr val="bg1"/>
                </a:solidFill>
                <a:hlinkClick r:id="rId6"/>
              </a:rPr>
              <a:t>[help.zapier.com]</a:t>
            </a:r>
            <a:r>
              <a:rPr lang="en-US" dirty="0">
                <a:solidFill>
                  <a:schemeClr val="bg1"/>
                </a:solidFill>
              </a:rPr>
              <a:t>, </a:t>
            </a:r>
            <a:r>
              <a:rPr lang="en-US" dirty="0">
                <a:solidFill>
                  <a:schemeClr val="bg1"/>
                </a:solidFill>
                <a:hlinkClick r:id="rId7"/>
              </a:rPr>
              <a:t>[help.zapier.com</a:t>
            </a:r>
            <a:r>
              <a:rPr lang="en-US" dirty="0" smtClean="0">
                <a:solidFill>
                  <a:schemeClr val="bg1"/>
                </a:solidFill>
                <a:hlinkClick r:id="rId7"/>
              </a:rPr>
              <a:t>]</a:t>
            </a:r>
            <a:endParaRPr lang="en-US" dirty="0" smtClean="0">
              <a:solidFill>
                <a:schemeClr val="bg1"/>
              </a:solidFill>
            </a:endParaRPr>
          </a:p>
          <a:p>
            <a:pPr marL="285750" lvl="0" indent="-285750">
              <a:buFont typeface="Wingdings" panose="05000000000000000000" pitchFamily="2" charset="2"/>
              <a:buChar char="q"/>
            </a:pPr>
            <a:endParaRPr lang="en-US" dirty="0">
              <a:solidFill>
                <a:schemeClr val="bg1"/>
              </a:solidFill>
            </a:endParaRPr>
          </a:p>
          <a:p>
            <a:pPr marL="285750" lvl="0" indent="-285750">
              <a:buFont typeface="Wingdings" panose="05000000000000000000" pitchFamily="2" charset="2"/>
              <a:buChar char="q"/>
            </a:pPr>
            <a:r>
              <a:rPr lang="en-US" b="1" dirty="0">
                <a:solidFill>
                  <a:schemeClr val="bg1"/>
                </a:solidFill>
              </a:rPr>
              <a:t>Permissions &amp; hosting</a:t>
            </a:r>
            <a:r>
              <a:rPr lang="en-US" dirty="0">
                <a:solidFill>
                  <a:schemeClr val="bg1"/>
                </a:solidFill>
              </a:rPr>
              <a:t>: control access via magic links, passwords, or domain/web embed (advanced plan). </a:t>
            </a:r>
            <a:r>
              <a:rPr lang="en-US" dirty="0">
                <a:solidFill>
                  <a:schemeClr val="bg1"/>
                </a:solidFill>
                <a:hlinkClick r:id="rId5"/>
              </a:rPr>
              <a:t>[help.zapier.com]</a:t>
            </a:r>
            <a:r>
              <a:rPr lang="en-US" dirty="0">
                <a:solidFill>
                  <a:schemeClr val="bg1"/>
                </a:solidFill>
              </a:rPr>
              <a:t>, </a:t>
            </a:r>
            <a:r>
              <a:rPr lang="en-US" dirty="0">
                <a:solidFill>
                  <a:schemeClr val="bg1"/>
                </a:solidFill>
                <a:hlinkClick r:id="rId6"/>
              </a:rPr>
              <a:t>[help.zapier.com</a:t>
            </a:r>
            <a:r>
              <a:rPr lang="en-US" dirty="0" smtClean="0">
                <a:solidFill>
                  <a:schemeClr val="bg1"/>
                </a:solidFill>
                <a:hlinkClick r:id="rId6"/>
              </a:rPr>
              <a:t>]</a:t>
            </a:r>
            <a:endParaRPr lang="en-US" dirty="0" smtClean="0">
              <a:solidFill>
                <a:schemeClr val="bg1"/>
              </a:solidFill>
            </a:endParaRPr>
          </a:p>
          <a:p>
            <a:pPr marL="285750" lvl="0" indent="-285750">
              <a:buFont typeface="Wingdings" panose="05000000000000000000" pitchFamily="2" charset="2"/>
              <a:buChar char="q"/>
            </a:pPr>
            <a:endParaRPr lang="en-US" dirty="0">
              <a:solidFill>
                <a:schemeClr val="bg1"/>
              </a:solidFill>
            </a:endParaRPr>
          </a:p>
          <a:p>
            <a:pPr marL="285750" lvl="0" indent="-285750">
              <a:buFont typeface="Wingdings" panose="05000000000000000000" pitchFamily="2" charset="2"/>
              <a:buChar char="q"/>
            </a:pPr>
            <a:r>
              <a:rPr lang="en-US" b="1" dirty="0">
                <a:solidFill>
                  <a:schemeClr val="bg1"/>
                </a:solidFill>
              </a:rPr>
              <a:t>Brand customization</a:t>
            </a:r>
            <a:r>
              <a:rPr lang="en-US" dirty="0">
                <a:solidFill>
                  <a:schemeClr val="bg1"/>
                </a:solidFill>
              </a:rPr>
              <a:t>: client-branded layouts with logos, colors, subdomains. </a:t>
            </a:r>
            <a:r>
              <a:rPr lang="en-US" dirty="0">
                <a:solidFill>
                  <a:schemeClr val="bg1"/>
                </a:solidFill>
                <a:hlinkClick r:id="rId5"/>
              </a:rPr>
              <a:t>[help.zapier.com]</a:t>
            </a:r>
            <a:r>
              <a:rPr lang="en-US" dirty="0">
                <a:solidFill>
                  <a:schemeClr val="bg1"/>
                </a:solidFill>
              </a:rPr>
              <a:t>, </a:t>
            </a:r>
            <a:r>
              <a:rPr lang="en-US" dirty="0">
                <a:solidFill>
                  <a:schemeClr val="bg1"/>
                </a:solidFill>
                <a:hlinkClick r:id="rId7"/>
              </a:rPr>
              <a:t>[help.zapier.com</a:t>
            </a:r>
            <a:r>
              <a:rPr lang="en-US" dirty="0" smtClean="0">
                <a:solidFill>
                  <a:schemeClr val="bg1"/>
                </a:solidFill>
                <a:hlinkClick r:id="rId7"/>
              </a:rPr>
              <a:t>]</a:t>
            </a:r>
            <a:endParaRPr lang="en-US" dirty="0" smtClean="0">
              <a:solidFill>
                <a:schemeClr val="bg1"/>
              </a:solidFill>
            </a:endParaRPr>
          </a:p>
          <a:p>
            <a:pPr marL="285750" lvl="0" indent="-285750">
              <a:buFont typeface="Wingdings" panose="05000000000000000000" pitchFamily="2" charset="2"/>
              <a:buChar char="q"/>
            </a:pPr>
            <a:endParaRPr lang="en-US" dirty="0">
              <a:solidFill>
                <a:schemeClr val="bg1"/>
              </a:solidFill>
            </a:endParaRPr>
          </a:p>
          <a:p>
            <a:pPr marL="285750" lvl="0" indent="-285750">
              <a:buFont typeface="Wingdings" panose="05000000000000000000" pitchFamily="2" charset="2"/>
              <a:buChar char="q"/>
            </a:pPr>
            <a:r>
              <a:rPr lang="en-US" b="1" dirty="0">
                <a:solidFill>
                  <a:schemeClr val="bg1"/>
                </a:solidFill>
              </a:rPr>
              <a:t>Zap integration</a:t>
            </a:r>
            <a:r>
              <a:rPr lang="en-US" dirty="0">
                <a:solidFill>
                  <a:schemeClr val="bg1"/>
                </a:solidFill>
              </a:rPr>
              <a:t>: trigger/use Zaps or Tables—plus built-in AI </a:t>
            </a:r>
            <a:r>
              <a:rPr lang="en-US" dirty="0" smtClean="0">
                <a:solidFill>
                  <a:schemeClr val="bg1"/>
                </a:solidFill>
              </a:rPr>
              <a:t>                     Copilot </a:t>
            </a:r>
            <a:r>
              <a:rPr lang="en-US" dirty="0">
                <a:solidFill>
                  <a:schemeClr val="bg1"/>
                </a:solidFill>
              </a:rPr>
              <a:t>edits. </a:t>
            </a:r>
            <a:r>
              <a:rPr lang="en-US" dirty="0">
                <a:solidFill>
                  <a:schemeClr val="bg1"/>
                </a:solidFill>
                <a:hlinkClick r:id="rId5"/>
              </a:rPr>
              <a:t>[help.zapier.com]</a:t>
            </a:r>
            <a:r>
              <a:rPr lang="en-US" dirty="0">
                <a:solidFill>
                  <a:schemeClr val="bg1"/>
                </a:solidFill>
              </a:rPr>
              <a:t>, </a:t>
            </a:r>
            <a:r>
              <a:rPr lang="en-US" dirty="0">
                <a:solidFill>
                  <a:schemeClr val="bg1"/>
                </a:solidFill>
                <a:hlinkClick r:id="rId6"/>
              </a:rPr>
              <a:t>[help.zapier.com</a:t>
            </a:r>
            <a:r>
              <a:rPr lang="en-US" dirty="0" smtClean="0">
                <a:solidFill>
                  <a:schemeClr val="bg1"/>
                </a:solidFill>
                <a:hlinkClick r:id="rId6"/>
              </a:rPr>
              <a:t>]</a:t>
            </a:r>
            <a:endParaRPr lang="en-US" dirty="0" smtClean="0">
              <a:solidFill>
                <a:schemeClr val="bg1"/>
              </a:solidFill>
            </a:endParaRPr>
          </a:p>
          <a:p>
            <a:pPr marL="285750" lvl="0" indent="-285750">
              <a:buFont typeface="Wingdings" panose="05000000000000000000" pitchFamily="2" charset="2"/>
              <a:buChar char="q"/>
            </a:pPr>
            <a:endParaRPr lang="en-US" dirty="0">
              <a:solidFill>
                <a:schemeClr val="bg1"/>
              </a:solidFill>
            </a:endParaRPr>
          </a:p>
          <a:p>
            <a:pPr marL="285750" lvl="0" indent="-285750">
              <a:buFont typeface="Wingdings" panose="05000000000000000000" pitchFamily="2" charset="2"/>
              <a:buChar char="q"/>
            </a:pPr>
            <a:r>
              <a:rPr lang="en-US" b="1" dirty="0">
                <a:solidFill>
                  <a:schemeClr val="bg1"/>
                </a:solidFill>
              </a:rPr>
              <a:t>Upgradeable components</a:t>
            </a:r>
            <a:r>
              <a:rPr lang="en-US" dirty="0">
                <a:solidFill>
                  <a:schemeClr val="bg1"/>
                </a:solidFill>
              </a:rPr>
              <a:t>: some advanced features (e.g., custom domains) require paid Interfaces plan. </a:t>
            </a:r>
            <a:r>
              <a:rPr lang="en-US" dirty="0">
                <a:solidFill>
                  <a:schemeClr val="bg1"/>
                </a:solidFill>
                <a:hlinkClick r:id="rId5"/>
              </a:rPr>
              <a:t>[help.zapier.com]</a:t>
            </a:r>
            <a:endParaRPr lang="en-US" dirty="0">
              <a:solidFill>
                <a:schemeClr val="bg1"/>
              </a:solidFill>
            </a:endParaRPr>
          </a:p>
        </p:txBody>
      </p:sp>
    </p:spTree>
    <p:extLst>
      <p:ext uri="{BB962C8B-B14F-4D97-AF65-F5344CB8AC3E}">
        <p14:creationId xmlns:p14="http://schemas.microsoft.com/office/powerpoint/2010/main" val="12212214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7" name="직사각형 26">
            <a:extLst>
              <a:ext uri="{FF2B5EF4-FFF2-40B4-BE49-F238E27FC236}">
                <a16:creationId xmlns:a16="http://schemas.microsoft.com/office/drawing/2014/main" xmlns="" id="{8D122637-2F9F-4D6D-B650-CED44ECF1A91}"/>
              </a:ext>
            </a:extLst>
          </p:cNvPr>
          <p:cNvSpPr/>
          <p:nvPr/>
        </p:nvSpPr>
        <p:spPr>
          <a:xfrm>
            <a:off x="0" y="0"/>
            <a:ext cx="461500" cy="50078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9" name="직선 연결선 28">
            <a:extLst>
              <a:ext uri="{FF2B5EF4-FFF2-40B4-BE49-F238E27FC236}">
                <a16:creationId xmlns:a16="http://schemas.microsoft.com/office/drawing/2014/main" xmlns="" id="{2AA171E4-1F6F-41A4-B104-0EFC14B58D33}"/>
              </a:ext>
            </a:extLst>
          </p:cNvPr>
          <p:cNvCxnSpPr>
            <a:cxnSpLocks/>
            <a:stCxn id="27" idx="0"/>
          </p:cNvCxnSpPr>
          <p:nvPr/>
        </p:nvCxnSpPr>
        <p:spPr>
          <a:xfrm flipH="1">
            <a:off x="212613" y="0"/>
            <a:ext cx="18137" cy="922020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xmlns="" id="{B5061A88-7C4D-45A8-89EA-77CDE39728FC}"/>
              </a:ext>
            </a:extLst>
          </p:cNvPr>
          <p:cNvCxnSpPr>
            <a:cxnSpLocks/>
          </p:cNvCxnSpPr>
          <p:nvPr/>
        </p:nvCxnSpPr>
        <p:spPr>
          <a:xfrm>
            <a:off x="0" y="563933"/>
            <a:ext cx="685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2"/>
          <a:stretch>
            <a:fillRect/>
          </a:stretch>
        </p:blipFill>
        <p:spPr>
          <a:xfrm>
            <a:off x="0" y="7358743"/>
            <a:ext cx="6858000" cy="1785257"/>
          </a:xfrm>
          <a:prstGeom prst="rect">
            <a:avLst/>
          </a:prstGeom>
        </p:spPr>
      </p:pic>
      <p:sp>
        <p:nvSpPr>
          <p:cNvPr id="2" name="Rectangle 1"/>
          <p:cNvSpPr/>
          <p:nvPr/>
        </p:nvSpPr>
        <p:spPr>
          <a:xfrm>
            <a:off x="461500" y="107516"/>
            <a:ext cx="3016018" cy="461665"/>
          </a:xfrm>
          <a:prstGeom prst="rect">
            <a:avLst/>
          </a:prstGeom>
        </p:spPr>
        <p:txBody>
          <a:bodyPr wrap="none">
            <a:spAutoFit/>
          </a:bodyPr>
          <a:lstStyle/>
          <a:p>
            <a:r>
              <a:rPr lang="en-US" sz="2400" b="1" dirty="0">
                <a:solidFill>
                  <a:schemeClr val="bg1"/>
                </a:solidFill>
              </a:rPr>
              <a:t>🤖 </a:t>
            </a:r>
            <a:r>
              <a:rPr lang="en-US" sz="2400" b="1" dirty="0" err="1">
                <a:solidFill>
                  <a:schemeClr val="bg1"/>
                </a:solidFill>
              </a:rPr>
              <a:t>Zapier</a:t>
            </a:r>
            <a:r>
              <a:rPr lang="en-US" sz="2400" b="1" dirty="0">
                <a:solidFill>
                  <a:schemeClr val="bg1"/>
                </a:solidFill>
              </a:rPr>
              <a:t> AI </a:t>
            </a:r>
            <a:r>
              <a:rPr lang="en-US" sz="2400" b="1" dirty="0" err="1">
                <a:solidFill>
                  <a:schemeClr val="bg1"/>
                </a:solidFill>
              </a:rPr>
              <a:t>Chatbots</a:t>
            </a:r>
            <a:endParaRPr lang="en-US" sz="2400" dirty="0">
              <a:solidFill>
                <a:schemeClr val="bg1"/>
              </a:solidFill>
            </a:endParaRPr>
          </a:p>
        </p:txBody>
      </p:sp>
      <p:sp>
        <p:nvSpPr>
          <p:cNvPr id="3" name="Rectangle 2"/>
          <p:cNvSpPr/>
          <p:nvPr/>
        </p:nvSpPr>
        <p:spPr>
          <a:xfrm>
            <a:off x="443363" y="651019"/>
            <a:ext cx="6284007" cy="6740307"/>
          </a:xfrm>
          <a:prstGeom prst="rect">
            <a:avLst/>
          </a:prstGeom>
        </p:spPr>
        <p:txBody>
          <a:bodyPr wrap="square">
            <a:spAutoFit/>
          </a:bodyPr>
          <a:lstStyle/>
          <a:p>
            <a:pPr marL="285750" lvl="0" indent="-285750">
              <a:buFont typeface="Wingdings" panose="05000000000000000000" pitchFamily="2" charset="2"/>
              <a:buChar char="q"/>
            </a:pPr>
            <a:r>
              <a:rPr lang="en-US" b="1" dirty="0">
                <a:solidFill>
                  <a:schemeClr val="bg1"/>
                </a:solidFill>
              </a:rPr>
              <a:t>Embedded AI assistants</a:t>
            </a:r>
            <a:r>
              <a:rPr lang="en-US" dirty="0">
                <a:solidFill>
                  <a:schemeClr val="bg1"/>
                </a:solidFill>
              </a:rPr>
              <a:t>: build custom </a:t>
            </a:r>
            <a:r>
              <a:rPr lang="en-US" dirty="0" err="1">
                <a:solidFill>
                  <a:schemeClr val="bg1"/>
                </a:solidFill>
              </a:rPr>
              <a:t>chatbots</a:t>
            </a:r>
            <a:r>
              <a:rPr lang="en-US" dirty="0">
                <a:solidFill>
                  <a:schemeClr val="bg1"/>
                </a:solidFill>
              </a:rPr>
              <a:t> using GPT that integrate with your site and workflow. </a:t>
            </a:r>
            <a:r>
              <a:rPr lang="en-US" dirty="0">
                <a:solidFill>
                  <a:schemeClr val="bg1"/>
                </a:solidFill>
                <a:hlinkClick r:id="rId3"/>
              </a:rPr>
              <a:t>[zapier.com]</a:t>
            </a:r>
            <a:r>
              <a:rPr lang="en-US" dirty="0">
                <a:solidFill>
                  <a:schemeClr val="bg1"/>
                </a:solidFill>
              </a:rPr>
              <a:t>, </a:t>
            </a:r>
            <a:r>
              <a:rPr lang="en-US" dirty="0">
                <a:solidFill>
                  <a:schemeClr val="bg1"/>
                </a:solidFill>
                <a:hlinkClick r:id="rId4"/>
              </a:rPr>
              <a:t>[help.zapier.com</a:t>
            </a:r>
            <a:r>
              <a:rPr lang="en-US" dirty="0" smtClean="0">
                <a:solidFill>
                  <a:schemeClr val="bg1"/>
                </a:solidFill>
                <a:hlinkClick r:id="rId4"/>
              </a:rPr>
              <a:t>]</a:t>
            </a:r>
            <a:endParaRPr lang="en-US" dirty="0" smtClean="0">
              <a:solidFill>
                <a:schemeClr val="bg1"/>
              </a:solidFill>
            </a:endParaRPr>
          </a:p>
          <a:p>
            <a:pPr lvl="0"/>
            <a:endParaRPr lang="en-US" dirty="0">
              <a:solidFill>
                <a:schemeClr val="bg1"/>
              </a:solidFill>
            </a:endParaRPr>
          </a:p>
          <a:p>
            <a:pPr marL="285750" lvl="0" indent="-285750">
              <a:buFont typeface="Wingdings" panose="05000000000000000000" pitchFamily="2" charset="2"/>
              <a:buChar char="q"/>
            </a:pPr>
            <a:r>
              <a:rPr lang="en-US" b="1" dirty="0">
                <a:solidFill>
                  <a:schemeClr val="bg1"/>
                </a:solidFill>
              </a:rPr>
              <a:t>Beta functionality</a:t>
            </a:r>
            <a:r>
              <a:rPr lang="en-US" dirty="0">
                <a:solidFill>
                  <a:schemeClr val="bg1"/>
                </a:solidFill>
              </a:rPr>
              <a:t>: currently open beta—free with limits for creation, conversations, and tokens. </a:t>
            </a:r>
            <a:r>
              <a:rPr lang="en-US" dirty="0">
                <a:solidFill>
                  <a:schemeClr val="bg1"/>
                </a:solidFill>
                <a:hlinkClick r:id="rId5"/>
              </a:rPr>
              <a:t>[help.zapier.com]</a:t>
            </a:r>
            <a:r>
              <a:rPr lang="en-US" dirty="0">
                <a:solidFill>
                  <a:schemeClr val="bg1"/>
                </a:solidFill>
              </a:rPr>
              <a:t>, </a:t>
            </a:r>
            <a:r>
              <a:rPr lang="en-US" dirty="0">
                <a:solidFill>
                  <a:schemeClr val="bg1"/>
                </a:solidFill>
                <a:hlinkClick r:id="rId4"/>
              </a:rPr>
              <a:t>[help.zapier.com]</a:t>
            </a:r>
            <a:endParaRPr lang="en-US" dirty="0">
              <a:solidFill>
                <a:schemeClr val="bg1"/>
              </a:solidFill>
            </a:endParaRPr>
          </a:p>
          <a:p>
            <a:pPr marL="285750" lvl="0" indent="-285750">
              <a:buFont typeface="Wingdings" panose="05000000000000000000" pitchFamily="2" charset="2"/>
              <a:buChar char="q"/>
            </a:pPr>
            <a:endParaRPr lang="en-US" b="1" dirty="0" smtClean="0">
              <a:solidFill>
                <a:schemeClr val="bg1"/>
              </a:solidFill>
            </a:endParaRPr>
          </a:p>
          <a:p>
            <a:pPr marL="285750" lvl="0" indent="-285750">
              <a:buFont typeface="Wingdings" panose="05000000000000000000" pitchFamily="2" charset="2"/>
              <a:buChar char="q"/>
            </a:pPr>
            <a:r>
              <a:rPr lang="en-US" b="1" dirty="0" smtClean="0">
                <a:solidFill>
                  <a:schemeClr val="bg1"/>
                </a:solidFill>
              </a:rPr>
              <a:t>Customization</a:t>
            </a:r>
            <a:r>
              <a:rPr lang="en-US" dirty="0">
                <a:solidFill>
                  <a:schemeClr val="bg1"/>
                </a:solidFill>
              </a:rPr>
              <a:t>: set directives, greetings, avatars, creative style, and AI model. </a:t>
            </a:r>
            <a:r>
              <a:rPr lang="en-US" dirty="0">
                <a:solidFill>
                  <a:schemeClr val="bg1"/>
                </a:solidFill>
                <a:hlinkClick r:id="rId3"/>
              </a:rPr>
              <a:t>[zapier.com]</a:t>
            </a:r>
            <a:r>
              <a:rPr lang="en-US" dirty="0">
                <a:solidFill>
                  <a:schemeClr val="bg1"/>
                </a:solidFill>
              </a:rPr>
              <a:t>, </a:t>
            </a:r>
            <a:r>
              <a:rPr lang="en-US" dirty="0">
                <a:solidFill>
                  <a:schemeClr val="bg1"/>
                </a:solidFill>
                <a:hlinkClick r:id="rId5"/>
              </a:rPr>
              <a:t>[help.zapier.com]</a:t>
            </a:r>
            <a:endParaRPr lang="en-US" dirty="0">
              <a:solidFill>
                <a:schemeClr val="bg1"/>
              </a:solidFill>
            </a:endParaRPr>
          </a:p>
          <a:p>
            <a:pPr marL="285750" lvl="0" indent="-285750">
              <a:buFont typeface="Wingdings" panose="05000000000000000000" pitchFamily="2" charset="2"/>
              <a:buChar char="q"/>
            </a:pPr>
            <a:endParaRPr lang="en-US" b="1" dirty="0" smtClean="0">
              <a:solidFill>
                <a:schemeClr val="bg1"/>
              </a:solidFill>
            </a:endParaRPr>
          </a:p>
          <a:p>
            <a:pPr marL="285750" lvl="0" indent="-285750">
              <a:buFont typeface="Wingdings" panose="05000000000000000000" pitchFamily="2" charset="2"/>
              <a:buChar char="q"/>
            </a:pPr>
            <a:r>
              <a:rPr lang="en-US" b="1" dirty="0" smtClean="0">
                <a:solidFill>
                  <a:schemeClr val="bg1"/>
                </a:solidFill>
              </a:rPr>
              <a:t>Knowledge </a:t>
            </a:r>
            <a:r>
              <a:rPr lang="en-US" b="1" dirty="0">
                <a:solidFill>
                  <a:schemeClr val="bg1"/>
                </a:solidFill>
              </a:rPr>
              <a:t>integration</a:t>
            </a:r>
            <a:r>
              <a:rPr lang="en-US" dirty="0">
                <a:solidFill>
                  <a:schemeClr val="bg1"/>
                </a:solidFill>
              </a:rPr>
              <a:t>: import static files, web pages, or connect to </a:t>
            </a:r>
            <a:r>
              <a:rPr lang="en-US" dirty="0" err="1">
                <a:solidFill>
                  <a:schemeClr val="bg1"/>
                </a:solidFill>
              </a:rPr>
              <a:t>Zapier</a:t>
            </a:r>
            <a:r>
              <a:rPr lang="en-US" dirty="0">
                <a:solidFill>
                  <a:schemeClr val="bg1"/>
                </a:solidFill>
              </a:rPr>
              <a:t> Tables to inform responses. </a:t>
            </a:r>
            <a:r>
              <a:rPr lang="en-US" dirty="0">
                <a:solidFill>
                  <a:schemeClr val="bg1"/>
                </a:solidFill>
                <a:hlinkClick r:id="rId3"/>
              </a:rPr>
              <a:t>[zapier.com]</a:t>
            </a:r>
            <a:r>
              <a:rPr lang="en-US" dirty="0">
                <a:solidFill>
                  <a:schemeClr val="bg1"/>
                </a:solidFill>
              </a:rPr>
              <a:t>, </a:t>
            </a:r>
            <a:r>
              <a:rPr lang="en-US" dirty="0">
                <a:solidFill>
                  <a:schemeClr val="bg1"/>
                </a:solidFill>
                <a:hlinkClick r:id="rId5"/>
              </a:rPr>
              <a:t>[help.zapier.com]</a:t>
            </a:r>
            <a:endParaRPr lang="en-US" dirty="0">
              <a:solidFill>
                <a:schemeClr val="bg1"/>
              </a:solidFill>
            </a:endParaRPr>
          </a:p>
          <a:p>
            <a:pPr marL="285750" lvl="0" indent="-285750">
              <a:buFont typeface="Wingdings" panose="05000000000000000000" pitchFamily="2" charset="2"/>
              <a:buChar char="q"/>
            </a:pPr>
            <a:endParaRPr lang="en-US" b="1" dirty="0" smtClean="0">
              <a:solidFill>
                <a:schemeClr val="bg1"/>
              </a:solidFill>
            </a:endParaRPr>
          </a:p>
          <a:p>
            <a:pPr marL="285750" lvl="0" indent="-285750">
              <a:buFont typeface="Wingdings" panose="05000000000000000000" pitchFamily="2" charset="2"/>
              <a:buChar char="q"/>
            </a:pPr>
            <a:r>
              <a:rPr lang="en-US" b="1" dirty="0" smtClean="0">
                <a:solidFill>
                  <a:schemeClr val="bg1"/>
                </a:solidFill>
              </a:rPr>
              <a:t>Zap-powered </a:t>
            </a:r>
            <a:r>
              <a:rPr lang="en-US" b="1" dirty="0">
                <a:solidFill>
                  <a:schemeClr val="bg1"/>
                </a:solidFill>
              </a:rPr>
              <a:t>reply flows</a:t>
            </a:r>
            <a:r>
              <a:rPr lang="en-US" dirty="0">
                <a:solidFill>
                  <a:schemeClr val="bg1"/>
                </a:solidFill>
              </a:rPr>
              <a:t>: trigger actions and send responses to/from apps like Gmail, Intercom, </a:t>
            </a:r>
            <a:r>
              <a:rPr lang="en-US" dirty="0" err="1">
                <a:solidFill>
                  <a:schemeClr val="bg1"/>
                </a:solidFill>
              </a:rPr>
              <a:t>Zendesk</a:t>
            </a:r>
            <a:r>
              <a:rPr lang="en-US" dirty="0">
                <a:solidFill>
                  <a:schemeClr val="bg1"/>
                </a:solidFill>
              </a:rPr>
              <a:t>. </a:t>
            </a:r>
            <a:r>
              <a:rPr lang="en-US" dirty="0">
                <a:solidFill>
                  <a:schemeClr val="bg1"/>
                </a:solidFill>
                <a:hlinkClick r:id="rId6"/>
              </a:rPr>
              <a:t>[help.zapier.com]</a:t>
            </a:r>
            <a:endParaRPr lang="en-US" dirty="0">
              <a:solidFill>
                <a:schemeClr val="bg1"/>
              </a:solidFill>
            </a:endParaRPr>
          </a:p>
          <a:p>
            <a:pPr marL="285750" lvl="0" indent="-285750">
              <a:buFont typeface="Wingdings" panose="05000000000000000000" pitchFamily="2" charset="2"/>
              <a:buChar char="q"/>
            </a:pPr>
            <a:endParaRPr lang="en-US" b="1" dirty="0" smtClean="0">
              <a:solidFill>
                <a:schemeClr val="bg1"/>
              </a:solidFill>
            </a:endParaRPr>
          </a:p>
          <a:p>
            <a:pPr marL="285750" lvl="0" indent="-285750">
              <a:buFont typeface="Wingdings" panose="05000000000000000000" pitchFamily="2" charset="2"/>
              <a:buChar char="q"/>
            </a:pPr>
            <a:r>
              <a:rPr lang="en-US" b="1" dirty="0" smtClean="0">
                <a:solidFill>
                  <a:schemeClr val="bg1"/>
                </a:solidFill>
              </a:rPr>
              <a:t>Branding </a:t>
            </a:r>
            <a:r>
              <a:rPr lang="en-US" b="1" dirty="0">
                <a:solidFill>
                  <a:schemeClr val="bg1"/>
                </a:solidFill>
              </a:rPr>
              <a:t>&amp; embed</a:t>
            </a:r>
            <a:r>
              <a:rPr lang="en-US" dirty="0">
                <a:solidFill>
                  <a:schemeClr val="bg1"/>
                </a:solidFill>
              </a:rPr>
              <a:t>: support for custom style, site embeds, portal inclusion, and public chat link. </a:t>
            </a:r>
            <a:r>
              <a:rPr lang="en-US" dirty="0">
                <a:solidFill>
                  <a:schemeClr val="bg1"/>
                </a:solidFill>
                <a:hlinkClick r:id="rId4"/>
              </a:rPr>
              <a:t>[help.zapier.com]</a:t>
            </a:r>
            <a:r>
              <a:rPr lang="en-US" dirty="0">
                <a:solidFill>
                  <a:schemeClr val="bg1"/>
                </a:solidFill>
              </a:rPr>
              <a:t>, </a:t>
            </a:r>
            <a:r>
              <a:rPr lang="en-US" dirty="0">
                <a:solidFill>
                  <a:schemeClr val="bg1"/>
                </a:solidFill>
                <a:hlinkClick r:id="rId7"/>
              </a:rPr>
              <a:t>[zapier.com]</a:t>
            </a:r>
            <a:endParaRPr lang="en-US" dirty="0">
              <a:solidFill>
                <a:schemeClr val="bg1"/>
              </a:solidFill>
            </a:endParaRPr>
          </a:p>
          <a:p>
            <a:pPr marL="285750" lvl="0" indent="-285750">
              <a:buFont typeface="Wingdings" panose="05000000000000000000" pitchFamily="2" charset="2"/>
              <a:buChar char="q"/>
            </a:pPr>
            <a:endParaRPr lang="en-US" b="1" dirty="0" smtClean="0">
              <a:solidFill>
                <a:schemeClr val="bg1"/>
              </a:solidFill>
            </a:endParaRPr>
          </a:p>
          <a:p>
            <a:pPr marL="285750" lvl="0" indent="-285750">
              <a:buFont typeface="Wingdings" panose="05000000000000000000" pitchFamily="2" charset="2"/>
              <a:buChar char="q"/>
            </a:pPr>
            <a:r>
              <a:rPr lang="en-US" b="1" dirty="0" smtClean="0">
                <a:solidFill>
                  <a:schemeClr val="bg1"/>
                </a:solidFill>
              </a:rPr>
              <a:t>Scalable </a:t>
            </a:r>
            <a:r>
              <a:rPr lang="en-US" b="1" dirty="0">
                <a:solidFill>
                  <a:schemeClr val="bg1"/>
                </a:solidFill>
              </a:rPr>
              <a:t>tiers</a:t>
            </a:r>
            <a:r>
              <a:rPr lang="en-US" dirty="0">
                <a:solidFill>
                  <a:schemeClr val="bg1"/>
                </a:solidFill>
              </a:rPr>
              <a:t>: free tier allows two bots; larger capacities available via paid plans. </a:t>
            </a:r>
            <a:r>
              <a:rPr lang="en-US" dirty="0">
                <a:solidFill>
                  <a:schemeClr val="bg1"/>
                </a:solidFill>
                <a:hlinkClick r:id="rId4"/>
              </a:rPr>
              <a:t>[help.zapier.com]</a:t>
            </a:r>
            <a:r>
              <a:rPr lang="en-US" dirty="0">
                <a:solidFill>
                  <a:schemeClr val="bg1"/>
                </a:solidFill>
              </a:rPr>
              <a:t>, </a:t>
            </a:r>
            <a:r>
              <a:rPr lang="en-US" dirty="0">
                <a:solidFill>
                  <a:schemeClr val="bg1"/>
                </a:solidFill>
                <a:hlinkClick r:id="rId7"/>
              </a:rPr>
              <a:t>[zapier.com]</a:t>
            </a:r>
            <a:endParaRPr lang="en-US" dirty="0">
              <a:solidFill>
                <a:schemeClr val="bg1"/>
              </a:solidFill>
            </a:endParaRPr>
          </a:p>
        </p:txBody>
      </p:sp>
    </p:spTree>
    <p:extLst>
      <p:ext uri="{BB962C8B-B14F-4D97-AF65-F5344CB8AC3E}">
        <p14:creationId xmlns:p14="http://schemas.microsoft.com/office/powerpoint/2010/main" val="26168224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7" name="직사각형 26">
            <a:extLst>
              <a:ext uri="{FF2B5EF4-FFF2-40B4-BE49-F238E27FC236}">
                <a16:creationId xmlns:a16="http://schemas.microsoft.com/office/drawing/2014/main" xmlns="" id="{8D122637-2F9F-4D6D-B650-CED44ECF1A91}"/>
              </a:ext>
            </a:extLst>
          </p:cNvPr>
          <p:cNvSpPr/>
          <p:nvPr/>
        </p:nvSpPr>
        <p:spPr>
          <a:xfrm>
            <a:off x="0" y="0"/>
            <a:ext cx="461500" cy="50078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9" name="직선 연결선 28">
            <a:extLst>
              <a:ext uri="{FF2B5EF4-FFF2-40B4-BE49-F238E27FC236}">
                <a16:creationId xmlns:a16="http://schemas.microsoft.com/office/drawing/2014/main" xmlns="" id="{2AA171E4-1F6F-41A4-B104-0EFC14B58D33}"/>
              </a:ext>
            </a:extLst>
          </p:cNvPr>
          <p:cNvCxnSpPr>
            <a:cxnSpLocks/>
            <a:stCxn id="27" idx="0"/>
          </p:cNvCxnSpPr>
          <p:nvPr/>
        </p:nvCxnSpPr>
        <p:spPr>
          <a:xfrm flipH="1">
            <a:off x="212613" y="0"/>
            <a:ext cx="18137" cy="922020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xmlns="" id="{B5061A88-7C4D-45A8-89EA-77CDE39728FC}"/>
              </a:ext>
            </a:extLst>
          </p:cNvPr>
          <p:cNvCxnSpPr>
            <a:cxnSpLocks/>
          </p:cNvCxnSpPr>
          <p:nvPr/>
        </p:nvCxnSpPr>
        <p:spPr>
          <a:xfrm>
            <a:off x="0" y="563933"/>
            <a:ext cx="685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2"/>
          <a:stretch>
            <a:fillRect/>
          </a:stretch>
        </p:blipFill>
        <p:spPr>
          <a:xfrm>
            <a:off x="0" y="7358743"/>
            <a:ext cx="6858000" cy="1785257"/>
          </a:xfrm>
          <a:prstGeom prst="rect">
            <a:avLst/>
          </a:prstGeom>
        </p:spPr>
      </p:pic>
      <p:sp>
        <p:nvSpPr>
          <p:cNvPr id="2" name="Rectangle 1"/>
          <p:cNvSpPr/>
          <p:nvPr/>
        </p:nvSpPr>
        <p:spPr>
          <a:xfrm>
            <a:off x="461500" y="107516"/>
            <a:ext cx="2620526" cy="461665"/>
          </a:xfrm>
          <a:prstGeom prst="rect">
            <a:avLst/>
          </a:prstGeom>
        </p:spPr>
        <p:txBody>
          <a:bodyPr wrap="none">
            <a:spAutoFit/>
          </a:bodyPr>
          <a:lstStyle/>
          <a:p>
            <a:r>
              <a:rPr lang="en-US" sz="2400" b="1" dirty="0">
                <a:solidFill>
                  <a:schemeClr val="bg1"/>
                </a:solidFill>
              </a:rPr>
              <a:t>🗺️ </a:t>
            </a:r>
            <a:r>
              <a:rPr lang="en-US" sz="2400" b="1" dirty="0" err="1">
                <a:solidFill>
                  <a:schemeClr val="bg1"/>
                </a:solidFill>
              </a:rPr>
              <a:t>Zapier</a:t>
            </a:r>
            <a:r>
              <a:rPr lang="en-US" sz="2400" b="1" dirty="0">
                <a:solidFill>
                  <a:schemeClr val="bg1"/>
                </a:solidFill>
              </a:rPr>
              <a:t> Canvas</a:t>
            </a:r>
            <a:endParaRPr lang="en-US" sz="2400" dirty="0">
              <a:solidFill>
                <a:schemeClr val="bg1"/>
              </a:solidFill>
            </a:endParaRPr>
          </a:p>
        </p:txBody>
      </p:sp>
      <p:sp>
        <p:nvSpPr>
          <p:cNvPr id="3" name="Rectangle 2"/>
          <p:cNvSpPr/>
          <p:nvPr/>
        </p:nvSpPr>
        <p:spPr>
          <a:xfrm>
            <a:off x="443363" y="651019"/>
            <a:ext cx="6284007" cy="6463308"/>
          </a:xfrm>
          <a:prstGeom prst="rect">
            <a:avLst/>
          </a:prstGeom>
        </p:spPr>
        <p:txBody>
          <a:bodyPr wrap="square">
            <a:spAutoFit/>
          </a:bodyPr>
          <a:lstStyle/>
          <a:p>
            <a:pPr marL="285750" lvl="0" indent="-285750">
              <a:buFont typeface="Wingdings" panose="05000000000000000000" pitchFamily="2" charset="2"/>
              <a:buChar char="q"/>
            </a:pPr>
            <a:r>
              <a:rPr lang="en-US" b="1" dirty="0">
                <a:solidFill>
                  <a:schemeClr val="bg1"/>
                </a:solidFill>
              </a:rPr>
              <a:t>Visual designer</a:t>
            </a:r>
            <a:r>
              <a:rPr lang="en-US" dirty="0">
                <a:solidFill>
                  <a:schemeClr val="bg1"/>
                </a:solidFill>
              </a:rPr>
              <a:t>: free AI-powered flowchart tool to map and plan Zaps, Tables, Interfaces, Agents, </a:t>
            </a:r>
            <a:r>
              <a:rPr lang="en-US" dirty="0" err="1">
                <a:solidFill>
                  <a:schemeClr val="bg1"/>
                </a:solidFill>
              </a:rPr>
              <a:t>Chatbots</a:t>
            </a:r>
            <a:r>
              <a:rPr lang="en-US" dirty="0">
                <a:solidFill>
                  <a:schemeClr val="bg1"/>
                </a:solidFill>
              </a:rPr>
              <a:t>. </a:t>
            </a:r>
            <a:r>
              <a:rPr lang="en-US" dirty="0">
                <a:solidFill>
                  <a:schemeClr val="bg1"/>
                </a:solidFill>
                <a:hlinkClick r:id="rId3"/>
              </a:rPr>
              <a:t>[zapier.com]</a:t>
            </a:r>
            <a:r>
              <a:rPr lang="en-US" dirty="0">
                <a:solidFill>
                  <a:schemeClr val="bg1"/>
                </a:solidFill>
              </a:rPr>
              <a:t>, </a:t>
            </a:r>
            <a:r>
              <a:rPr lang="en-US" dirty="0">
                <a:solidFill>
                  <a:schemeClr val="bg1"/>
                </a:solidFill>
                <a:hlinkClick r:id="rId4"/>
              </a:rPr>
              <a:t>[zapier.com</a:t>
            </a:r>
            <a:r>
              <a:rPr lang="en-US" dirty="0" smtClean="0">
                <a:solidFill>
                  <a:schemeClr val="bg1"/>
                </a:solidFill>
                <a:hlinkClick r:id="rId4"/>
              </a:rPr>
              <a:t>]</a:t>
            </a:r>
            <a:endParaRPr lang="en-US" dirty="0" smtClean="0">
              <a:solidFill>
                <a:schemeClr val="bg1"/>
              </a:solidFill>
            </a:endParaRPr>
          </a:p>
          <a:p>
            <a:pPr lvl="0"/>
            <a:endParaRPr lang="en-US" dirty="0">
              <a:solidFill>
                <a:schemeClr val="bg1"/>
              </a:solidFill>
            </a:endParaRPr>
          </a:p>
          <a:p>
            <a:pPr marL="285750" lvl="0" indent="-285750">
              <a:buFont typeface="Wingdings" panose="05000000000000000000" pitchFamily="2" charset="2"/>
              <a:buChar char="q"/>
            </a:pPr>
            <a:r>
              <a:rPr lang="en-US" b="1" dirty="0">
                <a:solidFill>
                  <a:schemeClr val="bg1"/>
                </a:solidFill>
              </a:rPr>
              <a:t>Automate from design</a:t>
            </a:r>
            <a:r>
              <a:rPr lang="en-US" dirty="0">
                <a:solidFill>
                  <a:schemeClr val="bg1"/>
                </a:solidFill>
              </a:rPr>
              <a:t>: convert Canvas visuals straight into live components (Zaps, Interfaces, </a:t>
            </a:r>
            <a:r>
              <a:rPr lang="en-US" dirty="0" err="1">
                <a:solidFill>
                  <a:schemeClr val="bg1"/>
                </a:solidFill>
              </a:rPr>
              <a:t>Chatbots</a:t>
            </a:r>
            <a:r>
              <a:rPr lang="en-US" dirty="0">
                <a:solidFill>
                  <a:schemeClr val="bg1"/>
                </a:solidFill>
              </a:rPr>
              <a:t>, Tables). </a:t>
            </a:r>
            <a:r>
              <a:rPr lang="en-US" dirty="0">
                <a:solidFill>
                  <a:schemeClr val="bg1"/>
                </a:solidFill>
                <a:hlinkClick r:id="rId3"/>
              </a:rPr>
              <a:t>[zapier.com]</a:t>
            </a:r>
            <a:r>
              <a:rPr lang="en-US" dirty="0">
                <a:solidFill>
                  <a:schemeClr val="bg1"/>
                </a:solidFill>
              </a:rPr>
              <a:t>, </a:t>
            </a:r>
            <a:r>
              <a:rPr lang="en-US" dirty="0">
                <a:solidFill>
                  <a:schemeClr val="bg1"/>
                </a:solidFill>
                <a:hlinkClick r:id="rId5"/>
              </a:rPr>
              <a:t>[help.zapier.com]</a:t>
            </a:r>
            <a:endParaRPr lang="en-US" dirty="0">
              <a:solidFill>
                <a:schemeClr val="bg1"/>
              </a:solidFill>
            </a:endParaRPr>
          </a:p>
          <a:p>
            <a:pPr marL="285750" lvl="0" indent="-285750">
              <a:buFont typeface="Wingdings" panose="05000000000000000000" pitchFamily="2" charset="2"/>
              <a:buChar char="q"/>
            </a:pPr>
            <a:endParaRPr lang="en-US" b="1" dirty="0" smtClean="0">
              <a:solidFill>
                <a:schemeClr val="bg1"/>
              </a:solidFill>
            </a:endParaRPr>
          </a:p>
          <a:p>
            <a:pPr marL="285750" lvl="0" indent="-285750">
              <a:buFont typeface="Wingdings" panose="05000000000000000000" pitchFamily="2" charset="2"/>
              <a:buChar char="q"/>
            </a:pPr>
            <a:r>
              <a:rPr lang="en-US" b="1" dirty="0" smtClean="0">
                <a:solidFill>
                  <a:schemeClr val="bg1"/>
                </a:solidFill>
              </a:rPr>
              <a:t>AI-assisted </a:t>
            </a:r>
            <a:r>
              <a:rPr lang="en-US" b="1" dirty="0">
                <a:solidFill>
                  <a:schemeClr val="bg1"/>
                </a:solidFill>
              </a:rPr>
              <a:t>creation</a:t>
            </a:r>
            <a:r>
              <a:rPr lang="en-US" dirty="0">
                <a:solidFill>
                  <a:schemeClr val="bg1"/>
                </a:solidFill>
              </a:rPr>
              <a:t>: Copilot can generate or expand workflows based on natural-language instructions. </a:t>
            </a:r>
            <a:r>
              <a:rPr lang="en-US" dirty="0">
                <a:solidFill>
                  <a:schemeClr val="bg1"/>
                </a:solidFill>
                <a:hlinkClick r:id="rId3"/>
              </a:rPr>
              <a:t>[zapier.com]</a:t>
            </a:r>
            <a:r>
              <a:rPr lang="en-US" dirty="0">
                <a:solidFill>
                  <a:schemeClr val="bg1"/>
                </a:solidFill>
              </a:rPr>
              <a:t>, </a:t>
            </a:r>
            <a:r>
              <a:rPr lang="en-US" dirty="0">
                <a:solidFill>
                  <a:schemeClr val="bg1"/>
                </a:solidFill>
                <a:hlinkClick r:id="rId4"/>
              </a:rPr>
              <a:t>[zapier.com]</a:t>
            </a:r>
            <a:endParaRPr lang="en-US" dirty="0">
              <a:solidFill>
                <a:schemeClr val="bg1"/>
              </a:solidFill>
            </a:endParaRPr>
          </a:p>
          <a:p>
            <a:pPr marL="285750" lvl="0" indent="-285750">
              <a:buFont typeface="Wingdings" panose="05000000000000000000" pitchFamily="2" charset="2"/>
              <a:buChar char="q"/>
            </a:pPr>
            <a:endParaRPr lang="en-US" b="1" dirty="0" smtClean="0">
              <a:solidFill>
                <a:schemeClr val="bg1"/>
              </a:solidFill>
            </a:endParaRPr>
          </a:p>
          <a:p>
            <a:pPr marL="285750" lvl="0" indent="-285750">
              <a:buFont typeface="Wingdings" panose="05000000000000000000" pitchFamily="2" charset="2"/>
              <a:buChar char="q"/>
            </a:pPr>
            <a:r>
              <a:rPr lang="en-US" b="1" dirty="0" smtClean="0">
                <a:solidFill>
                  <a:schemeClr val="bg1"/>
                </a:solidFill>
              </a:rPr>
              <a:t>Workflow </a:t>
            </a:r>
            <a:r>
              <a:rPr lang="en-US" b="1" dirty="0">
                <a:solidFill>
                  <a:schemeClr val="bg1"/>
                </a:solidFill>
              </a:rPr>
              <a:t>optimization</a:t>
            </a:r>
            <a:r>
              <a:rPr lang="en-US" dirty="0">
                <a:solidFill>
                  <a:schemeClr val="bg1"/>
                </a:solidFill>
              </a:rPr>
              <a:t>: view-by-node, split paths, grouped steps, step suggestions, field mapping. </a:t>
            </a:r>
            <a:r>
              <a:rPr lang="en-US" dirty="0">
                <a:solidFill>
                  <a:schemeClr val="bg1"/>
                </a:solidFill>
                <a:hlinkClick r:id="rId3"/>
              </a:rPr>
              <a:t>[zapier.com]</a:t>
            </a:r>
            <a:r>
              <a:rPr lang="en-US" dirty="0">
                <a:solidFill>
                  <a:schemeClr val="bg1"/>
                </a:solidFill>
              </a:rPr>
              <a:t>, </a:t>
            </a:r>
            <a:r>
              <a:rPr lang="en-US" dirty="0">
                <a:solidFill>
                  <a:schemeClr val="bg1"/>
                </a:solidFill>
                <a:hlinkClick r:id="rId4"/>
              </a:rPr>
              <a:t>[zapier.com]</a:t>
            </a:r>
            <a:endParaRPr lang="en-US" dirty="0">
              <a:solidFill>
                <a:schemeClr val="bg1"/>
              </a:solidFill>
            </a:endParaRPr>
          </a:p>
          <a:p>
            <a:pPr marL="285750" lvl="0" indent="-285750">
              <a:buFont typeface="Wingdings" panose="05000000000000000000" pitchFamily="2" charset="2"/>
              <a:buChar char="q"/>
            </a:pPr>
            <a:endParaRPr lang="en-US" b="1" dirty="0" smtClean="0">
              <a:solidFill>
                <a:schemeClr val="bg1"/>
              </a:solidFill>
            </a:endParaRPr>
          </a:p>
          <a:p>
            <a:pPr marL="285750" lvl="0" indent="-285750">
              <a:buFont typeface="Wingdings" panose="05000000000000000000" pitchFamily="2" charset="2"/>
              <a:buChar char="q"/>
            </a:pPr>
            <a:r>
              <a:rPr lang="en-US" b="1" dirty="0" smtClean="0">
                <a:solidFill>
                  <a:schemeClr val="bg1"/>
                </a:solidFill>
              </a:rPr>
              <a:t>Team </a:t>
            </a:r>
            <a:r>
              <a:rPr lang="en-US" b="1" dirty="0">
                <a:solidFill>
                  <a:schemeClr val="bg1"/>
                </a:solidFill>
              </a:rPr>
              <a:t>collaboration</a:t>
            </a:r>
            <a:r>
              <a:rPr lang="en-US" dirty="0">
                <a:solidFill>
                  <a:schemeClr val="bg1"/>
                </a:solidFill>
              </a:rPr>
              <a:t>: comment, tag users, share editable/public links; supports real-time co-building. </a:t>
            </a:r>
            <a:r>
              <a:rPr lang="en-US" dirty="0">
                <a:solidFill>
                  <a:schemeClr val="bg1"/>
                </a:solidFill>
                <a:hlinkClick r:id="rId3"/>
              </a:rPr>
              <a:t>[zapier.com]</a:t>
            </a:r>
            <a:r>
              <a:rPr lang="en-US" dirty="0">
                <a:solidFill>
                  <a:schemeClr val="bg1"/>
                </a:solidFill>
              </a:rPr>
              <a:t>, </a:t>
            </a:r>
            <a:r>
              <a:rPr lang="en-US" dirty="0">
                <a:solidFill>
                  <a:schemeClr val="bg1"/>
                </a:solidFill>
                <a:hlinkClick r:id="rId5"/>
              </a:rPr>
              <a:t>[help.zapier.com]</a:t>
            </a:r>
            <a:endParaRPr lang="en-US" dirty="0">
              <a:solidFill>
                <a:schemeClr val="bg1"/>
              </a:solidFill>
            </a:endParaRPr>
          </a:p>
          <a:p>
            <a:pPr marL="285750" lvl="0" indent="-285750">
              <a:buFont typeface="Wingdings" panose="05000000000000000000" pitchFamily="2" charset="2"/>
              <a:buChar char="q"/>
            </a:pPr>
            <a:endParaRPr lang="en-US" b="1" dirty="0" smtClean="0">
              <a:solidFill>
                <a:schemeClr val="bg1"/>
              </a:solidFill>
            </a:endParaRPr>
          </a:p>
          <a:p>
            <a:pPr marL="285750" lvl="0" indent="-285750">
              <a:buFont typeface="Wingdings" panose="05000000000000000000" pitchFamily="2" charset="2"/>
              <a:buChar char="q"/>
            </a:pPr>
            <a:r>
              <a:rPr lang="en-US" b="1" dirty="0" smtClean="0">
                <a:solidFill>
                  <a:schemeClr val="bg1"/>
                </a:solidFill>
              </a:rPr>
              <a:t>Integrated </a:t>
            </a:r>
            <a:r>
              <a:rPr lang="en-US" b="1" dirty="0">
                <a:solidFill>
                  <a:schemeClr val="bg1"/>
                </a:solidFill>
              </a:rPr>
              <a:t>UX</a:t>
            </a:r>
            <a:r>
              <a:rPr lang="en-US" dirty="0">
                <a:solidFill>
                  <a:schemeClr val="bg1"/>
                </a:solidFill>
              </a:rPr>
              <a:t>: clean transition between Canvas ➝ workflow editor with inline edits via Copilot. </a:t>
            </a:r>
            <a:r>
              <a:rPr lang="en-US" dirty="0">
                <a:solidFill>
                  <a:schemeClr val="bg1"/>
                </a:solidFill>
                <a:hlinkClick r:id="rId5"/>
              </a:rPr>
              <a:t>[help.zapier.com]</a:t>
            </a:r>
            <a:r>
              <a:rPr lang="en-US" dirty="0">
                <a:solidFill>
                  <a:schemeClr val="bg1"/>
                </a:solidFill>
              </a:rPr>
              <a:t>, </a:t>
            </a:r>
            <a:r>
              <a:rPr lang="en-US" dirty="0">
                <a:solidFill>
                  <a:schemeClr val="bg1"/>
                </a:solidFill>
                <a:hlinkClick r:id="rId6"/>
              </a:rPr>
              <a:t>[community.zapier.com]</a:t>
            </a:r>
            <a:endParaRPr lang="en-US" dirty="0">
              <a:solidFill>
                <a:schemeClr val="bg1"/>
              </a:solidFill>
            </a:endParaRPr>
          </a:p>
        </p:txBody>
      </p:sp>
    </p:spTree>
    <p:extLst>
      <p:ext uri="{BB962C8B-B14F-4D97-AF65-F5344CB8AC3E}">
        <p14:creationId xmlns:p14="http://schemas.microsoft.com/office/powerpoint/2010/main" val="13070474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7" name="직사각형 26">
            <a:extLst>
              <a:ext uri="{FF2B5EF4-FFF2-40B4-BE49-F238E27FC236}">
                <a16:creationId xmlns:a16="http://schemas.microsoft.com/office/drawing/2014/main" xmlns="" id="{8D122637-2F9F-4D6D-B650-CED44ECF1A91}"/>
              </a:ext>
            </a:extLst>
          </p:cNvPr>
          <p:cNvSpPr/>
          <p:nvPr/>
        </p:nvSpPr>
        <p:spPr>
          <a:xfrm>
            <a:off x="0" y="0"/>
            <a:ext cx="461500" cy="50078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9" name="직선 연결선 28">
            <a:extLst>
              <a:ext uri="{FF2B5EF4-FFF2-40B4-BE49-F238E27FC236}">
                <a16:creationId xmlns:a16="http://schemas.microsoft.com/office/drawing/2014/main" xmlns="" id="{2AA171E4-1F6F-41A4-B104-0EFC14B58D33}"/>
              </a:ext>
            </a:extLst>
          </p:cNvPr>
          <p:cNvCxnSpPr>
            <a:cxnSpLocks/>
            <a:stCxn id="27" idx="0"/>
          </p:cNvCxnSpPr>
          <p:nvPr/>
        </p:nvCxnSpPr>
        <p:spPr>
          <a:xfrm flipH="1">
            <a:off x="212613" y="0"/>
            <a:ext cx="18137" cy="922020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xmlns="" id="{B5061A88-7C4D-45A8-89EA-77CDE39728FC}"/>
              </a:ext>
            </a:extLst>
          </p:cNvPr>
          <p:cNvCxnSpPr>
            <a:cxnSpLocks/>
          </p:cNvCxnSpPr>
          <p:nvPr/>
        </p:nvCxnSpPr>
        <p:spPr>
          <a:xfrm>
            <a:off x="0" y="563933"/>
            <a:ext cx="685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2"/>
          <a:stretch>
            <a:fillRect/>
          </a:stretch>
        </p:blipFill>
        <p:spPr>
          <a:xfrm>
            <a:off x="0" y="7358743"/>
            <a:ext cx="6858000" cy="1785257"/>
          </a:xfrm>
          <a:prstGeom prst="rect">
            <a:avLst/>
          </a:prstGeom>
        </p:spPr>
      </p:pic>
      <p:sp>
        <p:nvSpPr>
          <p:cNvPr id="2" name="Rectangle 1"/>
          <p:cNvSpPr/>
          <p:nvPr/>
        </p:nvSpPr>
        <p:spPr>
          <a:xfrm>
            <a:off x="461500" y="107516"/>
            <a:ext cx="2603918" cy="461665"/>
          </a:xfrm>
          <a:prstGeom prst="rect">
            <a:avLst/>
          </a:prstGeom>
        </p:spPr>
        <p:txBody>
          <a:bodyPr wrap="none">
            <a:spAutoFit/>
          </a:bodyPr>
          <a:lstStyle/>
          <a:p>
            <a:r>
              <a:rPr lang="en-US" sz="2400" b="1" dirty="0">
                <a:solidFill>
                  <a:schemeClr val="bg1"/>
                </a:solidFill>
              </a:rPr>
              <a:t>🗺️ </a:t>
            </a:r>
            <a:r>
              <a:rPr lang="en-US" sz="2400" b="1" dirty="0" err="1">
                <a:solidFill>
                  <a:schemeClr val="bg1"/>
                </a:solidFill>
              </a:rPr>
              <a:t>Zapier</a:t>
            </a:r>
            <a:r>
              <a:rPr lang="en-US" sz="2400" b="1" dirty="0">
                <a:solidFill>
                  <a:schemeClr val="bg1"/>
                </a:solidFill>
              </a:rPr>
              <a:t> </a:t>
            </a:r>
            <a:r>
              <a:rPr lang="en-US" sz="2400" b="1" dirty="0" smtClean="0">
                <a:solidFill>
                  <a:schemeClr val="bg1"/>
                </a:solidFill>
              </a:rPr>
              <a:t>Agents</a:t>
            </a:r>
            <a:endParaRPr lang="en-US" sz="2400" dirty="0">
              <a:solidFill>
                <a:schemeClr val="bg1"/>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919056404"/>
              </p:ext>
            </p:extLst>
          </p:nvPr>
        </p:nvGraphicFramePr>
        <p:xfrm>
          <a:off x="471488" y="610940"/>
          <a:ext cx="6386512" cy="6972300"/>
        </p:xfrm>
        <a:graphic>
          <a:graphicData uri="http://schemas.openxmlformats.org/drawingml/2006/table">
            <a:tbl>
              <a:tblPr/>
              <a:tblGrid>
                <a:gridCol w="6386512"/>
              </a:tblGrid>
              <a:tr h="0">
                <a:tc>
                  <a:txBody>
                    <a:bodyPr/>
                    <a:lstStyle/>
                    <a:p>
                      <a:pPr marL="285750" indent="-285750" fontAlgn="t">
                        <a:buFont typeface="Wingdings" panose="05000000000000000000" pitchFamily="2" charset="2"/>
                        <a:buChar char="q"/>
                      </a:pPr>
                      <a:r>
                        <a:rPr lang="en-US" sz="1800" b="1" i="0" dirty="0" smtClean="0">
                          <a:solidFill>
                            <a:schemeClr val="bg1"/>
                          </a:solidFill>
                          <a:effectLst/>
                          <a:latin typeface="+mn-lt"/>
                        </a:rPr>
                        <a:t>AI-powered </a:t>
                      </a:r>
                      <a:r>
                        <a:rPr lang="en-US" sz="1800" b="1" i="0" dirty="0">
                          <a:solidFill>
                            <a:schemeClr val="bg1"/>
                          </a:solidFill>
                          <a:effectLst/>
                          <a:latin typeface="+mn-lt"/>
                        </a:rPr>
                        <a:t>teammates</a:t>
                      </a:r>
                      <a:r>
                        <a:rPr lang="en-US" sz="1800" b="0" i="0" dirty="0">
                          <a:solidFill>
                            <a:schemeClr val="bg1"/>
                          </a:solidFill>
                          <a:effectLst/>
                          <a:latin typeface="+mn-lt"/>
                        </a:rPr>
                        <a:t> </a:t>
                      </a:r>
                      <a:r>
                        <a:rPr lang="en-US" sz="1800" b="0" i="0" dirty="0" err="1" smtClean="0">
                          <a:solidFill>
                            <a:schemeClr val="bg1"/>
                          </a:solidFill>
                          <a:effectLst/>
                          <a:latin typeface="+mn-lt"/>
                        </a:rPr>
                        <a:t>tht</a:t>
                      </a:r>
                      <a:r>
                        <a:rPr lang="en-US" sz="1800" b="0" i="0" dirty="0" smtClean="0">
                          <a:solidFill>
                            <a:schemeClr val="bg1"/>
                          </a:solidFill>
                          <a:effectLst/>
                          <a:latin typeface="+mn-lt"/>
                        </a:rPr>
                        <a:t> </a:t>
                      </a:r>
                      <a:r>
                        <a:rPr lang="en-US" sz="1800" b="0" i="0" dirty="0">
                          <a:solidFill>
                            <a:schemeClr val="bg1"/>
                          </a:solidFill>
                          <a:effectLst/>
                          <a:latin typeface="+mn-lt"/>
                        </a:rPr>
                        <a:t>work autonomously across </a:t>
                      </a:r>
                      <a:r>
                        <a:rPr lang="en-US" sz="1800" b="0" i="0" dirty="0" err="1">
                          <a:solidFill>
                            <a:schemeClr val="bg1"/>
                          </a:solidFill>
                          <a:effectLst/>
                          <a:latin typeface="+mn-lt"/>
                        </a:rPr>
                        <a:t>Zapier’s</a:t>
                      </a:r>
                      <a:r>
                        <a:rPr lang="en-US" sz="1800" b="0" i="0" dirty="0">
                          <a:solidFill>
                            <a:schemeClr val="bg1"/>
                          </a:solidFill>
                          <a:effectLst/>
                          <a:latin typeface="+mn-lt"/>
                        </a:rPr>
                        <a:t> 8,000+ app integrations. </a:t>
                      </a:r>
                      <a:r>
                        <a:rPr lang="en-US" sz="1800" b="0" i="0" u="none" strike="noStrike" dirty="0">
                          <a:solidFill>
                            <a:schemeClr val="bg1"/>
                          </a:solidFill>
                          <a:effectLst/>
                          <a:latin typeface="+mn-lt"/>
                          <a:hlinkClick r:id="rId3"/>
                        </a:rPr>
                        <a:t>[zapier.com]</a:t>
                      </a:r>
                      <a:r>
                        <a:rPr lang="en-US" sz="1800" b="0" i="0" dirty="0">
                          <a:solidFill>
                            <a:schemeClr val="bg1"/>
                          </a:solidFill>
                          <a:effectLst/>
                          <a:latin typeface="+mn-lt"/>
                        </a:rPr>
                        <a:t>, </a:t>
                      </a:r>
                      <a:r>
                        <a:rPr lang="en-US" sz="1800" b="0" i="0" u="none" strike="noStrike" dirty="0">
                          <a:solidFill>
                            <a:schemeClr val="bg1"/>
                          </a:solidFill>
                          <a:effectLst/>
                          <a:latin typeface="+mn-lt"/>
                          <a:hlinkClick r:id="rId4"/>
                        </a:rPr>
                        <a:t>[zapier.com</a:t>
                      </a:r>
                      <a:r>
                        <a:rPr lang="en-US" sz="1800" b="0" i="0" u="none" strike="noStrike" dirty="0" smtClean="0">
                          <a:solidFill>
                            <a:schemeClr val="bg1"/>
                          </a:solidFill>
                          <a:effectLst/>
                          <a:latin typeface="+mn-lt"/>
                          <a:hlinkClick r:id="rId4"/>
                        </a:rPr>
                        <a:t>]</a:t>
                      </a:r>
                      <a:endParaRPr lang="en-US" sz="1800" b="0" i="0" u="none" strike="noStrike" dirty="0" smtClean="0">
                        <a:solidFill>
                          <a:schemeClr val="bg1"/>
                        </a:solidFill>
                        <a:effectLst/>
                        <a:latin typeface="+mn-lt"/>
                      </a:endParaRPr>
                    </a:p>
                    <a:p>
                      <a:pPr marL="0" indent="0" fontAlgn="t">
                        <a:buFont typeface="Wingdings" panose="05000000000000000000" pitchFamily="2" charset="2"/>
                        <a:buNone/>
                      </a:pPr>
                      <a:endParaRPr lang="en-US" sz="1800" b="0" i="0" dirty="0">
                        <a:solidFill>
                          <a:schemeClr val="bg1"/>
                        </a:solidFill>
                        <a:effectLst/>
                        <a:latin typeface="+mn-lt"/>
                      </a:endParaRPr>
                    </a:p>
                    <a:p>
                      <a:pPr marL="285750" indent="-285750" fontAlgn="t">
                        <a:buFont typeface="Wingdings" panose="05000000000000000000" pitchFamily="2" charset="2"/>
                        <a:buChar char="q"/>
                      </a:pPr>
                      <a:r>
                        <a:rPr lang="en-US" sz="1800" b="1" i="0" dirty="0">
                          <a:solidFill>
                            <a:schemeClr val="bg1"/>
                          </a:solidFill>
                          <a:effectLst/>
                          <a:latin typeface="+mn-lt"/>
                        </a:rPr>
                        <a:t>Teachable with natural language</a:t>
                      </a:r>
                      <a:r>
                        <a:rPr lang="en-US" sz="1800" b="0" i="0" dirty="0">
                          <a:solidFill>
                            <a:schemeClr val="bg1"/>
                          </a:solidFill>
                          <a:effectLst/>
                          <a:latin typeface="+mn-lt"/>
                        </a:rPr>
                        <a:t>: craft agent instructions in </a:t>
                      </a:r>
                      <a:r>
                        <a:rPr lang="en-US" sz="1800" b="0" i="0" dirty="0" smtClean="0">
                          <a:solidFill>
                            <a:schemeClr val="bg1"/>
                          </a:solidFill>
                          <a:effectLst/>
                          <a:latin typeface="+mn-lt"/>
                        </a:rPr>
                        <a:t>     plain </a:t>
                      </a:r>
                      <a:r>
                        <a:rPr lang="en-US" sz="1800" b="0" i="0" dirty="0">
                          <a:solidFill>
                            <a:schemeClr val="bg1"/>
                          </a:solidFill>
                          <a:effectLst/>
                          <a:latin typeface="+mn-lt"/>
                        </a:rPr>
                        <a:t>English; the prompt assistant helps refine them. </a:t>
                      </a:r>
                      <a:r>
                        <a:rPr lang="en-US" sz="1800" b="0" i="0" u="none" strike="noStrike" dirty="0">
                          <a:solidFill>
                            <a:schemeClr val="bg1"/>
                          </a:solidFill>
                          <a:effectLst/>
                          <a:latin typeface="+mn-lt"/>
                          <a:hlinkClick r:id="rId3"/>
                        </a:rPr>
                        <a:t>[zapier.com]</a:t>
                      </a:r>
                      <a:r>
                        <a:rPr lang="en-US" sz="1800" b="0" i="0" dirty="0">
                          <a:solidFill>
                            <a:schemeClr val="bg1"/>
                          </a:solidFill>
                          <a:effectLst/>
                          <a:latin typeface="+mn-lt"/>
                        </a:rPr>
                        <a:t>, </a:t>
                      </a:r>
                      <a:r>
                        <a:rPr lang="en-US" sz="1800" b="0" i="0" u="none" strike="noStrike" dirty="0">
                          <a:solidFill>
                            <a:schemeClr val="bg1"/>
                          </a:solidFill>
                          <a:effectLst/>
                          <a:latin typeface="+mn-lt"/>
                          <a:hlinkClick r:id="rId5"/>
                        </a:rPr>
                        <a:t>[help.zapier.com]</a:t>
                      </a:r>
                      <a:endParaRPr lang="en-US" sz="1800" b="0" i="0" dirty="0">
                        <a:solidFill>
                          <a:schemeClr val="bg1"/>
                        </a:solidFill>
                        <a:effectLst/>
                        <a:latin typeface="+mn-lt"/>
                      </a:endParaRPr>
                    </a:p>
                    <a:p>
                      <a:pPr marL="285750" indent="-285750" fontAlgn="t">
                        <a:buFont typeface="Wingdings" panose="05000000000000000000" pitchFamily="2" charset="2"/>
                        <a:buChar char="q"/>
                      </a:pPr>
                      <a:endParaRPr lang="en-US" sz="1800" b="1" i="0" dirty="0" smtClean="0">
                        <a:solidFill>
                          <a:schemeClr val="bg1"/>
                        </a:solidFill>
                        <a:effectLst/>
                        <a:latin typeface="+mn-lt"/>
                      </a:endParaRPr>
                    </a:p>
                    <a:p>
                      <a:pPr marL="285750" indent="-285750" fontAlgn="t">
                        <a:buFont typeface="Wingdings" panose="05000000000000000000" pitchFamily="2" charset="2"/>
                        <a:buChar char="q"/>
                      </a:pPr>
                      <a:r>
                        <a:rPr lang="en-US" sz="1800" b="1" i="0" dirty="0" smtClean="0">
                          <a:solidFill>
                            <a:schemeClr val="bg1"/>
                          </a:solidFill>
                          <a:effectLst/>
                          <a:latin typeface="+mn-lt"/>
                        </a:rPr>
                        <a:t>Support </a:t>
                      </a:r>
                      <a:r>
                        <a:rPr lang="en-US" sz="1800" b="1" i="0" dirty="0">
                          <a:solidFill>
                            <a:schemeClr val="bg1"/>
                          </a:solidFill>
                          <a:effectLst/>
                          <a:latin typeface="+mn-lt"/>
                        </a:rPr>
                        <a:t>for templates</a:t>
                      </a:r>
                      <a:r>
                        <a:rPr lang="en-US" sz="1800" b="0" i="0" dirty="0">
                          <a:solidFill>
                            <a:schemeClr val="bg1"/>
                          </a:solidFill>
                          <a:effectLst/>
                          <a:latin typeface="+mn-lt"/>
                        </a:rPr>
                        <a:t>: including common roles like lead </a:t>
                      </a:r>
                      <a:r>
                        <a:rPr lang="en-US" sz="1800" b="0" i="0" dirty="0" smtClean="0">
                          <a:solidFill>
                            <a:schemeClr val="bg1"/>
                          </a:solidFill>
                          <a:effectLst/>
                          <a:latin typeface="+mn-lt"/>
                        </a:rPr>
                        <a:t>                                qualification</a:t>
                      </a:r>
                      <a:r>
                        <a:rPr lang="en-US" sz="1800" b="0" i="0" dirty="0">
                          <a:solidFill>
                            <a:schemeClr val="bg1"/>
                          </a:solidFill>
                          <a:effectLst/>
                          <a:latin typeface="+mn-lt"/>
                        </a:rPr>
                        <a:t>, ticket triage, meeting preparation, and content </a:t>
                      </a:r>
                      <a:r>
                        <a:rPr lang="en-US" sz="1800" b="0" i="0" dirty="0" smtClean="0">
                          <a:solidFill>
                            <a:schemeClr val="bg1"/>
                          </a:solidFill>
                          <a:effectLst/>
                          <a:latin typeface="+mn-lt"/>
                        </a:rPr>
                        <a:t>              creation</a:t>
                      </a:r>
                      <a:r>
                        <a:rPr lang="en-US" sz="1800" b="0" i="0" dirty="0">
                          <a:solidFill>
                            <a:schemeClr val="bg1"/>
                          </a:solidFill>
                          <a:effectLst/>
                          <a:latin typeface="+mn-lt"/>
                        </a:rPr>
                        <a:t>. </a:t>
                      </a:r>
                      <a:r>
                        <a:rPr lang="en-US" sz="1800" b="0" i="0" u="none" strike="noStrike" dirty="0">
                          <a:solidFill>
                            <a:schemeClr val="bg1"/>
                          </a:solidFill>
                          <a:effectLst/>
                          <a:latin typeface="+mn-lt"/>
                          <a:hlinkClick r:id="rId6"/>
                        </a:rPr>
                        <a:t>[zapier.com]</a:t>
                      </a:r>
                      <a:r>
                        <a:rPr lang="en-US" sz="1800" b="0" i="0" dirty="0">
                          <a:solidFill>
                            <a:schemeClr val="bg1"/>
                          </a:solidFill>
                          <a:effectLst/>
                          <a:latin typeface="+mn-lt"/>
                        </a:rPr>
                        <a:t>, </a:t>
                      </a:r>
                      <a:r>
                        <a:rPr lang="en-US" sz="1800" b="0" i="0" u="none" strike="noStrike" dirty="0">
                          <a:solidFill>
                            <a:schemeClr val="bg1"/>
                          </a:solidFill>
                          <a:effectLst/>
                          <a:latin typeface="+mn-lt"/>
                          <a:hlinkClick r:id="rId3"/>
                        </a:rPr>
                        <a:t>[</a:t>
                      </a:r>
                      <a:r>
                        <a:rPr lang="en-US" sz="1800" b="0" i="0" u="none" strike="noStrike" dirty="0" smtClean="0">
                          <a:solidFill>
                            <a:schemeClr val="bg1"/>
                          </a:solidFill>
                          <a:effectLst/>
                          <a:latin typeface="+mn-lt"/>
                          <a:hlinkClick r:id="rId3"/>
                        </a:rPr>
                        <a:t>zapier.com]</a:t>
                      </a:r>
                      <a:r>
                        <a:rPr lang="en-US" sz="1800" b="1" i="0" dirty="0" smtClean="0">
                          <a:solidFill>
                            <a:schemeClr val="bg1"/>
                          </a:solidFill>
                          <a:effectLst/>
                          <a:latin typeface="+mn-lt"/>
                        </a:rPr>
                        <a:t>Pod-based </a:t>
                      </a:r>
                      <a:r>
                        <a:rPr lang="en-US" sz="1800" b="1" i="0" dirty="0">
                          <a:solidFill>
                            <a:schemeClr val="bg1"/>
                          </a:solidFill>
                          <a:effectLst/>
                          <a:latin typeface="+mn-lt"/>
                        </a:rPr>
                        <a:t>organization</a:t>
                      </a:r>
                      <a:r>
                        <a:rPr lang="en-US" sz="1800" b="0" i="0" dirty="0">
                          <a:solidFill>
                            <a:schemeClr val="bg1"/>
                          </a:solidFill>
                          <a:effectLst/>
                          <a:latin typeface="+mn-lt"/>
                        </a:rPr>
                        <a:t>: </a:t>
                      </a:r>
                      <a:r>
                        <a:rPr lang="en-US" sz="1800" b="0" i="0" dirty="0" smtClean="0">
                          <a:solidFill>
                            <a:schemeClr val="bg1"/>
                          </a:solidFill>
                          <a:effectLst/>
                          <a:latin typeface="+mn-lt"/>
                        </a:rPr>
                        <a:t>                   group </a:t>
                      </a:r>
                      <a:r>
                        <a:rPr lang="en-US" sz="1800" b="0" i="0" dirty="0">
                          <a:solidFill>
                            <a:schemeClr val="bg1"/>
                          </a:solidFill>
                          <a:effectLst/>
                          <a:latin typeface="+mn-lt"/>
                        </a:rPr>
                        <a:t>agents into “Pods” to categorize them by function or workflow. </a:t>
                      </a:r>
                      <a:r>
                        <a:rPr lang="en-US" sz="1800" b="0" i="0" u="none" strike="noStrike" dirty="0">
                          <a:solidFill>
                            <a:schemeClr val="bg1"/>
                          </a:solidFill>
                          <a:effectLst/>
                          <a:latin typeface="+mn-lt"/>
                          <a:hlinkClick r:id="rId4"/>
                        </a:rPr>
                        <a:t>[zapier.com]</a:t>
                      </a:r>
                      <a:r>
                        <a:rPr lang="en-US" sz="1800" b="0" i="0" dirty="0">
                          <a:solidFill>
                            <a:schemeClr val="bg1"/>
                          </a:solidFill>
                          <a:effectLst/>
                          <a:latin typeface="+mn-lt"/>
                        </a:rPr>
                        <a:t>, </a:t>
                      </a:r>
                      <a:r>
                        <a:rPr lang="en-US" sz="1800" b="0" i="0" u="none" strike="noStrike" dirty="0">
                          <a:solidFill>
                            <a:schemeClr val="bg1"/>
                          </a:solidFill>
                          <a:effectLst/>
                          <a:latin typeface="+mn-lt"/>
                          <a:hlinkClick r:id="rId7"/>
                        </a:rPr>
                        <a:t>[zapier.com]</a:t>
                      </a:r>
                      <a:endParaRPr lang="en-US" sz="1800" b="0" i="0" dirty="0">
                        <a:solidFill>
                          <a:schemeClr val="bg1"/>
                        </a:solidFill>
                        <a:effectLst/>
                        <a:latin typeface="+mn-lt"/>
                      </a:endParaRPr>
                    </a:p>
                    <a:p>
                      <a:pPr marL="285750" indent="-285750" fontAlgn="t">
                        <a:buFont typeface="Wingdings" panose="05000000000000000000" pitchFamily="2" charset="2"/>
                        <a:buChar char="q"/>
                      </a:pPr>
                      <a:endParaRPr lang="en-US" sz="1800" b="1" i="0" dirty="0" smtClean="0">
                        <a:solidFill>
                          <a:schemeClr val="bg1"/>
                        </a:solidFill>
                        <a:effectLst/>
                        <a:latin typeface="+mn-lt"/>
                      </a:endParaRPr>
                    </a:p>
                    <a:p>
                      <a:pPr marL="285750" indent="-285750" fontAlgn="t">
                        <a:buFont typeface="Wingdings" panose="05000000000000000000" pitchFamily="2" charset="2"/>
                        <a:buChar char="q"/>
                      </a:pPr>
                      <a:r>
                        <a:rPr lang="en-US" sz="1800" b="1" i="0" dirty="0" smtClean="0">
                          <a:solidFill>
                            <a:schemeClr val="bg1"/>
                          </a:solidFill>
                          <a:effectLst/>
                          <a:latin typeface="+mn-lt"/>
                        </a:rPr>
                        <a:t>Activity </a:t>
                      </a:r>
                      <a:r>
                        <a:rPr lang="en-US" sz="1800" b="1" i="0" dirty="0">
                          <a:solidFill>
                            <a:schemeClr val="bg1"/>
                          </a:solidFill>
                          <a:effectLst/>
                          <a:latin typeface="+mn-lt"/>
                        </a:rPr>
                        <a:t>dashboard</a:t>
                      </a:r>
                      <a:r>
                        <a:rPr lang="en-US" sz="1800" b="0" i="0" dirty="0">
                          <a:solidFill>
                            <a:schemeClr val="bg1"/>
                          </a:solidFill>
                          <a:effectLst/>
                          <a:latin typeface="+mn-lt"/>
                        </a:rPr>
                        <a:t>: view agent tasks, performance, triggers, </a:t>
                      </a:r>
                      <a:r>
                        <a:rPr lang="en-US" sz="1800" b="0" i="0" dirty="0" smtClean="0">
                          <a:solidFill>
                            <a:schemeClr val="bg1"/>
                          </a:solidFill>
                          <a:effectLst/>
                          <a:latin typeface="+mn-lt"/>
                        </a:rPr>
                        <a:t>                   and </a:t>
                      </a:r>
                      <a:r>
                        <a:rPr lang="en-US" sz="1800" b="0" i="0" dirty="0">
                          <a:solidFill>
                            <a:schemeClr val="bg1"/>
                          </a:solidFill>
                          <a:effectLst/>
                          <a:latin typeface="+mn-lt"/>
                        </a:rPr>
                        <a:t>actions; monitor when human input is required. </a:t>
                      </a:r>
                      <a:r>
                        <a:rPr lang="en-US" sz="1800" b="0" i="0" u="none" strike="noStrike" dirty="0">
                          <a:solidFill>
                            <a:schemeClr val="bg1"/>
                          </a:solidFill>
                          <a:effectLst/>
                          <a:latin typeface="+mn-lt"/>
                          <a:hlinkClick r:id="rId4"/>
                        </a:rPr>
                        <a:t>[zapier.com]</a:t>
                      </a:r>
                      <a:r>
                        <a:rPr lang="en-US" sz="1800" b="0" i="0" dirty="0">
                          <a:solidFill>
                            <a:schemeClr val="bg1"/>
                          </a:solidFill>
                          <a:effectLst/>
                          <a:latin typeface="+mn-lt"/>
                        </a:rPr>
                        <a:t>, </a:t>
                      </a:r>
                      <a:r>
                        <a:rPr lang="en-US" sz="1800" b="0" i="0" u="none" strike="noStrike" dirty="0">
                          <a:solidFill>
                            <a:schemeClr val="bg1"/>
                          </a:solidFill>
                          <a:effectLst/>
                          <a:latin typeface="+mn-lt"/>
                          <a:hlinkClick r:id="rId7"/>
                        </a:rPr>
                        <a:t>[zapier.com]</a:t>
                      </a:r>
                      <a:endParaRPr lang="en-US" sz="1800" b="0" i="0" dirty="0">
                        <a:solidFill>
                          <a:schemeClr val="bg1"/>
                        </a:solidFill>
                        <a:effectLst/>
                        <a:latin typeface="+mn-lt"/>
                      </a:endParaRPr>
                    </a:p>
                    <a:p>
                      <a:pPr marL="285750" indent="-285750" fontAlgn="t">
                        <a:buFont typeface="Wingdings" panose="05000000000000000000" pitchFamily="2" charset="2"/>
                        <a:buChar char="q"/>
                      </a:pPr>
                      <a:endParaRPr lang="en-US" sz="1800" b="1" i="0" dirty="0" smtClean="0">
                        <a:solidFill>
                          <a:schemeClr val="bg1"/>
                        </a:solidFill>
                        <a:effectLst/>
                        <a:latin typeface="+mn-lt"/>
                      </a:endParaRPr>
                    </a:p>
                    <a:p>
                      <a:pPr marL="285750" indent="-285750" fontAlgn="t">
                        <a:buFont typeface="Wingdings" panose="05000000000000000000" pitchFamily="2" charset="2"/>
                        <a:buChar char="q"/>
                      </a:pPr>
                      <a:r>
                        <a:rPr lang="en-US" sz="1800" b="1" i="0" dirty="0" smtClean="0">
                          <a:solidFill>
                            <a:schemeClr val="bg1"/>
                          </a:solidFill>
                          <a:effectLst/>
                          <a:latin typeface="+mn-lt"/>
                        </a:rPr>
                        <a:t>Scalable </a:t>
                      </a:r>
                      <a:r>
                        <a:rPr lang="en-US" sz="1800" b="1" i="0" dirty="0">
                          <a:solidFill>
                            <a:schemeClr val="bg1"/>
                          </a:solidFill>
                          <a:effectLst/>
                          <a:latin typeface="+mn-lt"/>
                        </a:rPr>
                        <a:t>autonomy</a:t>
                      </a:r>
                      <a:r>
                        <a:rPr lang="en-US" sz="1800" b="0" i="0" dirty="0">
                          <a:solidFill>
                            <a:schemeClr val="bg1"/>
                          </a:solidFill>
                          <a:effectLst/>
                          <a:latin typeface="+mn-lt"/>
                        </a:rPr>
                        <a:t>: agents handle routine tasks like lead </a:t>
                      </a:r>
                      <a:r>
                        <a:rPr lang="en-US" sz="1800" b="0" i="0" dirty="0" smtClean="0">
                          <a:solidFill>
                            <a:schemeClr val="bg1"/>
                          </a:solidFill>
                          <a:effectLst/>
                          <a:latin typeface="+mn-lt"/>
                        </a:rPr>
                        <a:t>                           processing</a:t>
                      </a:r>
                      <a:r>
                        <a:rPr lang="en-US" sz="1800" b="0" i="0" dirty="0">
                          <a:solidFill>
                            <a:schemeClr val="bg1"/>
                          </a:solidFill>
                          <a:effectLst/>
                          <a:latin typeface="+mn-lt"/>
                        </a:rPr>
                        <a:t>, support responses, and content generation without human oversight. </a:t>
                      </a:r>
                      <a:r>
                        <a:rPr lang="en-US" sz="1800" b="0" i="0" u="none" strike="noStrike" dirty="0">
                          <a:solidFill>
                            <a:schemeClr val="bg1"/>
                          </a:solidFill>
                          <a:effectLst/>
                          <a:latin typeface="+mn-lt"/>
                          <a:hlinkClick r:id="rId4"/>
                        </a:rPr>
                        <a:t>[zapier.com]</a:t>
                      </a:r>
                      <a:r>
                        <a:rPr lang="en-US" sz="1800" b="0" i="0" dirty="0">
                          <a:solidFill>
                            <a:schemeClr val="bg1"/>
                          </a:solidFill>
                          <a:effectLst/>
                          <a:latin typeface="+mn-lt"/>
                        </a:rPr>
                        <a:t>, </a:t>
                      </a:r>
                      <a:r>
                        <a:rPr lang="en-US" sz="1800" b="0" i="0" u="none" strike="noStrike" dirty="0">
                          <a:solidFill>
                            <a:schemeClr val="bg1"/>
                          </a:solidFill>
                          <a:effectLst/>
                          <a:latin typeface="+mn-lt"/>
                          <a:hlinkClick r:id="rId3"/>
                        </a:rPr>
                        <a:t>[zapier.com]</a:t>
                      </a:r>
                      <a:endParaRPr lang="en-US" sz="1800" b="0" i="0" dirty="0">
                        <a:solidFill>
                          <a:schemeClr val="bg1"/>
                        </a:solidFill>
                        <a:effectLst/>
                        <a:latin typeface="+mn-lt"/>
                      </a:endParaRPr>
                    </a:p>
                    <a:p>
                      <a:pPr marL="285750" indent="-285750" fontAlgn="t">
                        <a:buFont typeface="Wingdings" panose="05000000000000000000" pitchFamily="2" charset="2"/>
                        <a:buChar char="q"/>
                      </a:pPr>
                      <a:endParaRPr lang="en-US" sz="1800" b="1" i="0" dirty="0" smtClean="0">
                        <a:solidFill>
                          <a:schemeClr val="bg1"/>
                        </a:solidFill>
                        <a:effectLst/>
                        <a:latin typeface="+mn-lt"/>
                      </a:endParaRPr>
                    </a:p>
                    <a:p>
                      <a:pPr marL="285750" indent="-285750" fontAlgn="t">
                        <a:buFont typeface="Wingdings" panose="05000000000000000000" pitchFamily="2" charset="2"/>
                        <a:buChar char="q"/>
                      </a:pPr>
                      <a:r>
                        <a:rPr lang="en-US" sz="1800" b="1" i="0" dirty="0" smtClean="0">
                          <a:solidFill>
                            <a:schemeClr val="bg1"/>
                          </a:solidFill>
                          <a:effectLst/>
                          <a:latin typeface="+mn-lt"/>
                        </a:rPr>
                        <a:t>Agent-to-agent </a:t>
                      </a:r>
                      <a:r>
                        <a:rPr lang="en-US" sz="1800" b="1" i="0" dirty="0">
                          <a:solidFill>
                            <a:schemeClr val="bg1"/>
                          </a:solidFill>
                          <a:effectLst/>
                          <a:latin typeface="+mn-lt"/>
                        </a:rPr>
                        <a:t>orchestration</a:t>
                      </a:r>
                      <a:r>
                        <a:rPr lang="en-US" sz="1800" b="0" i="0" dirty="0">
                          <a:solidFill>
                            <a:schemeClr val="bg1"/>
                          </a:solidFill>
                          <a:effectLst/>
                          <a:latin typeface="+mn-lt"/>
                        </a:rPr>
                        <a:t>: enable specialized agents to </a:t>
                      </a:r>
                      <a:r>
                        <a:rPr lang="en-US" sz="1800" b="0" i="0" dirty="0" smtClean="0">
                          <a:solidFill>
                            <a:schemeClr val="bg1"/>
                          </a:solidFill>
                          <a:effectLst/>
                          <a:latin typeface="+mn-lt"/>
                        </a:rPr>
                        <a:t>                     work </a:t>
                      </a:r>
                      <a:r>
                        <a:rPr lang="en-US" sz="1800" b="0" i="0" dirty="0">
                          <a:solidFill>
                            <a:schemeClr val="bg1"/>
                          </a:solidFill>
                          <a:effectLst/>
                          <a:latin typeface="+mn-lt"/>
                        </a:rPr>
                        <a:t>in sequence (e.g., lead qualifies → enrichment agent → </a:t>
                      </a:r>
                      <a:r>
                        <a:rPr lang="en-US" sz="1800" b="0" i="0" dirty="0" smtClean="0">
                          <a:solidFill>
                            <a:schemeClr val="bg1"/>
                          </a:solidFill>
                          <a:effectLst/>
                          <a:latin typeface="+mn-lt"/>
                        </a:rPr>
                        <a:t>                 sales </a:t>
                      </a:r>
                      <a:r>
                        <a:rPr lang="en-US" sz="1800" b="0" i="0" dirty="0">
                          <a:solidFill>
                            <a:schemeClr val="bg1"/>
                          </a:solidFill>
                          <a:effectLst/>
                          <a:latin typeface="+mn-lt"/>
                        </a:rPr>
                        <a:t>alert). </a:t>
                      </a:r>
                      <a:r>
                        <a:rPr lang="en-US" sz="1800" b="0" i="0" u="none" strike="noStrike" dirty="0">
                          <a:solidFill>
                            <a:schemeClr val="bg1"/>
                          </a:solidFill>
                          <a:effectLst/>
                          <a:latin typeface="+mn-lt"/>
                          <a:hlinkClick r:id="rId7"/>
                        </a:rPr>
                        <a:t>[zapier.com]</a:t>
                      </a:r>
                      <a:r>
                        <a:rPr lang="en-US" sz="1800" b="0" i="0" dirty="0">
                          <a:solidFill>
                            <a:schemeClr val="bg1"/>
                          </a:solidFill>
                          <a:effectLst/>
                          <a:latin typeface="+mn-lt"/>
                        </a:rPr>
                        <a:t>, </a:t>
                      </a:r>
                      <a:r>
                        <a:rPr lang="en-US" sz="1800" b="0" i="0" u="none" strike="noStrike" dirty="0">
                          <a:solidFill>
                            <a:schemeClr val="bg1"/>
                          </a:solidFill>
                          <a:effectLst/>
                          <a:latin typeface="+mn-lt"/>
                          <a:hlinkClick r:id="rId3"/>
                        </a:rPr>
                        <a:t>[zapier.com]</a:t>
                      </a:r>
                      <a:endParaRPr lang="en-US" sz="1800" b="0" i="0" dirty="0">
                        <a:solidFill>
                          <a:schemeClr val="bg1"/>
                        </a:solidFill>
                        <a:effectLst/>
                        <a:latin typeface="+mn-lt"/>
                      </a:endParaRPr>
                    </a:p>
                  </a:txBody>
                  <a:tcP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chemeClr val="tx1"/>
                    </a:solidFill>
                  </a:tcPr>
                </a:tc>
              </a:tr>
              <a:tr h="0">
                <a:tc>
                  <a:txBody>
                    <a:bodyPr/>
                    <a:lstStyle/>
                    <a:p>
                      <a:pPr marL="285750" indent="-285750">
                        <a:buFont typeface="Wingdings" panose="05000000000000000000" pitchFamily="2" charset="2"/>
                        <a:buChar char="q"/>
                      </a:pPr>
                      <a:endParaRPr lang="en-US" dirty="0">
                        <a:latin typeface="+mn-lt"/>
                      </a:endParaRPr>
                    </a:p>
                  </a:txBody>
                  <a:tcPr>
                    <a:lnT w="9525" cap="flat" cmpd="sng" algn="ctr">
                      <a:solidFill>
                        <a:srgbClr val="E6E6E6"/>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41963576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7" name="직사각형 26">
            <a:extLst>
              <a:ext uri="{FF2B5EF4-FFF2-40B4-BE49-F238E27FC236}">
                <a16:creationId xmlns:a16="http://schemas.microsoft.com/office/drawing/2014/main" xmlns="" id="{8D122637-2F9F-4D6D-B650-CED44ECF1A91}"/>
              </a:ext>
            </a:extLst>
          </p:cNvPr>
          <p:cNvSpPr/>
          <p:nvPr/>
        </p:nvSpPr>
        <p:spPr>
          <a:xfrm>
            <a:off x="0" y="0"/>
            <a:ext cx="461500" cy="50078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9" name="직선 연결선 28">
            <a:extLst>
              <a:ext uri="{FF2B5EF4-FFF2-40B4-BE49-F238E27FC236}">
                <a16:creationId xmlns:a16="http://schemas.microsoft.com/office/drawing/2014/main" xmlns="" id="{2AA171E4-1F6F-41A4-B104-0EFC14B58D33}"/>
              </a:ext>
            </a:extLst>
          </p:cNvPr>
          <p:cNvCxnSpPr>
            <a:cxnSpLocks/>
            <a:stCxn id="27" idx="0"/>
          </p:cNvCxnSpPr>
          <p:nvPr/>
        </p:nvCxnSpPr>
        <p:spPr>
          <a:xfrm flipH="1">
            <a:off x="212613" y="0"/>
            <a:ext cx="18137" cy="922020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xmlns="" id="{B5061A88-7C4D-45A8-89EA-77CDE39728FC}"/>
              </a:ext>
            </a:extLst>
          </p:cNvPr>
          <p:cNvCxnSpPr>
            <a:cxnSpLocks/>
          </p:cNvCxnSpPr>
          <p:nvPr/>
        </p:nvCxnSpPr>
        <p:spPr>
          <a:xfrm>
            <a:off x="0" y="563933"/>
            <a:ext cx="685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2"/>
          <a:stretch>
            <a:fillRect/>
          </a:stretch>
        </p:blipFill>
        <p:spPr>
          <a:xfrm>
            <a:off x="0" y="7358743"/>
            <a:ext cx="6858000" cy="1785257"/>
          </a:xfrm>
          <a:prstGeom prst="rect">
            <a:avLst/>
          </a:prstGeom>
        </p:spPr>
      </p:pic>
      <p:sp>
        <p:nvSpPr>
          <p:cNvPr id="2" name="Rectangle 1"/>
          <p:cNvSpPr/>
          <p:nvPr/>
        </p:nvSpPr>
        <p:spPr>
          <a:xfrm>
            <a:off x="461500" y="107516"/>
            <a:ext cx="3809761" cy="461665"/>
          </a:xfrm>
          <a:prstGeom prst="rect">
            <a:avLst/>
          </a:prstGeom>
        </p:spPr>
        <p:txBody>
          <a:bodyPr wrap="none">
            <a:spAutoFit/>
          </a:bodyPr>
          <a:lstStyle/>
          <a:p>
            <a:r>
              <a:rPr lang="en-US" sz="2400" b="1" dirty="0">
                <a:solidFill>
                  <a:schemeClr val="bg1"/>
                </a:solidFill>
              </a:rPr>
              <a:t>🗺️ </a:t>
            </a:r>
            <a:r>
              <a:rPr lang="en-US" sz="2400" b="1" dirty="0" err="1">
                <a:solidFill>
                  <a:schemeClr val="bg1"/>
                </a:solidFill>
              </a:rPr>
              <a:t>Zapier</a:t>
            </a:r>
            <a:r>
              <a:rPr lang="en-US" sz="2400" b="1" dirty="0">
                <a:solidFill>
                  <a:schemeClr val="bg1"/>
                </a:solidFill>
              </a:rPr>
              <a:t> </a:t>
            </a:r>
            <a:r>
              <a:rPr lang="en-US" sz="2400" b="1" dirty="0" smtClean="0">
                <a:solidFill>
                  <a:schemeClr val="bg1"/>
                </a:solidFill>
              </a:rPr>
              <a:t>Agents – Part - 2</a:t>
            </a:r>
            <a:endParaRPr lang="en-US" sz="2400" dirty="0">
              <a:solidFill>
                <a:schemeClr val="bg1"/>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405375950"/>
              </p:ext>
            </p:extLst>
          </p:nvPr>
        </p:nvGraphicFramePr>
        <p:xfrm>
          <a:off x="471488" y="610940"/>
          <a:ext cx="6386512" cy="7520940"/>
        </p:xfrm>
        <a:graphic>
          <a:graphicData uri="http://schemas.openxmlformats.org/drawingml/2006/table">
            <a:tbl>
              <a:tblPr/>
              <a:tblGrid>
                <a:gridCol w="6386512"/>
              </a:tblGrid>
              <a:tr h="0">
                <a:tc>
                  <a:txBody>
                    <a:bodyPr/>
                    <a:lstStyle/>
                    <a:p>
                      <a:pPr marL="285750" indent="-285750" fontAlgn="t">
                        <a:buFont typeface="Wingdings" panose="05000000000000000000" pitchFamily="2" charset="2"/>
                        <a:buChar char="q"/>
                      </a:pPr>
                      <a:r>
                        <a:rPr lang="en-US" sz="1800" b="1" i="0" dirty="0">
                          <a:solidFill>
                            <a:schemeClr val="bg1"/>
                          </a:solidFill>
                          <a:effectLst/>
                          <a:latin typeface="+mn-lt"/>
                        </a:rPr>
                        <a:t>Access live knowledge</a:t>
                      </a:r>
                      <a:r>
                        <a:rPr lang="en-US" sz="1800" b="0" i="0" dirty="0">
                          <a:solidFill>
                            <a:schemeClr val="bg1"/>
                          </a:solidFill>
                          <a:effectLst/>
                          <a:latin typeface="+mn-lt"/>
                        </a:rPr>
                        <a:t>: connect agents to Box, Dropbox, </a:t>
                      </a:r>
                      <a:r>
                        <a:rPr lang="en-US" sz="1800" b="0" i="0" dirty="0" smtClean="0">
                          <a:solidFill>
                            <a:schemeClr val="bg1"/>
                          </a:solidFill>
                          <a:effectLst/>
                          <a:latin typeface="+mn-lt"/>
                        </a:rPr>
                        <a:t>                    Google </a:t>
                      </a:r>
                      <a:r>
                        <a:rPr lang="en-US" sz="1800" b="0" i="0" dirty="0">
                          <a:solidFill>
                            <a:schemeClr val="bg1"/>
                          </a:solidFill>
                          <a:effectLst/>
                          <a:latin typeface="+mn-lt"/>
                        </a:rPr>
                        <a:t>Drive, and Tables so they can consume and act on </a:t>
                      </a:r>
                      <a:r>
                        <a:rPr lang="en-US" sz="1800" b="0" i="0" dirty="0" smtClean="0">
                          <a:solidFill>
                            <a:schemeClr val="bg1"/>
                          </a:solidFill>
                          <a:effectLst/>
                          <a:latin typeface="+mn-lt"/>
                        </a:rPr>
                        <a:t>              real-time </a:t>
                      </a:r>
                      <a:r>
                        <a:rPr lang="en-US" sz="1800" b="0" i="0" dirty="0">
                          <a:solidFill>
                            <a:schemeClr val="bg1"/>
                          </a:solidFill>
                          <a:effectLst/>
                          <a:latin typeface="+mn-lt"/>
                        </a:rPr>
                        <a:t>data. </a:t>
                      </a:r>
                      <a:r>
                        <a:rPr lang="en-US" sz="1800" b="0" i="0" u="none" strike="noStrike" dirty="0">
                          <a:solidFill>
                            <a:schemeClr val="bg1"/>
                          </a:solidFill>
                          <a:effectLst/>
                          <a:latin typeface="+mn-lt"/>
                          <a:hlinkClick r:id="rId3"/>
                        </a:rPr>
                        <a:t>[zapier.com]</a:t>
                      </a:r>
                      <a:r>
                        <a:rPr lang="en-US" sz="1800" b="0" i="0" dirty="0">
                          <a:solidFill>
                            <a:schemeClr val="bg1"/>
                          </a:solidFill>
                          <a:effectLst/>
                          <a:latin typeface="+mn-lt"/>
                        </a:rPr>
                        <a:t>, </a:t>
                      </a:r>
                      <a:r>
                        <a:rPr lang="en-US" sz="1800" b="0" i="0" u="none" strike="noStrike" dirty="0">
                          <a:solidFill>
                            <a:schemeClr val="bg1"/>
                          </a:solidFill>
                          <a:effectLst/>
                          <a:latin typeface="+mn-lt"/>
                          <a:hlinkClick r:id="rId4"/>
                        </a:rPr>
                        <a:t>[zapier.com]</a:t>
                      </a:r>
                      <a:endParaRPr lang="en-US" sz="1800" b="0" i="0" dirty="0">
                        <a:solidFill>
                          <a:schemeClr val="bg1"/>
                        </a:solidFill>
                        <a:effectLst/>
                        <a:latin typeface="+mn-lt"/>
                      </a:endParaRPr>
                    </a:p>
                    <a:p>
                      <a:pPr marL="285750" indent="-285750" fontAlgn="t">
                        <a:buFont typeface="Wingdings" panose="05000000000000000000" pitchFamily="2" charset="2"/>
                        <a:buChar char="q"/>
                      </a:pPr>
                      <a:r>
                        <a:rPr lang="en-US" sz="1800" b="1" i="0" dirty="0">
                          <a:solidFill>
                            <a:schemeClr val="bg1"/>
                          </a:solidFill>
                          <a:effectLst/>
                          <a:latin typeface="+mn-lt"/>
                        </a:rPr>
                        <a:t>Use AI and business data together</a:t>
                      </a:r>
                      <a:r>
                        <a:rPr lang="en-US" sz="1800" b="0" i="0" dirty="0">
                          <a:solidFill>
                            <a:schemeClr val="bg1"/>
                          </a:solidFill>
                          <a:effectLst/>
                          <a:latin typeface="+mn-lt"/>
                        </a:rPr>
                        <a:t>: enrich new leads by </a:t>
                      </a:r>
                      <a:r>
                        <a:rPr lang="en-US" sz="1800" b="0" i="0" dirty="0" smtClean="0">
                          <a:solidFill>
                            <a:schemeClr val="bg1"/>
                          </a:solidFill>
                          <a:effectLst/>
                          <a:latin typeface="+mn-lt"/>
                        </a:rPr>
                        <a:t>                              combining </a:t>
                      </a:r>
                      <a:r>
                        <a:rPr lang="en-US" sz="1800" b="0" i="0" dirty="0">
                          <a:solidFill>
                            <a:schemeClr val="bg1"/>
                          </a:solidFill>
                          <a:effectLst/>
                          <a:latin typeface="+mn-lt"/>
                        </a:rPr>
                        <a:t>prompts with live app data (e.g., CRM records). </a:t>
                      </a:r>
                      <a:r>
                        <a:rPr lang="en-US" sz="1800" b="0" i="0" u="none" strike="noStrike" dirty="0">
                          <a:solidFill>
                            <a:schemeClr val="bg1"/>
                          </a:solidFill>
                          <a:effectLst/>
                          <a:latin typeface="+mn-lt"/>
                          <a:hlinkClick r:id="rId4"/>
                        </a:rPr>
                        <a:t>[zapier.com]</a:t>
                      </a:r>
                      <a:r>
                        <a:rPr lang="en-US" sz="1800" b="0" i="0" dirty="0">
                          <a:solidFill>
                            <a:schemeClr val="bg1"/>
                          </a:solidFill>
                          <a:effectLst/>
                          <a:latin typeface="+mn-lt"/>
                        </a:rPr>
                        <a:t>, </a:t>
                      </a:r>
                      <a:r>
                        <a:rPr lang="en-US" sz="1800" b="0" i="0" u="none" strike="noStrike" dirty="0">
                          <a:solidFill>
                            <a:schemeClr val="bg1"/>
                          </a:solidFill>
                          <a:effectLst/>
                          <a:latin typeface="+mn-lt"/>
                          <a:hlinkClick r:id="rId5"/>
                        </a:rPr>
                        <a:t>[zapier.com]</a:t>
                      </a:r>
                      <a:endParaRPr lang="en-US" sz="1800" b="0" i="0" dirty="0">
                        <a:solidFill>
                          <a:schemeClr val="bg1"/>
                        </a:solidFill>
                        <a:effectLst/>
                        <a:latin typeface="+mn-lt"/>
                      </a:endParaRPr>
                    </a:p>
                    <a:p>
                      <a:pPr marL="285750" indent="-285750" fontAlgn="t">
                        <a:buFont typeface="Wingdings" panose="05000000000000000000" pitchFamily="2" charset="2"/>
                        <a:buChar char="q"/>
                      </a:pPr>
                      <a:r>
                        <a:rPr lang="en-US" sz="1800" b="1" i="0" dirty="0">
                          <a:solidFill>
                            <a:schemeClr val="bg1"/>
                          </a:solidFill>
                          <a:effectLst/>
                          <a:latin typeface="+mn-lt"/>
                        </a:rPr>
                        <a:t>Interactive editing via Copilot</a:t>
                      </a:r>
                      <a:r>
                        <a:rPr lang="en-US" sz="1800" b="0" i="0" dirty="0">
                          <a:solidFill>
                            <a:schemeClr val="bg1"/>
                          </a:solidFill>
                          <a:effectLst/>
                          <a:latin typeface="+mn-lt"/>
                        </a:rPr>
                        <a:t>: fine-tune agent behavior in-app using </a:t>
                      </a:r>
                      <a:r>
                        <a:rPr lang="en-US" sz="1800" b="0" i="0" dirty="0" err="1">
                          <a:solidFill>
                            <a:schemeClr val="bg1"/>
                          </a:solidFill>
                          <a:effectLst/>
                          <a:latin typeface="+mn-lt"/>
                        </a:rPr>
                        <a:t>Zapier’s</a:t>
                      </a:r>
                      <a:r>
                        <a:rPr lang="en-US" sz="1800" b="0" i="0" dirty="0">
                          <a:solidFill>
                            <a:schemeClr val="bg1"/>
                          </a:solidFill>
                          <a:effectLst/>
                          <a:latin typeface="+mn-lt"/>
                        </a:rPr>
                        <a:t> Copilot assistant. </a:t>
                      </a:r>
                      <a:r>
                        <a:rPr lang="en-US" sz="1800" b="0" i="0" u="none" strike="noStrike" dirty="0">
                          <a:solidFill>
                            <a:schemeClr val="bg1"/>
                          </a:solidFill>
                          <a:effectLst/>
                          <a:latin typeface="+mn-lt"/>
                          <a:hlinkClick r:id="rId6"/>
                        </a:rPr>
                        <a:t>[help.zapier.com]</a:t>
                      </a:r>
                      <a:r>
                        <a:rPr lang="en-US" sz="1800" b="0" i="0" dirty="0">
                          <a:solidFill>
                            <a:schemeClr val="bg1"/>
                          </a:solidFill>
                          <a:effectLst/>
                          <a:latin typeface="+mn-lt"/>
                        </a:rPr>
                        <a:t>, </a:t>
                      </a:r>
                      <a:r>
                        <a:rPr lang="en-US" sz="1800" b="0" i="0" u="none" strike="noStrike" dirty="0">
                          <a:solidFill>
                            <a:schemeClr val="bg1"/>
                          </a:solidFill>
                          <a:effectLst/>
                          <a:latin typeface="+mn-lt"/>
                          <a:hlinkClick r:id="rId3"/>
                        </a:rPr>
                        <a:t>[zapier.com]</a:t>
                      </a:r>
                      <a:endParaRPr lang="en-US" sz="1800" b="0" i="0" dirty="0">
                        <a:solidFill>
                          <a:schemeClr val="bg1"/>
                        </a:solidFill>
                        <a:effectLst/>
                        <a:latin typeface="+mn-lt"/>
                      </a:endParaRPr>
                    </a:p>
                    <a:p>
                      <a:pPr marL="285750" indent="-285750" fontAlgn="t">
                        <a:buFont typeface="Wingdings" panose="05000000000000000000" pitchFamily="2" charset="2"/>
                        <a:buChar char="q"/>
                      </a:pPr>
                      <a:r>
                        <a:rPr lang="en-US" sz="1800" b="1" i="0" dirty="0">
                          <a:solidFill>
                            <a:schemeClr val="bg1"/>
                          </a:solidFill>
                          <a:effectLst/>
                          <a:latin typeface="+mn-lt"/>
                        </a:rPr>
                        <a:t>No-code setup</a:t>
                      </a:r>
                      <a:r>
                        <a:rPr lang="en-US" sz="1800" b="0" i="0" dirty="0">
                          <a:solidFill>
                            <a:schemeClr val="bg1"/>
                          </a:solidFill>
                          <a:effectLst/>
                          <a:latin typeface="+mn-lt"/>
                        </a:rPr>
                        <a:t>: build agents in minutes—select template or </a:t>
                      </a:r>
                      <a:r>
                        <a:rPr lang="en-US" sz="1800" b="0" i="0" dirty="0" smtClean="0">
                          <a:solidFill>
                            <a:schemeClr val="bg1"/>
                          </a:solidFill>
                          <a:effectLst/>
                          <a:latin typeface="+mn-lt"/>
                        </a:rPr>
                        <a:t>                       write </a:t>
                      </a:r>
                      <a:r>
                        <a:rPr lang="en-US" sz="1800" b="0" i="0" dirty="0">
                          <a:solidFill>
                            <a:schemeClr val="bg1"/>
                          </a:solidFill>
                          <a:effectLst/>
                          <a:latin typeface="+mn-lt"/>
                        </a:rPr>
                        <a:t>simple instructions, connect apps, and enable. </a:t>
                      </a:r>
                      <a:r>
                        <a:rPr lang="en-US" sz="1800" b="0" i="0" u="none" strike="noStrike" dirty="0">
                          <a:solidFill>
                            <a:schemeClr val="bg1"/>
                          </a:solidFill>
                          <a:effectLst/>
                          <a:latin typeface="+mn-lt"/>
                          <a:hlinkClick r:id="rId6"/>
                        </a:rPr>
                        <a:t>[help.zapier.com]</a:t>
                      </a:r>
                      <a:r>
                        <a:rPr lang="en-US" sz="1800" b="0" i="0" dirty="0">
                          <a:solidFill>
                            <a:schemeClr val="bg1"/>
                          </a:solidFill>
                          <a:effectLst/>
                          <a:latin typeface="+mn-lt"/>
                        </a:rPr>
                        <a:t>, </a:t>
                      </a:r>
                      <a:r>
                        <a:rPr lang="en-US" sz="1800" b="0" i="0" u="none" strike="noStrike" dirty="0">
                          <a:solidFill>
                            <a:schemeClr val="bg1"/>
                          </a:solidFill>
                          <a:effectLst/>
                          <a:latin typeface="+mn-lt"/>
                          <a:hlinkClick r:id="rId4"/>
                        </a:rPr>
                        <a:t>[zapier.com]</a:t>
                      </a:r>
                      <a:endParaRPr lang="en-US" sz="1800" b="0" i="0" dirty="0">
                        <a:solidFill>
                          <a:schemeClr val="bg1"/>
                        </a:solidFill>
                        <a:effectLst/>
                        <a:latin typeface="+mn-lt"/>
                      </a:endParaRPr>
                    </a:p>
                    <a:p>
                      <a:pPr marL="285750" indent="-285750" fontAlgn="t">
                        <a:buFont typeface="Wingdings" panose="05000000000000000000" pitchFamily="2" charset="2"/>
                        <a:buChar char="q"/>
                      </a:pPr>
                      <a:r>
                        <a:rPr lang="en-US" sz="1800" b="1" i="0" dirty="0">
                          <a:solidFill>
                            <a:schemeClr val="bg1"/>
                          </a:solidFill>
                          <a:effectLst/>
                          <a:latin typeface="+mn-lt"/>
                        </a:rPr>
                        <a:t>Support various use cases</a:t>
                      </a:r>
                      <a:r>
                        <a:rPr lang="en-US" sz="1800" b="0" i="0" dirty="0">
                          <a:solidFill>
                            <a:schemeClr val="bg1"/>
                          </a:solidFill>
                          <a:effectLst/>
                          <a:latin typeface="+mn-lt"/>
                        </a:rPr>
                        <a:t>, such as: </a:t>
                      </a:r>
                    </a:p>
                    <a:p>
                      <a:pPr marL="742950" lvl="1" indent="-285750" fontAlgn="t">
                        <a:buFont typeface="Wingdings" panose="05000000000000000000" pitchFamily="2" charset="2"/>
                        <a:buChar char="q"/>
                      </a:pPr>
                      <a:r>
                        <a:rPr lang="en-US" sz="1800" b="1" i="0" dirty="0">
                          <a:solidFill>
                            <a:schemeClr val="bg1"/>
                          </a:solidFill>
                          <a:effectLst/>
                          <a:latin typeface="+mn-lt"/>
                        </a:rPr>
                        <a:t>Lead qualification</a:t>
                      </a:r>
                      <a:r>
                        <a:rPr lang="en-US" sz="1800" b="0" i="0" dirty="0">
                          <a:solidFill>
                            <a:schemeClr val="bg1"/>
                          </a:solidFill>
                          <a:effectLst/>
                          <a:latin typeface="+mn-lt"/>
                        </a:rPr>
                        <a:t>: read form data, score leads, send alerts. </a:t>
                      </a:r>
                      <a:r>
                        <a:rPr lang="en-US" sz="1800" b="0" i="0" u="none" strike="noStrike" dirty="0">
                          <a:solidFill>
                            <a:schemeClr val="bg1"/>
                          </a:solidFill>
                          <a:effectLst/>
                          <a:latin typeface="+mn-lt"/>
                          <a:hlinkClick r:id="rId5"/>
                        </a:rPr>
                        <a:t>[zapier.com]</a:t>
                      </a:r>
                      <a:r>
                        <a:rPr lang="en-US" sz="1800" b="0" i="0" dirty="0">
                          <a:solidFill>
                            <a:schemeClr val="bg1"/>
                          </a:solidFill>
                          <a:effectLst/>
                          <a:latin typeface="+mn-lt"/>
                        </a:rPr>
                        <a:t>, </a:t>
                      </a:r>
                      <a:r>
                        <a:rPr lang="en-US" sz="1800" b="0" i="0" u="none" strike="noStrike" dirty="0">
                          <a:solidFill>
                            <a:schemeClr val="bg1"/>
                          </a:solidFill>
                          <a:effectLst/>
                          <a:latin typeface="+mn-lt"/>
                          <a:hlinkClick r:id="rId4"/>
                        </a:rPr>
                        <a:t>[zapier.com]</a:t>
                      </a:r>
                      <a:endParaRPr lang="en-US" sz="1800" b="0" i="0" dirty="0">
                        <a:solidFill>
                          <a:schemeClr val="bg1"/>
                        </a:solidFill>
                        <a:effectLst/>
                        <a:latin typeface="+mn-lt"/>
                      </a:endParaRPr>
                    </a:p>
                    <a:p>
                      <a:pPr marL="742950" lvl="1" indent="-285750" fontAlgn="t">
                        <a:buFont typeface="Wingdings" panose="05000000000000000000" pitchFamily="2" charset="2"/>
                        <a:buChar char="q"/>
                      </a:pPr>
                      <a:r>
                        <a:rPr lang="en-US" sz="1800" b="1" i="0" dirty="0">
                          <a:solidFill>
                            <a:schemeClr val="bg1"/>
                          </a:solidFill>
                          <a:effectLst/>
                          <a:latin typeface="+mn-lt"/>
                        </a:rPr>
                        <a:t>Content creation</a:t>
                      </a:r>
                      <a:r>
                        <a:rPr lang="en-US" sz="1800" b="0" i="0" dirty="0">
                          <a:solidFill>
                            <a:schemeClr val="bg1"/>
                          </a:solidFill>
                          <a:effectLst/>
                          <a:latin typeface="+mn-lt"/>
                        </a:rPr>
                        <a:t>: research, script, compile go-to-market </a:t>
                      </a:r>
                      <a:r>
                        <a:rPr lang="en-US" sz="1800" b="0" i="0" dirty="0" smtClean="0">
                          <a:solidFill>
                            <a:schemeClr val="bg1"/>
                          </a:solidFill>
                          <a:effectLst/>
                          <a:latin typeface="+mn-lt"/>
                        </a:rPr>
                        <a:t>                   assets</a:t>
                      </a:r>
                      <a:r>
                        <a:rPr lang="en-US" sz="1800" b="0" i="0" dirty="0">
                          <a:solidFill>
                            <a:schemeClr val="bg1"/>
                          </a:solidFill>
                          <a:effectLst/>
                          <a:latin typeface="+mn-lt"/>
                        </a:rPr>
                        <a:t>. </a:t>
                      </a:r>
                      <a:r>
                        <a:rPr lang="en-US" sz="1800" b="0" i="0" u="none" strike="noStrike" dirty="0">
                          <a:solidFill>
                            <a:schemeClr val="bg1"/>
                          </a:solidFill>
                          <a:effectLst/>
                          <a:latin typeface="+mn-lt"/>
                          <a:hlinkClick r:id="rId5"/>
                        </a:rPr>
                        <a:t>[zapier.com]</a:t>
                      </a:r>
                      <a:r>
                        <a:rPr lang="en-US" sz="1800" b="0" i="0" dirty="0">
                          <a:solidFill>
                            <a:schemeClr val="bg1"/>
                          </a:solidFill>
                          <a:effectLst/>
                          <a:latin typeface="+mn-lt"/>
                        </a:rPr>
                        <a:t>, </a:t>
                      </a:r>
                      <a:r>
                        <a:rPr lang="en-US" sz="1800" b="0" i="0" u="none" strike="noStrike" dirty="0">
                          <a:solidFill>
                            <a:schemeClr val="bg1"/>
                          </a:solidFill>
                          <a:effectLst/>
                          <a:latin typeface="+mn-lt"/>
                          <a:hlinkClick r:id="rId4"/>
                        </a:rPr>
                        <a:t>[zapier.com]</a:t>
                      </a:r>
                      <a:endParaRPr lang="en-US" sz="1800" b="0" i="0" dirty="0">
                        <a:solidFill>
                          <a:schemeClr val="bg1"/>
                        </a:solidFill>
                        <a:effectLst/>
                        <a:latin typeface="+mn-lt"/>
                      </a:endParaRPr>
                    </a:p>
                    <a:p>
                      <a:pPr marL="742950" lvl="1" indent="-285750" fontAlgn="t">
                        <a:buFont typeface="Wingdings" panose="05000000000000000000" pitchFamily="2" charset="2"/>
                        <a:buChar char="q"/>
                      </a:pPr>
                      <a:r>
                        <a:rPr lang="en-US" sz="1800" b="1" i="0" dirty="0">
                          <a:solidFill>
                            <a:schemeClr val="bg1"/>
                          </a:solidFill>
                          <a:effectLst/>
                          <a:latin typeface="+mn-lt"/>
                        </a:rPr>
                        <a:t>Support automation</a:t>
                      </a:r>
                      <a:r>
                        <a:rPr lang="en-US" sz="1800" b="0" i="0" dirty="0">
                          <a:solidFill>
                            <a:schemeClr val="bg1"/>
                          </a:solidFill>
                          <a:effectLst/>
                          <a:latin typeface="+mn-lt"/>
                        </a:rPr>
                        <a:t>: draft responses, triage tickets, </a:t>
                      </a:r>
                      <a:r>
                        <a:rPr lang="en-US" sz="1800" b="0" i="0" dirty="0" smtClean="0">
                          <a:solidFill>
                            <a:schemeClr val="bg1"/>
                          </a:solidFill>
                          <a:effectLst/>
                          <a:latin typeface="+mn-lt"/>
                        </a:rPr>
                        <a:t>                          summarize </a:t>
                      </a:r>
                      <a:r>
                        <a:rPr lang="en-US" sz="1800" b="0" i="0" dirty="0">
                          <a:solidFill>
                            <a:schemeClr val="bg1"/>
                          </a:solidFill>
                          <a:effectLst/>
                          <a:latin typeface="+mn-lt"/>
                        </a:rPr>
                        <a:t>threads. </a:t>
                      </a:r>
                      <a:r>
                        <a:rPr lang="en-US" sz="1800" b="0" i="0" u="none" strike="noStrike" dirty="0">
                          <a:solidFill>
                            <a:schemeClr val="bg1"/>
                          </a:solidFill>
                          <a:effectLst/>
                          <a:latin typeface="+mn-lt"/>
                          <a:hlinkClick r:id="rId5"/>
                        </a:rPr>
                        <a:t>[zapier.com]</a:t>
                      </a:r>
                      <a:r>
                        <a:rPr lang="en-US" sz="1800" b="0" i="0" dirty="0">
                          <a:solidFill>
                            <a:schemeClr val="bg1"/>
                          </a:solidFill>
                          <a:effectLst/>
                          <a:latin typeface="+mn-lt"/>
                        </a:rPr>
                        <a:t>, </a:t>
                      </a:r>
                      <a:r>
                        <a:rPr lang="en-US" sz="1800" b="0" i="0" u="none" strike="noStrike" dirty="0">
                          <a:solidFill>
                            <a:schemeClr val="bg1"/>
                          </a:solidFill>
                          <a:effectLst/>
                          <a:latin typeface="+mn-lt"/>
                          <a:hlinkClick r:id="rId4"/>
                        </a:rPr>
                        <a:t>[zapier.com]</a:t>
                      </a:r>
                      <a:endParaRPr lang="en-US" sz="1800" b="0" i="0" dirty="0">
                        <a:solidFill>
                          <a:schemeClr val="bg1"/>
                        </a:solidFill>
                        <a:effectLst/>
                        <a:latin typeface="+mn-lt"/>
                      </a:endParaRPr>
                    </a:p>
                    <a:p>
                      <a:pPr marL="742950" lvl="1" indent="-285750" fontAlgn="t">
                        <a:buFont typeface="Wingdings" panose="05000000000000000000" pitchFamily="2" charset="2"/>
                        <a:buChar char="q"/>
                      </a:pPr>
                      <a:r>
                        <a:rPr lang="en-US" sz="1800" b="1" i="0" dirty="0">
                          <a:solidFill>
                            <a:schemeClr val="bg1"/>
                          </a:solidFill>
                          <a:effectLst/>
                          <a:latin typeface="+mn-lt"/>
                        </a:rPr>
                        <a:t>Meeting prep</a:t>
                      </a:r>
                      <a:r>
                        <a:rPr lang="en-US" sz="1800" b="0" i="0" dirty="0">
                          <a:solidFill>
                            <a:schemeClr val="bg1"/>
                          </a:solidFill>
                          <a:effectLst/>
                          <a:latin typeface="+mn-lt"/>
                        </a:rPr>
                        <a:t>: aggregate attendee info and generate </a:t>
                      </a:r>
                      <a:r>
                        <a:rPr lang="en-US" sz="1800" b="0" i="0" dirty="0" smtClean="0">
                          <a:solidFill>
                            <a:schemeClr val="bg1"/>
                          </a:solidFill>
                          <a:effectLst/>
                          <a:latin typeface="+mn-lt"/>
                        </a:rPr>
                        <a:t>                           briefing </a:t>
                      </a:r>
                      <a:r>
                        <a:rPr lang="en-US" sz="1800" b="0" i="0" dirty="0">
                          <a:solidFill>
                            <a:schemeClr val="bg1"/>
                          </a:solidFill>
                          <a:effectLst/>
                          <a:latin typeface="+mn-lt"/>
                        </a:rPr>
                        <a:t>docs. </a:t>
                      </a:r>
                      <a:r>
                        <a:rPr lang="en-US" sz="1800" b="0" i="0" u="none" strike="noStrike" dirty="0">
                          <a:solidFill>
                            <a:schemeClr val="bg1"/>
                          </a:solidFill>
                          <a:effectLst/>
                          <a:latin typeface="+mn-lt"/>
                          <a:hlinkClick r:id="rId5"/>
                        </a:rPr>
                        <a:t>[zapier.com]</a:t>
                      </a:r>
                      <a:r>
                        <a:rPr lang="en-US" sz="1800" b="0" i="0" dirty="0">
                          <a:solidFill>
                            <a:schemeClr val="bg1"/>
                          </a:solidFill>
                          <a:effectLst/>
                          <a:latin typeface="+mn-lt"/>
                        </a:rPr>
                        <a:t>, </a:t>
                      </a:r>
                      <a:r>
                        <a:rPr lang="en-US" sz="1800" b="0" i="0" u="none" strike="noStrike" dirty="0">
                          <a:solidFill>
                            <a:schemeClr val="bg1"/>
                          </a:solidFill>
                          <a:effectLst/>
                          <a:latin typeface="+mn-lt"/>
                          <a:hlinkClick r:id="rId4"/>
                        </a:rPr>
                        <a:t>[zapier.com]</a:t>
                      </a:r>
                      <a:endParaRPr lang="en-US" sz="1800" b="0" i="0" dirty="0">
                        <a:solidFill>
                          <a:schemeClr val="bg1"/>
                        </a:solidFill>
                        <a:effectLst/>
                        <a:latin typeface="+mn-lt"/>
                      </a:endParaRPr>
                    </a:p>
                    <a:p>
                      <a:pPr marL="285750" indent="-285750" fontAlgn="t">
                        <a:buFont typeface="Wingdings" panose="05000000000000000000" pitchFamily="2" charset="2"/>
                        <a:buChar char="q"/>
                      </a:pPr>
                      <a:r>
                        <a:rPr lang="en-US" sz="1800" b="1" i="0" dirty="0">
                          <a:solidFill>
                            <a:schemeClr val="bg1"/>
                          </a:solidFill>
                          <a:effectLst/>
                          <a:latin typeface="+mn-lt"/>
                        </a:rPr>
                        <a:t>Agent template gallery</a:t>
                      </a:r>
                      <a:r>
                        <a:rPr lang="en-US" sz="1800" b="0" i="0" dirty="0">
                          <a:solidFill>
                            <a:schemeClr val="bg1"/>
                          </a:solidFill>
                          <a:effectLst/>
                          <a:latin typeface="+mn-lt"/>
                        </a:rPr>
                        <a:t>: access community templates, </a:t>
                      </a:r>
                      <a:r>
                        <a:rPr lang="en-US" sz="1800" b="0" i="0" dirty="0" smtClean="0">
                          <a:solidFill>
                            <a:schemeClr val="bg1"/>
                          </a:solidFill>
                          <a:effectLst/>
                          <a:latin typeface="+mn-lt"/>
                        </a:rPr>
                        <a:t>                                   customize</a:t>
                      </a:r>
                      <a:r>
                        <a:rPr lang="en-US" sz="1800" b="0" i="0" dirty="0">
                          <a:solidFill>
                            <a:schemeClr val="bg1"/>
                          </a:solidFill>
                          <a:effectLst/>
                          <a:latin typeface="+mn-lt"/>
                        </a:rPr>
                        <a:t>, and deploy fast. </a:t>
                      </a:r>
                      <a:r>
                        <a:rPr lang="en-US" sz="1800" b="0" i="0" u="none" strike="noStrike" dirty="0">
                          <a:solidFill>
                            <a:schemeClr val="bg1"/>
                          </a:solidFill>
                          <a:effectLst/>
                          <a:latin typeface="+mn-lt"/>
                          <a:hlinkClick r:id="rId5"/>
                        </a:rPr>
                        <a:t>[zapier.com]</a:t>
                      </a:r>
                      <a:r>
                        <a:rPr lang="en-US" sz="1800" b="0" i="0" dirty="0">
                          <a:solidFill>
                            <a:schemeClr val="bg1"/>
                          </a:solidFill>
                          <a:effectLst/>
                          <a:latin typeface="+mn-lt"/>
                        </a:rPr>
                        <a:t>, </a:t>
                      </a:r>
                      <a:r>
                        <a:rPr lang="en-US" sz="1800" b="0" i="0" u="none" strike="noStrike" dirty="0">
                          <a:solidFill>
                            <a:schemeClr val="bg1"/>
                          </a:solidFill>
                          <a:effectLst/>
                          <a:latin typeface="+mn-lt"/>
                          <a:hlinkClick r:id="rId6"/>
                        </a:rPr>
                        <a:t>[help.zapier.com]</a:t>
                      </a:r>
                      <a:endParaRPr lang="en-US" sz="1800" b="0" i="0" dirty="0">
                        <a:solidFill>
                          <a:schemeClr val="bg1"/>
                        </a:solidFill>
                        <a:effectLst/>
                        <a:latin typeface="+mn-lt"/>
                      </a:endParaRPr>
                    </a:p>
                    <a:p>
                      <a:pPr marL="285750" indent="-285750" fontAlgn="t">
                        <a:buFont typeface="Wingdings" panose="05000000000000000000" pitchFamily="2" charset="2"/>
                        <a:buChar char="q"/>
                      </a:pPr>
                      <a:r>
                        <a:rPr lang="en-US" sz="1800" b="1" i="0" dirty="0">
                          <a:solidFill>
                            <a:schemeClr val="bg1"/>
                          </a:solidFill>
                          <a:effectLst/>
                          <a:latin typeface="+mn-lt"/>
                        </a:rPr>
                        <a:t>Manage agent tools</a:t>
                      </a:r>
                      <a:r>
                        <a:rPr lang="en-US" sz="1800" b="0" i="0" dirty="0">
                          <a:solidFill>
                            <a:schemeClr val="bg1"/>
                          </a:solidFill>
                          <a:effectLst/>
                          <a:latin typeface="+mn-lt"/>
                        </a:rPr>
                        <a:t>: connect or edit apps, actions, and </a:t>
                      </a:r>
                      <a:r>
                        <a:rPr lang="en-US" sz="1800" b="0" i="0" dirty="0" smtClean="0">
                          <a:solidFill>
                            <a:schemeClr val="bg1"/>
                          </a:solidFill>
                          <a:effectLst/>
                          <a:latin typeface="+mn-lt"/>
                        </a:rPr>
                        <a:t>                                  knowledge </a:t>
                      </a:r>
                      <a:r>
                        <a:rPr lang="en-US" sz="1800" b="0" i="0" dirty="0">
                          <a:solidFill>
                            <a:schemeClr val="bg1"/>
                          </a:solidFill>
                          <a:effectLst/>
                          <a:latin typeface="+mn-lt"/>
                        </a:rPr>
                        <a:t>sources anytime. </a:t>
                      </a:r>
                      <a:r>
                        <a:rPr lang="en-US" sz="1800" b="0" i="0" u="none" strike="noStrike" dirty="0">
                          <a:solidFill>
                            <a:schemeClr val="bg1"/>
                          </a:solidFill>
                          <a:effectLst/>
                          <a:latin typeface="+mn-lt"/>
                          <a:hlinkClick r:id="rId6"/>
                        </a:rPr>
                        <a:t>[help.zapier.com]</a:t>
                      </a:r>
                      <a:r>
                        <a:rPr lang="en-US" sz="1800" b="0" i="0" dirty="0">
                          <a:solidFill>
                            <a:schemeClr val="bg1"/>
                          </a:solidFill>
                          <a:effectLst/>
                          <a:latin typeface="+mn-lt"/>
                        </a:rPr>
                        <a:t>, </a:t>
                      </a:r>
                      <a:r>
                        <a:rPr lang="en-US" sz="1800" b="0" i="0" u="none" strike="noStrike" dirty="0">
                          <a:solidFill>
                            <a:schemeClr val="bg1"/>
                          </a:solidFill>
                          <a:effectLst/>
                          <a:latin typeface="+mn-lt"/>
                          <a:hlinkClick r:id="rId4"/>
                        </a:rPr>
                        <a:t>[zapier.com]</a:t>
                      </a:r>
                      <a:endParaRPr lang="en-US" sz="1800" b="0" i="0" dirty="0">
                        <a:solidFill>
                          <a:schemeClr val="bg1"/>
                        </a:solidFill>
                        <a:effectLst/>
                        <a:latin typeface="+mn-lt"/>
                      </a:endParaRPr>
                    </a:p>
                    <a:p>
                      <a:pPr marL="285750" indent="-285750" fontAlgn="t">
                        <a:buFont typeface="Wingdings" panose="05000000000000000000" pitchFamily="2" charset="2"/>
                        <a:buChar char="q"/>
                      </a:pPr>
                      <a:r>
                        <a:rPr lang="en-US" sz="1800" b="1" i="0" dirty="0">
                          <a:solidFill>
                            <a:schemeClr val="bg1"/>
                          </a:solidFill>
                          <a:effectLst/>
                          <a:latin typeface="+mn-lt"/>
                        </a:rPr>
                        <a:t>Agent lifecycle control</a:t>
                      </a:r>
                      <a:r>
                        <a:rPr lang="en-US" sz="1800" b="0" i="0" dirty="0">
                          <a:solidFill>
                            <a:schemeClr val="bg1"/>
                          </a:solidFill>
                          <a:effectLst/>
                          <a:latin typeface="+mn-lt"/>
                        </a:rPr>
                        <a:t>: disable or delete agents; activity logs </a:t>
                      </a:r>
                      <a:r>
                        <a:rPr lang="en-US" sz="1800" b="0" i="0" dirty="0" smtClean="0">
                          <a:solidFill>
                            <a:schemeClr val="bg1"/>
                          </a:solidFill>
                          <a:effectLst/>
                          <a:latin typeface="+mn-lt"/>
                        </a:rPr>
                        <a:t>                        and </a:t>
                      </a:r>
                      <a:r>
                        <a:rPr lang="en-US" sz="1800" b="0" i="0" dirty="0">
                          <a:solidFill>
                            <a:schemeClr val="bg1"/>
                          </a:solidFill>
                          <a:effectLst/>
                          <a:latin typeface="+mn-lt"/>
                        </a:rPr>
                        <a:t>history are maintained. </a:t>
                      </a:r>
                      <a:r>
                        <a:rPr lang="en-US" sz="1800" b="0" i="0" u="none" strike="noStrike" dirty="0">
                          <a:solidFill>
                            <a:schemeClr val="bg1"/>
                          </a:solidFill>
                          <a:effectLst/>
                          <a:latin typeface="+mn-lt"/>
                          <a:hlinkClick r:id="rId6"/>
                        </a:rPr>
                        <a:t>[help.zapier.com]</a:t>
                      </a:r>
                      <a:endParaRPr lang="en-US" sz="1800" b="0" i="0" dirty="0">
                        <a:solidFill>
                          <a:schemeClr val="bg1"/>
                        </a:solidFill>
                        <a:effectLst/>
                        <a:latin typeface="+mn-lt"/>
                      </a:endParaRPr>
                    </a:p>
                  </a:txBody>
                  <a:tcP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chemeClr val="tx1"/>
                    </a:solidFill>
                  </a:tcPr>
                </a:tc>
              </a:tr>
              <a:tr h="0">
                <a:tc>
                  <a:txBody>
                    <a:bodyPr/>
                    <a:lstStyle/>
                    <a:p>
                      <a:endParaRPr lang="en-US" dirty="0"/>
                    </a:p>
                  </a:txBody>
                  <a:tcPr>
                    <a:lnT w="9525" cap="flat" cmpd="sng" algn="ctr">
                      <a:solidFill>
                        <a:srgbClr val="E6E6E6"/>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40959693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7" name="직사각형 26">
            <a:extLst>
              <a:ext uri="{FF2B5EF4-FFF2-40B4-BE49-F238E27FC236}">
                <a16:creationId xmlns:a16="http://schemas.microsoft.com/office/drawing/2014/main" xmlns="" id="{8D122637-2F9F-4D6D-B650-CED44ECF1A91}"/>
              </a:ext>
            </a:extLst>
          </p:cNvPr>
          <p:cNvSpPr/>
          <p:nvPr/>
        </p:nvSpPr>
        <p:spPr>
          <a:xfrm>
            <a:off x="0" y="0"/>
            <a:ext cx="461500" cy="50078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9" name="직선 연결선 28">
            <a:extLst>
              <a:ext uri="{FF2B5EF4-FFF2-40B4-BE49-F238E27FC236}">
                <a16:creationId xmlns:a16="http://schemas.microsoft.com/office/drawing/2014/main" xmlns="" id="{2AA171E4-1F6F-41A4-B104-0EFC14B58D33}"/>
              </a:ext>
            </a:extLst>
          </p:cNvPr>
          <p:cNvCxnSpPr>
            <a:cxnSpLocks/>
            <a:stCxn id="27" idx="0"/>
          </p:cNvCxnSpPr>
          <p:nvPr/>
        </p:nvCxnSpPr>
        <p:spPr>
          <a:xfrm flipH="1">
            <a:off x="212613" y="0"/>
            <a:ext cx="18137" cy="922020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xmlns="" id="{B5061A88-7C4D-45A8-89EA-77CDE39728FC}"/>
              </a:ext>
            </a:extLst>
          </p:cNvPr>
          <p:cNvCxnSpPr>
            <a:cxnSpLocks/>
          </p:cNvCxnSpPr>
          <p:nvPr/>
        </p:nvCxnSpPr>
        <p:spPr>
          <a:xfrm>
            <a:off x="0" y="563933"/>
            <a:ext cx="685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2"/>
          <a:stretch>
            <a:fillRect/>
          </a:stretch>
        </p:blipFill>
        <p:spPr>
          <a:xfrm>
            <a:off x="0" y="7358743"/>
            <a:ext cx="6858000" cy="1785257"/>
          </a:xfrm>
          <a:prstGeom prst="rect">
            <a:avLst/>
          </a:prstGeom>
        </p:spPr>
      </p:pic>
      <p:sp>
        <p:nvSpPr>
          <p:cNvPr id="2" name="Rectangle 1"/>
          <p:cNvSpPr/>
          <p:nvPr/>
        </p:nvSpPr>
        <p:spPr>
          <a:xfrm>
            <a:off x="461500" y="107516"/>
            <a:ext cx="5811143" cy="461665"/>
          </a:xfrm>
          <a:prstGeom prst="rect">
            <a:avLst/>
          </a:prstGeom>
        </p:spPr>
        <p:txBody>
          <a:bodyPr wrap="none">
            <a:spAutoFit/>
          </a:bodyPr>
          <a:lstStyle/>
          <a:p>
            <a:r>
              <a:rPr lang="en-US" sz="2400" b="1" dirty="0">
                <a:solidFill>
                  <a:schemeClr val="bg1"/>
                </a:solidFill>
              </a:rPr>
              <a:t>🧠 </a:t>
            </a:r>
            <a:r>
              <a:rPr lang="en-US" sz="2400" b="1" dirty="0" err="1">
                <a:solidFill>
                  <a:schemeClr val="bg1"/>
                </a:solidFill>
              </a:rPr>
              <a:t>Zapier</a:t>
            </a:r>
            <a:r>
              <a:rPr lang="en-US" sz="2400" b="1" dirty="0">
                <a:solidFill>
                  <a:schemeClr val="bg1"/>
                </a:solidFill>
              </a:rPr>
              <a:t> Functions (code-first automation)</a:t>
            </a:r>
          </a:p>
        </p:txBody>
      </p:sp>
      <p:sp>
        <p:nvSpPr>
          <p:cNvPr id="5" name="Rectangle 2"/>
          <p:cNvSpPr>
            <a:spLocks noChangeArrowheads="1"/>
          </p:cNvSpPr>
          <p:nvPr/>
        </p:nvSpPr>
        <p:spPr bwMode="auto">
          <a:xfrm>
            <a:off x="514840" y="623683"/>
            <a:ext cx="6343160" cy="6740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600" b="1"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Beta stage</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 accessible via Early Access or Open Beta. </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hlinkClick r:id="rId3"/>
              </a:rPr>
              <a:t>[zapier.com]</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 </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hlinkClick r:id="rId4"/>
              </a:rPr>
              <a:t>[help.zapier.com]</a:t>
            </a:r>
            <a:endParaRPr kumimoji="0" lang="en-US" sz="1600" b="0" i="0" u="none" strike="noStrike" cap="none" normalizeH="0" baseline="0" dirty="0" smtClean="0">
              <a:ln>
                <a:noFill/>
              </a:ln>
              <a:solidFill>
                <a:schemeClr val="bg1"/>
              </a:solidFill>
              <a:effectLst/>
              <a:ea typeface="Calibri" panose="020F0502020204030204" pitchFamily="34"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600" b="1"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Ideal for developers</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 write workflows in </a:t>
            </a:r>
            <a:r>
              <a:rPr kumimoji="0" lang="en-US" sz="1600" b="1"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Python</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 (also JavaScript via Code by </a:t>
            </a:r>
            <a:r>
              <a:rPr kumimoji="0" lang="en-US" sz="1600" b="0" i="0" u="none" strike="noStrike" cap="none" normalizeH="0" baseline="0" dirty="0" err="1" smtClean="0">
                <a:ln>
                  <a:noFill/>
                </a:ln>
                <a:solidFill>
                  <a:schemeClr val="bg1"/>
                </a:solidFill>
                <a:effectLst/>
                <a:ea typeface="Calibri" panose="020F0502020204030204" pitchFamily="34" charset="0"/>
                <a:cs typeface="Segoe UI" panose="020B0502040204020203" pitchFamily="34" charset="0"/>
              </a:rPr>
              <a:t>Zapier</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 within a full IDE. </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hlinkClick r:id="rId3"/>
              </a:rPr>
              <a:t>[zapier.com]</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 </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hlinkClick r:id="rId5"/>
              </a:rPr>
              <a:t>[help.zapier.com]</a:t>
            </a:r>
            <a:endPar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sz="1600" b="0" i="0" u="none" strike="noStrike" cap="none" normalizeH="0" baseline="0" dirty="0" smtClean="0">
              <a:ln>
                <a:noFill/>
              </a:ln>
              <a:solidFill>
                <a:schemeClr val="bg1"/>
              </a:solidFill>
              <a:effectLst/>
              <a:ea typeface="Calibri" panose="020F0502020204030204" pitchFamily="34"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600" b="1"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Seamless integration</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 use functions in Zaps, Agents, or </a:t>
            </a:r>
            <a:r>
              <a:rPr kumimoji="0" lang="en-US" sz="1600" b="0" i="0" u="none" strike="noStrike" cap="none" normalizeH="0" baseline="0" dirty="0" err="1" smtClean="0">
                <a:ln>
                  <a:noFill/>
                </a:ln>
                <a:solidFill>
                  <a:schemeClr val="bg1"/>
                </a:solidFill>
                <a:effectLst/>
                <a:ea typeface="Calibri" panose="020F0502020204030204" pitchFamily="34" charset="0"/>
                <a:cs typeface="Segoe UI" panose="020B0502040204020203" pitchFamily="34" charset="0"/>
              </a:rPr>
              <a:t>Zapier’s</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 MCP servers. </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hlinkClick r:id="rId4"/>
              </a:rPr>
              <a:t>[help.zapier.com]</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 </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hlinkClick r:id="rId6"/>
              </a:rPr>
              <a:t>[help.zapier.com]</a:t>
            </a:r>
            <a:endPar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sz="1600" b="0" i="0" u="none" strike="noStrike" cap="none" normalizeH="0" baseline="0" dirty="0" smtClean="0">
              <a:ln>
                <a:noFill/>
              </a:ln>
              <a:solidFill>
                <a:schemeClr val="bg1"/>
              </a:solidFill>
              <a:effectLst/>
              <a:ea typeface="Calibri" panose="020F0502020204030204" pitchFamily="34"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600" b="1"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Rich inputs/outputs</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 define multiple triggers, input fields, and optional return data. </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hlinkClick r:id="rId4"/>
              </a:rPr>
              <a:t>[help.zapier.com]</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 </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hlinkClick r:id="rId6"/>
              </a:rPr>
              <a:t>[help.zapier.com]</a:t>
            </a:r>
            <a:endPar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sz="1600" b="0" i="0" u="none" strike="noStrike" cap="none" normalizeH="0" baseline="0" dirty="0" smtClean="0">
              <a:ln>
                <a:noFill/>
              </a:ln>
              <a:solidFill>
                <a:schemeClr val="bg1"/>
              </a:solidFill>
              <a:effectLst/>
              <a:ea typeface="Calibri" panose="020F0502020204030204" pitchFamily="34"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600" b="1"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Supports libraries &amp; secrets</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 install Python packages and manage API keys in a secure environment. </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hlinkClick r:id="rId4"/>
              </a:rPr>
              <a:t>[help.zapier.com]</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 </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hlinkClick r:id="rId7"/>
              </a:rPr>
              <a:t>[</a:t>
            </a:r>
            <a:r>
              <a:rPr kumimoji="0" lang="en-US" sz="1600" b="0" i="0" u="none" strike="noStrike" cap="none" normalizeH="0" baseline="0" dirty="0" err="1" smtClean="0">
                <a:ln>
                  <a:noFill/>
                </a:ln>
                <a:solidFill>
                  <a:schemeClr val="bg1"/>
                </a:solidFill>
                <a:effectLst/>
                <a:ea typeface="Calibri" panose="020F0502020204030204" pitchFamily="34" charset="0"/>
                <a:cs typeface="Segoe UI" panose="020B0502040204020203" pitchFamily="34" charset="0"/>
                <a:hlinkClick r:id="rId7"/>
              </a:rPr>
              <a:t>functions.zapier.app</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hlinkClick r:id="rId7"/>
              </a:rPr>
              <a:t>]</a:t>
            </a:r>
            <a:endPar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sz="1600" b="0" i="0" u="none" strike="noStrike" cap="none" normalizeH="0" baseline="0" dirty="0" smtClean="0">
              <a:ln>
                <a:noFill/>
              </a:ln>
              <a:solidFill>
                <a:schemeClr val="bg1"/>
              </a:solidFill>
              <a:effectLst/>
              <a:ea typeface="Calibri" panose="020F0502020204030204" pitchFamily="34"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600" b="1"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Data mapping &amp; auto-complete</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 use </a:t>
            </a:r>
            <a:r>
              <a:rPr kumimoji="0" lang="en-US" sz="1600" b="0" i="0" u="none" strike="noStrike" cap="none" normalizeH="0" baseline="0" dirty="0" err="1" smtClean="0">
                <a:ln>
                  <a:noFill/>
                </a:ln>
                <a:solidFill>
                  <a:schemeClr val="bg1"/>
                </a:solidFill>
                <a:effectLst/>
                <a:ea typeface="Calibri" panose="020F0502020204030204" pitchFamily="34" charset="0"/>
                <a:cs typeface="Courier New" panose="02070309020205020404" pitchFamily="49" charset="0"/>
              </a:rPr>
              <a:t>zapier.trigger_output</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 or </a:t>
            </a:r>
            <a:r>
              <a:rPr kumimoji="0" lang="en-US" sz="1600" b="0" i="0" u="none" strike="noStrike" cap="none" normalizeH="0" baseline="0" dirty="0" smtClean="0">
                <a:ln>
                  <a:noFill/>
                </a:ln>
                <a:solidFill>
                  <a:schemeClr val="bg1"/>
                </a:solidFill>
                <a:effectLst/>
                <a:ea typeface="Calibri" panose="020F0502020204030204" pitchFamily="34" charset="0"/>
                <a:cs typeface="Courier New" panose="02070309020205020404" pitchFamily="49" charset="0"/>
              </a:rPr>
              <a:t>zapier.action.*</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 with code editor hints. </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hlinkClick r:id="rId5"/>
              </a:rPr>
              <a:t>[help.zapier.com]</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 </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hlinkClick r:id="rId8"/>
              </a:rPr>
              <a:t>[help.zapier.com]</a:t>
            </a:r>
            <a:endPar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sz="1600" b="0" i="0" u="none" strike="noStrike" cap="none" normalizeH="0" baseline="0" dirty="0" smtClean="0">
              <a:ln>
                <a:noFill/>
              </a:ln>
              <a:solidFill>
                <a:schemeClr val="bg1"/>
              </a:solidFill>
              <a:effectLst/>
              <a:ea typeface="Calibri" panose="020F0502020204030204" pitchFamily="34"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600" b="1"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Debugging tools</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 use </a:t>
            </a:r>
            <a:r>
              <a:rPr kumimoji="0" lang="en-US" sz="1600" b="0" i="0" u="none" strike="noStrike" cap="none" normalizeH="0" baseline="0" dirty="0" smtClean="0">
                <a:ln>
                  <a:noFill/>
                </a:ln>
                <a:solidFill>
                  <a:schemeClr val="bg1"/>
                </a:solidFill>
                <a:effectLst/>
                <a:ea typeface="Calibri" panose="020F0502020204030204" pitchFamily="34" charset="0"/>
                <a:cs typeface="Courier New" panose="02070309020205020404" pitchFamily="49" charset="0"/>
              </a:rPr>
              <a:t>print()</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 for logging and inspect data via built-in logs. </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hlinkClick r:id="rId5"/>
              </a:rPr>
              <a:t>[help.zapier.com]</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 </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hlinkClick r:id="rId8"/>
              </a:rPr>
              <a:t>[help.zapier.com]</a:t>
            </a:r>
            <a:endPar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sz="1600" b="0" i="0" u="none" strike="noStrike" cap="none" normalizeH="0" baseline="0" dirty="0" smtClean="0">
              <a:ln>
                <a:noFill/>
              </a:ln>
              <a:solidFill>
                <a:schemeClr val="bg1"/>
              </a:solidFill>
              <a:effectLst/>
              <a:ea typeface="Calibri" panose="020F0502020204030204" pitchFamily="34"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600" b="1"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Timeout and sandbox</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 functions run up to ~5 minutes and are memory-limited. </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hlinkClick r:id="rId6"/>
              </a:rPr>
              <a:t>[help.zapier.com]</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 </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hlinkClick r:id="rId8"/>
              </a:rPr>
              <a:t>[help.zapier.com]</a:t>
            </a:r>
            <a:endPar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sz="1600" b="0" i="0" u="none" strike="noStrike" cap="none" normalizeH="0" baseline="0" dirty="0" smtClean="0">
              <a:ln>
                <a:noFill/>
              </a:ln>
              <a:solidFill>
                <a:schemeClr val="bg1"/>
              </a:solidFill>
              <a:effectLst/>
              <a:ea typeface="Calibri" panose="020F0502020204030204" pitchFamily="34"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600" b="1"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Ideal for complex logic</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 API orchestration, </a:t>
            </a:r>
            <a:r>
              <a:rPr kumimoji="0" lang="en-US" sz="1600" b="0" i="0" u="none" strike="noStrike" cap="none" normalizeH="0" baseline="0" dirty="0" err="1" smtClean="0">
                <a:ln>
                  <a:noFill/>
                </a:ln>
                <a:solidFill>
                  <a:schemeClr val="bg1"/>
                </a:solidFill>
                <a:effectLst/>
                <a:ea typeface="Calibri" panose="020F0502020204030204" pitchFamily="34" charset="0"/>
                <a:cs typeface="Segoe UI" panose="020B0502040204020203" pitchFamily="34" charset="0"/>
              </a:rPr>
              <a:t>webhooks</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 data transformation, or automations not covered by no-code. </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hlinkClick r:id="rId9"/>
              </a:rPr>
              <a:t>[help.zapier.com]</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rPr>
              <a:t>, </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hlinkClick r:id="rId10"/>
              </a:rPr>
              <a:t>[help.zapier.com</a:t>
            </a:r>
            <a:r>
              <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hlinkClick r:id="rId10"/>
              </a:rPr>
              <a:t>]</a:t>
            </a:r>
            <a:endParaRPr kumimoji="0" lang="en-US" sz="1600" b="0" i="0" u="none" strike="noStrike" cap="none" normalizeH="0" baseline="0" dirty="0" smtClean="0">
              <a:ln>
                <a:noFill/>
              </a:ln>
              <a:solidFill>
                <a:schemeClr val="bg1"/>
              </a:solidFill>
              <a:effectLst/>
              <a:ea typeface="Calibri" panose="020F0502020204030204" pitchFamily="34" charset="0"/>
              <a:cs typeface="Segoe UI" panose="020B0502040204020203" pitchFamily="34" charset="0"/>
            </a:endParaRPr>
          </a:p>
        </p:txBody>
      </p:sp>
    </p:spTree>
    <p:extLst>
      <p:ext uri="{BB962C8B-B14F-4D97-AF65-F5344CB8AC3E}">
        <p14:creationId xmlns:p14="http://schemas.microsoft.com/office/powerpoint/2010/main" val="41943794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7" name="직사각형 26">
            <a:extLst>
              <a:ext uri="{FF2B5EF4-FFF2-40B4-BE49-F238E27FC236}">
                <a16:creationId xmlns:a16="http://schemas.microsoft.com/office/drawing/2014/main" xmlns="" id="{8D122637-2F9F-4D6D-B650-CED44ECF1A91}"/>
              </a:ext>
            </a:extLst>
          </p:cNvPr>
          <p:cNvSpPr/>
          <p:nvPr/>
        </p:nvSpPr>
        <p:spPr>
          <a:xfrm>
            <a:off x="0" y="0"/>
            <a:ext cx="461500" cy="50078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9" name="직선 연결선 28">
            <a:extLst>
              <a:ext uri="{FF2B5EF4-FFF2-40B4-BE49-F238E27FC236}">
                <a16:creationId xmlns:a16="http://schemas.microsoft.com/office/drawing/2014/main" xmlns="" id="{2AA171E4-1F6F-41A4-B104-0EFC14B58D33}"/>
              </a:ext>
            </a:extLst>
          </p:cNvPr>
          <p:cNvCxnSpPr>
            <a:cxnSpLocks/>
            <a:stCxn id="27" idx="0"/>
          </p:cNvCxnSpPr>
          <p:nvPr/>
        </p:nvCxnSpPr>
        <p:spPr>
          <a:xfrm flipH="1">
            <a:off x="212613" y="0"/>
            <a:ext cx="18137" cy="922020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xmlns="" id="{B5061A88-7C4D-45A8-89EA-77CDE39728FC}"/>
              </a:ext>
            </a:extLst>
          </p:cNvPr>
          <p:cNvCxnSpPr>
            <a:cxnSpLocks/>
          </p:cNvCxnSpPr>
          <p:nvPr/>
        </p:nvCxnSpPr>
        <p:spPr>
          <a:xfrm>
            <a:off x="0" y="563933"/>
            <a:ext cx="685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2"/>
          <a:stretch>
            <a:fillRect/>
          </a:stretch>
        </p:blipFill>
        <p:spPr>
          <a:xfrm>
            <a:off x="0" y="7358743"/>
            <a:ext cx="6858000" cy="1785257"/>
          </a:xfrm>
          <a:prstGeom prst="rect">
            <a:avLst/>
          </a:prstGeom>
        </p:spPr>
      </p:pic>
      <p:sp>
        <p:nvSpPr>
          <p:cNvPr id="2" name="Rectangle 1"/>
          <p:cNvSpPr/>
          <p:nvPr/>
        </p:nvSpPr>
        <p:spPr>
          <a:xfrm>
            <a:off x="461500" y="107516"/>
            <a:ext cx="5767092" cy="461665"/>
          </a:xfrm>
          <a:prstGeom prst="rect">
            <a:avLst/>
          </a:prstGeom>
        </p:spPr>
        <p:txBody>
          <a:bodyPr wrap="none">
            <a:spAutoFit/>
          </a:bodyPr>
          <a:lstStyle/>
          <a:p>
            <a:r>
              <a:rPr lang="en-US" sz="2400" b="1" dirty="0">
                <a:solidFill>
                  <a:schemeClr val="bg1"/>
                </a:solidFill>
              </a:rPr>
              <a:t>📬 </a:t>
            </a:r>
            <a:r>
              <a:rPr lang="en-US" sz="2400" b="1" dirty="0" err="1">
                <a:solidFill>
                  <a:schemeClr val="bg1"/>
                </a:solidFill>
              </a:rPr>
              <a:t>Zapier</a:t>
            </a:r>
            <a:r>
              <a:rPr lang="en-US" sz="2400" b="1" dirty="0">
                <a:solidFill>
                  <a:schemeClr val="bg1"/>
                </a:solidFill>
              </a:rPr>
              <a:t> Lead Router </a:t>
            </a:r>
            <a:r>
              <a:rPr lang="en-US" sz="1600" b="1" dirty="0">
                <a:solidFill>
                  <a:schemeClr val="bg1"/>
                </a:solidFill>
              </a:rPr>
              <a:t>(auto-distribute incoming leads)</a:t>
            </a:r>
          </a:p>
        </p:txBody>
      </p:sp>
      <p:sp>
        <p:nvSpPr>
          <p:cNvPr id="3" name="Rectangle 2"/>
          <p:cNvSpPr/>
          <p:nvPr/>
        </p:nvSpPr>
        <p:spPr>
          <a:xfrm>
            <a:off x="461500" y="563933"/>
            <a:ext cx="6396500" cy="6740307"/>
          </a:xfrm>
          <a:prstGeom prst="rect">
            <a:avLst/>
          </a:prstGeom>
        </p:spPr>
        <p:txBody>
          <a:bodyPr wrap="square">
            <a:spAutoFit/>
          </a:bodyPr>
          <a:lstStyle/>
          <a:p>
            <a:pPr marL="285750" lvl="0" indent="-285750">
              <a:buFont typeface="Wingdings" panose="05000000000000000000" pitchFamily="2" charset="2"/>
              <a:buChar char="q"/>
            </a:pPr>
            <a:r>
              <a:rPr lang="en-US" sz="1600" b="1" dirty="0" smtClean="0">
                <a:solidFill>
                  <a:schemeClr val="bg1"/>
                </a:solidFill>
              </a:rPr>
              <a:t>In beta (closed or open)</a:t>
            </a:r>
            <a:r>
              <a:rPr lang="en-US" sz="1600" dirty="0" smtClean="0">
                <a:solidFill>
                  <a:schemeClr val="bg1"/>
                </a:solidFill>
              </a:rPr>
              <a:t> and available on </a:t>
            </a:r>
            <a:r>
              <a:rPr lang="en-US" sz="1600" b="1" dirty="0" smtClean="0">
                <a:solidFill>
                  <a:schemeClr val="bg1"/>
                </a:solidFill>
              </a:rPr>
              <a:t>Pro+ plans</a:t>
            </a:r>
            <a:r>
              <a:rPr lang="en-US" sz="1600" dirty="0" smtClean="0">
                <a:solidFill>
                  <a:schemeClr val="bg1"/>
                </a:solidFill>
              </a:rPr>
              <a:t>. </a:t>
            </a:r>
            <a:r>
              <a:rPr lang="en-US" sz="1600" u="sng" dirty="0" smtClean="0">
                <a:solidFill>
                  <a:schemeClr val="bg1"/>
                </a:solidFill>
                <a:hlinkClick r:id="rId3"/>
              </a:rPr>
              <a:t>[help.zapier.com]</a:t>
            </a:r>
            <a:r>
              <a:rPr lang="en-US" sz="1600" dirty="0" smtClean="0">
                <a:solidFill>
                  <a:schemeClr val="bg1"/>
                </a:solidFill>
              </a:rPr>
              <a:t>, </a:t>
            </a:r>
            <a:r>
              <a:rPr lang="en-US" sz="1600" u="sng" dirty="0" smtClean="0">
                <a:solidFill>
                  <a:schemeClr val="bg1"/>
                </a:solidFill>
                <a:hlinkClick r:id="rId4"/>
              </a:rPr>
              <a:t>[zapier.com]</a:t>
            </a:r>
            <a:endParaRPr lang="en-US" sz="1600" dirty="0" smtClean="0">
              <a:solidFill>
                <a:schemeClr val="bg1"/>
              </a:solidFill>
            </a:endParaRPr>
          </a:p>
          <a:p>
            <a:pPr marL="285750" lvl="0" indent="-285750">
              <a:buFont typeface="Wingdings" panose="05000000000000000000" pitchFamily="2" charset="2"/>
              <a:buChar char="q"/>
            </a:pPr>
            <a:r>
              <a:rPr lang="en-US" sz="1600" b="1" dirty="0" smtClean="0">
                <a:solidFill>
                  <a:schemeClr val="bg1"/>
                </a:solidFill>
              </a:rPr>
              <a:t>Integrates as single Zap step</a:t>
            </a:r>
            <a:r>
              <a:rPr lang="en-US" sz="1600" dirty="0" smtClean="0">
                <a:solidFill>
                  <a:schemeClr val="bg1"/>
                </a:solidFill>
              </a:rPr>
              <a:t>—no complex paths required. </a:t>
            </a:r>
            <a:r>
              <a:rPr lang="en-US" sz="1600" u="sng" dirty="0" smtClean="0">
                <a:solidFill>
                  <a:schemeClr val="bg1"/>
                </a:solidFill>
                <a:hlinkClick r:id="rId5"/>
              </a:rPr>
              <a:t>[zapier.com]</a:t>
            </a:r>
            <a:r>
              <a:rPr lang="en-US" sz="1600" dirty="0" smtClean="0">
                <a:solidFill>
                  <a:schemeClr val="bg1"/>
                </a:solidFill>
              </a:rPr>
              <a:t>, </a:t>
            </a:r>
            <a:r>
              <a:rPr lang="en-US" sz="1600" u="sng" dirty="0" smtClean="0">
                <a:solidFill>
                  <a:schemeClr val="bg1"/>
                </a:solidFill>
                <a:hlinkClick r:id="rId4"/>
              </a:rPr>
              <a:t>[zapier.com]</a:t>
            </a:r>
            <a:endParaRPr lang="en-US" sz="1600" dirty="0" smtClean="0">
              <a:solidFill>
                <a:schemeClr val="bg1"/>
              </a:solidFill>
            </a:endParaRPr>
          </a:p>
          <a:p>
            <a:pPr marL="285750" lvl="0" indent="-285750">
              <a:buFont typeface="Wingdings" panose="05000000000000000000" pitchFamily="2" charset="2"/>
              <a:buChar char="q"/>
            </a:pPr>
            <a:r>
              <a:rPr lang="en-US" sz="1600" b="1" dirty="0" smtClean="0">
                <a:solidFill>
                  <a:schemeClr val="bg1"/>
                </a:solidFill>
              </a:rPr>
              <a:t>Key concepts</a:t>
            </a:r>
            <a:r>
              <a:rPr lang="en-US" sz="1600" dirty="0" smtClean="0">
                <a:solidFill>
                  <a:schemeClr val="bg1"/>
                </a:solidFill>
              </a:rPr>
              <a:t>:</a:t>
            </a:r>
          </a:p>
          <a:p>
            <a:pPr marL="742950" lvl="1" indent="-285750">
              <a:buFont typeface="Wingdings" panose="05000000000000000000" pitchFamily="2" charset="2"/>
              <a:buChar char="q"/>
            </a:pPr>
            <a:r>
              <a:rPr lang="en-US" sz="1600" b="1" dirty="0" smtClean="0">
                <a:solidFill>
                  <a:schemeClr val="bg1"/>
                </a:solidFill>
              </a:rPr>
              <a:t>Leads</a:t>
            </a:r>
            <a:r>
              <a:rPr lang="en-US" sz="1600" dirty="0" smtClean="0">
                <a:solidFill>
                  <a:schemeClr val="bg1"/>
                </a:solidFill>
              </a:rPr>
              <a:t>: contain field data like company size or region.</a:t>
            </a:r>
          </a:p>
          <a:p>
            <a:pPr marL="742950" lvl="1" indent="-285750">
              <a:buFont typeface="Wingdings" panose="05000000000000000000" pitchFamily="2" charset="2"/>
              <a:buChar char="q"/>
            </a:pPr>
            <a:r>
              <a:rPr lang="en-US" sz="1600" b="1" dirty="0" smtClean="0">
                <a:solidFill>
                  <a:schemeClr val="bg1"/>
                </a:solidFill>
              </a:rPr>
              <a:t>Sales reps</a:t>
            </a:r>
            <a:r>
              <a:rPr lang="en-US" sz="1600" dirty="0" smtClean="0">
                <a:solidFill>
                  <a:schemeClr val="bg1"/>
                </a:solidFill>
              </a:rPr>
              <a:t>: have profiles with skill, region, weights.</a:t>
            </a:r>
          </a:p>
          <a:p>
            <a:pPr marL="742950" lvl="1" indent="-285750">
              <a:buFont typeface="Wingdings" panose="05000000000000000000" pitchFamily="2" charset="2"/>
              <a:buChar char="q"/>
            </a:pPr>
            <a:r>
              <a:rPr lang="en-US" sz="1600" b="1" dirty="0" smtClean="0">
                <a:solidFill>
                  <a:schemeClr val="bg1"/>
                </a:solidFill>
              </a:rPr>
              <a:t>Queues</a:t>
            </a:r>
            <a:r>
              <a:rPr lang="en-US" sz="1600" dirty="0" smtClean="0">
                <a:solidFill>
                  <a:schemeClr val="bg1"/>
                </a:solidFill>
              </a:rPr>
              <a:t>: group reps under shared rules.</a:t>
            </a:r>
          </a:p>
          <a:p>
            <a:pPr marL="742950" lvl="1" indent="-285750">
              <a:buFont typeface="Wingdings" panose="05000000000000000000" pitchFamily="2" charset="2"/>
              <a:buChar char="q"/>
            </a:pPr>
            <a:r>
              <a:rPr lang="en-US" sz="1600" b="1" dirty="0" smtClean="0">
                <a:solidFill>
                  <a:schemeClr val="bg1"/>
                </a:solidFill>
              </a:rPr>
              <a:t>Routers</a:t>
            </a:r>
            <a:r>
              <a:rPr lang="en-US" sz="1600" dirty="0" smtClean="0">
                <a:solidFill>
                  <a:schemeClr val="bg1"/>
                </a:solidFill>
              </a:rPr>
              <a:t>: define criteria and map leads → queues. </a:t>
            </a:r>
            <a:r>
              <a:rPr lang="en-US" sz="1600" u="sng" dirty="0" smtClean="0">
                <a:solidFill>
                  <a:schemeClr val="bg1"/>
                </a:solidFill>
                <a:hlinkClick r:id="rId3"/>
              </a:rPr>
              <a:t>[help.zapier.com]</a:t>
            </a:r>
            <a:r>
              <a:rPr lang="en-US" sz="1600" dirty="0" smtClean="0">
                <a:solidFill>
                  <a:schemeClr val="bg1"/>
                </a:solidFill>
              </a:rPr>
              <a:t>, </a:t>
            </a:r>
            <a:r>
              <a:rPr lang="en-US" sz="1600" u="sng" dirty="0" smtClean="0">
                <a:solidFill>
                  <a:schemeClr val="bg1"/>
                </a:solidFill>
                <a:hlinkClick r:id="rId4"/>
              </a:rPr>
              <a:t>[zapier.com]</a:t>
            </a:r>
            <a:endParaRPr lang="en-US" sz="1600" dirty="0" smtClean="0">
              <a:solidFill>
                <a:schemeClr val="bg1"/>
              </a:solidFill>
            </a:endParaRPr>
          </a:p>
          <a:p>
            <a:pPr marL="285750" lvl="0" indent="-285750">
              <a:buFont typeface="Wingdings" panose="05000000000000000000" pitchFamily="2" charset="2"/>
              <a:buChar char="q"/>
            </a:pPr>
            <a:r>
              <a:rPr lang="en-US" sz="1600" b="1" dirty="0" smtClean="0">
                <a:solidFill>
                  <a:schemeClr val="bg1"/>
                </a:solidFill>
              </a:rPr>
              <a:t>Distribution types</a:t>
            </a:r>
            <a:r>
              <a:rPr lang="en-US" sz="1600" dirty="0" smtClean="0">
                <a:solidFill>
                  <a:schemeClr val="bg1"/>
                </a:solidFill>
              </a:rPr>
              <a:t>:</a:t>
            </a:r>
          </a:p>
          <a:p>
            <a:pPr marL="742950" lvl="1" indent="-285750">
              <a:buFont typeface="Wingdings" panose="05000000000000000000" pitchFamily="2" charset="2"/>
              <a:buChar char="q"/>
            </a:pPr>
            <a:r>
              <a:rPr lang="en-US" sz="1600" b="1" dirty="0" smtClean="0">
                <a:solidFill>
                  <a:schemeClr val="bg1"/>
                </a:solidFill>
              </a:rPr>
              <a:t>Strict round robin</a:t>
            </a:r>
            <a:r>
              <a:rPr lang="en-US" sz="1600" dirty="0" smtClean="0">
                <a:solidFill>
                  <a:schemeClr val="bg1"/>
                </a:solidFill>
              </a:rPr>
              <a:t>: assign leads evenly.</a:t>
            </a:r>
          </a:p>
          <a:p>
            <a:pPr marL="742950" lvl="1" indent="-285750">
              <a:buFont typeface="Wingdings" panose="05000000000000000000" pitchFamily="2" charset="2"/>
              <a:buChar char="q"/>
            </a:pPr>
            <a:r>
              <a:rPr lang="en-US" sz="1600" b="1" dirty="0" smtClean="0">
                <a:solidFill>
                  <a:schemeClr val="bg1"/>
                </a:solidFill>
              </a:rPr>
              <a:t>Weighted round robin</a:t>
            </a:r>
            <a:r>
              <a:rPr lang="en-US" sz="1600" dirty="0" smtClean="0">
                <a:solidFill>
                  <a:schemeClr val="bg1"/>
                </a:solidFill>
              </a:rPr>
              <a:t>: control lead flow per rep. </a:t>
            </a:r>
            <a:r>
              <a:rPr lang="en-US" sz="1600" u="sng" dirty="0" smtClean="0">
                <a:solidFill>
                  <a:schemeClr val="bg1"/>
                </a:solidFill>
                <a:hlinkClick r:id="rId6"/>
              </a:rPr>
              <a:t>[help.zapier.com]</a:t>
            </a:r>
            <a:r>
              <a:rPr lang="en-US" sz="1600" dirty="0" smtClean="0">
                <a:solidFill>
                  <a:schemeClr val="bg1"/>
                </a:solidFill>
              </a:rPr>
              <a:t>, </a:t>
            </a:r>
            <a:r>
              <a:rPr lang="en-US" sz="1600" u="sng" dirty="0" smtClean="0">
                <a:solidFill>
                  <a:schemeClr val="bg1"/>
                </a:solidFill>
                <a:hlinkClick r:id="rId4"/>
              </a:rPr>
              <a:t>[zapier.com]</a:t>
            </a:r>
            <a:endParaRPr lang="en-US" sz="1600" dirty="0" smtClean="0">
              <a:solidFill>
                <a:schemeClr val="bg1"/>
              </a:solidFill>
            </a:endParaRPr>
          </a:p>
          <a:p>
            <a:pPr marL="285750" lvl="0" indent="-285750">
              <a:buFont typeface="Wingdings" panose="05000000000000000000" pitchFamily="2" charset="2"/>
              <a:buChar char="q"/>
            </a:pPr>
            <a:r>
              <a:rPr lang="en-US" sz="1600" b="1" dirty="0" smtClean="0">
                <a:solidFill>
                  <a:schemeClr val="bg1"/>
                </a:solidFill>
              </a:rPr>
              <a:t>Fallback assignment</a:t>
            </a:r>
            <a:r>
              <a:rPr lang="en-US" sz="1600" dirty="0" smtClean="0">
                <a:solidFill>
                  <a:schemeClr val="bg1"/>
                </a:solidFill>
              </a:rPr>
              <a:t> ensures unmatched leads still get routed. </a:t>
            </a:r>
            <a:r>
              <a:rPr lang="en-US" sz="1600" u="sng" dirty="0" smtClean="0">
                <a:solidFill>
                  <a:schemeClr val="bg1"/>
                </a:solidFill>
                <a:hlinkClick r:id="rId4"/>
              </a:rPr>
              <a:t>[zapier.com]</a:t>
            </a:r>
            <a:endParaRPr lang="en-US" sz="1600" dirty="0" smtClean="0">
              <a:solidFill>
                <a:schemeClr val="bg1"/>
              </a:solidFill>
            </a:endParaRPr>
          </a:p>
          <a:p>
            <a:pPr marL="285750" lvl="0" indent="-285750">
              <a:buFont typeface="Wingdings" panose="05000000000000000000" pitchFamily="2" charset="2"/>
              <a:buChar char="q"/>
            </a:pPr>
            <a:r>
              <a:rPr lang="en-US" sz="1600" b="1" dirty="0" smtClean="0">
                <a:solidFill>
                  <a:schemeClr val="bg1"/>
                </a:solidFill>
              </a:rPr>
              <a:t>Usage</a:t>
            </a:r>
            <a:r>
              <a:rPr lang="en-US" sz="1600" dirty="0" smtClean="0">
                <a:solidFill>
                  <a:schemeClr val="bg1"/>
                </a:solidFill>
              </a:rPr>
              <a:t>:</a:t>
            </a:r>
          </a:p>
          <a:p>
            <a:pPr marL="742950" lvl="1" indent="-285750">
              <a:buFont typeface="Wingdings" panose="05000000000000000000" pitchFamily="2" charset="2"/>
              <a:buChar char="q"/>
            </a:pPr>
            <a:r>
              <a:rPr lang="en-US" sz="1600" dirty="0" smtClean="0">
                <a:solidFill>
                  <a:schemeClr val="bg1"/>
                </a:solidFill>
              </a:rPr>
              <a:t>Add </a:t>
            </a:r>
            <a:r>
              <a:rPr lang="en-US" sz="1600" b="1" dirty="0" smtClean="0">
                <a:solidFill>
                  <a:schemeClr val="bg1"/>
                </a:solidFill>
              </a:rPr>
              <a:t>Fields</a:t>
            </a:r>
            <a:r>
              <a:rPr lang="en-US" sz="1600" dirty="0" smtClean="0">
                <a:solidFill>
                  <a:schemeClr val="bg1"/>
                </a:solidFill>
              </a:rPr>
              <a:t>, </a:t>
            </a:r>
            <a:r>
              <a:rPr lang="en-US" sz="1600" b="1" dirty="0" smtClean="0">
                <a:solidFill>
                  <a:schemeClr val="bg1"/>
                </a:solidFill>
              </a:rPr>
              <a:t>Sales reps</a:t>
            </a:r>
            <a:r>
              <a:rPr lang="en-US" sz="1600" dirty="0" smtClean="0">
                <a:solidFill>
                  <a:schemeClr val="bg1"/>
                </a:solidFill>
              </a:rPr>
              <a:t>, </a:t>
            </a:r>
            <a:r>
              <a:rPr lang="en-US" sz="1600" b="1" dirty="0" smtClean="0">
                <a:solidFill>
                  <a:schemeClr val="bg1"/>
                </a:solidFill>
              </a:rPr>
              <a:t>Queues</a:t>
            </a:r>
            <a:r>
              <a:rPr lang="en-US" sz="1600" dirty="0" smtClean="0">
                <a:solidFill>
                  <a:schemeClr val="bg1"/>
                </a:solidFill>
              </a:rPr>
              <a:t>, and </a:t>
            </a:r>
            <a:r>
              <a:rPr lang="en-US" sz="1600" b="1" dirty="0" smtClean="0">
                <a:solidFill>
                  <a:schemeClr val="bg1"/>
                </a:solidFill>
              </a:rPr>
              <a:t>Routers</a:t>
            </a:r>
            <a:r>
              <a:rPr lang="en-US" sz="1600" dirty="0" smtClean="0">
                <a:solidFill>
                  <a:schemeClr val="bg1"/>
                </a:solidFill>
              </a:rPr>
              <a:t> via dashboard. </a:t>
            </a:r>
            <a:r>
              <a:rPr lang="en-US" sz="1600" u="sng" dirty="0" smtClean="0">
                <a:solidFill>
                  <a:schemeClr val="bg1"/>
                </a:solidFill>
                <a:hlinkClick r:id="rId3"/>
              </a:rPr>
              <a:t>[help.zapier.com]</a:t>
            </a:r>
            <a:endParaRPr lang="en-US" sz="1600" dirty="0" smtClean="0">
              <a:solidFill>
                <a:schemeClr val="bg1"/>
              </a:solidFill>
            </a:endParaRPr>
          </a:p>
          <a:p>
            <a:pPr marL="742950" lvl="1" indent="-285750">
              <a:buFont typeface="Wingdings" panose="05000000000000000000" pitchFamily="2" charset="2"/>
              <a:buChar char="q"/>
            </a:pPr>
            <a:r>
              <a:rPr lang="en-US" sz="1600" dirty="0" smtClean="0">
                <a:solidFill>
                  <a:schemeClr val="bg1"/>
                </a:solidFill>
              </a:rPr>
              <a:t>Define routing logic using flexible </a:t>
            </a:r>
            <a:r>
              <a:rPr lang="en-US" sz="1600" b="1" dirty="0" smtClean="0">
                <a:solidFill>
                  <a:schemeClr val="bg1"/>
                </a:solidFill>
              </a:rPr>
              <a:t>AND/OR conditions</a:t>
            </a:r>
            <a:r>
              <a:rPr lang="en-US" sz="1600" dirty="0" smtClean="0">
                <a:solidFill>
                  <a:schemeClr val="bg1"/>
                </a:solidFill>
              </a:rPr>
              <a:t>. </a:t>
            </a:r>
            <a:r>
              <a:rPr lang="en-US" sz="1600" u="sng" dirty="0" smtClean="0">
                <a:solidFill>
                  <a:schemeClr val="bg1"/>
                </a:solidFill>
                <a:hlinkClick r:id="rId4"/>
              </a:rPr>
              <a:t>[zapier.com]</a:t>
            </a:r>
            <a:endParaRPr lang="en-US" sz="1600" dirty="0" smtClean="0">
              <a:solidFill>
                <a:schemeClr val="bg1"/>
              </a:solidFill>
            </a:endParaRPr>
          </a:p>
          <a:p>
            <a:pPr marL="285750" lvl="0" indent="-285750">
              <a:buFont typeface="Wingdings" panose="05000000000000000000" pitchFamily="2" charset="2"/>
              <a:buChar char="q"/>
            </a:pPr>
            <a:r>
              <a:rPr lang="en-US" sz="1600" b="1" dirty="0" smtClean="0">
                <a:solidFill>
                  <a:schemeClr val="bg1"/>
                </a:solidFill>
              </a:rPr>
              <a:t>Task costs</a:t>
            </a:r>
            <a:r>
              <a:rPr lang="en-US" sz="1600" dirty="0" smtClean="0">
                <a:solidFill>
                  <a:schemeClr val="bg1"/>
                </a:solidFill>
              </a:rPr>
              <a:t>:</a:t>
            </a:r>
          </a:p>
          <a:p>
            <a:pPr marL="742950" lvl="1" indent="-285750">
              <a:buFont typeface="Wingdings" panose="05000000000000000000" pitchFamily="2" charset="2"/>
              <a:buChar char="q"/>
            </a:pPr>
            <a:r>
              <a:rPr lang="en-US" sz="1600" dirty="0" smtClean="0">
                <a:solidFill>
                  <a:schemeClr val="bg1"/>
                </a:solidFill>
              </a:rPr>
              <a:t>Each Lead Router step consumes </a:t>
            </a:r>
            <a:r>
              <a:rPr lang="en-US" sz="1600" b="1" dirty="0" smtClean="0">
                <a:solidFill>
                  <a:schemeClr val="bg1"/>
                </a:solidFill>
              </a:rPr>
              <a:t>30 </a:t>
            </a:r>
            <a:r>
              <a:rPr lang="en-US" sz="1600" b="1" dirty="0" err="1" smtClean="0">
                <a:solidFill>
                  <a:schemeClr val="bg1"/>
                </a:solidFill>
              </a:rPr>
              <a:t>Zapier</a:t>
            </a:r>
            <a:r>
              <a:rPr lang="en-US" sz="1600" b="1" dirty="0" smtClean="0">
                <a:solidFill>
                  <a:schemeClr val="bg1"/>
                </a:solidFill>
              </a:rPr>
              <a:t> tasks</a:t>
            </a:r>
            <a:r>
              <a:rPr lang="en-US" sz="1600" dirty="0" smtClean="0">
                <a:solidFill>
                  <a:schemeClr val="bg1"/>
                </a:solidFill>
              </a:rPr>
              <a:t>, static—even for complex routing. </a:t>
            </a:r>
            <a:r>
              <a:rPr lang="en-US" sz="1600" u="sng" dirty="0" smtClean="0">
                <a:solidFill>
                  <a:schemeClr val="bg1"/>
                </a:solidFill>
                <a:hlinkClick r:id="rId4"/>
              </a:rPr>
              <a:t>[zapier.com]</a:t>
            </a:r>
            <a:r>
              <a:rPr lang="en-US" sz="1600" dirty="0" smtClean="0">
                <a:solidFill>
                  <a:schemeClr val="bg1"/>
                </a:solidFill>
              </a:rPr>
              <a:t>, </a:t>
            </a:r>
            <a:r>
              <a:rPr lang="en-US" sz="1600" u="sng" dirty="0" smtClean="0">
                <a:solidFill>
                  <a:schemeClr val="bg1"/>
                </a:solidFill>
                <a:hlinkClick r:id="rId5"/>
              </a:rPr>
              <a:t>[zapier.com]</a:t>
            </a:r>
            <a:endParaRPr lang="en-US" sz="1600" dirty="0" smtClean="0">
              <a:solidFill>
                <a:schemeClr val="bg1"/>
              </a:solidFill>
            </a:endParaRPr>
          </a:p>
          <a:p>
            <a:pPr marL="742950" lvl="1" indent="-285750">
              <a:buFont typeface="Wingdings" panose="05000000000000000000" pitchFamily="2" charset="2"/>
              <a:buChar char="q"/>
            </a:pPr>
            <a:r>
              <a:rPr lang="en-US" sz="1600" dirty="0" smtClean="0">
                <a:solidFill>
                  <a:schemeClr val="bg1"/>
                </a:solidFill>
              </a:rPr>
              <a:t>Promotional periods may waive those charges. </a:t>
            </a:r>
            <a:r>
              <a:rPr lang="en-US" sz="1600" u="sng" dirty="0" smtClean="0">
                <a:solidFill>
                  <a:schemeClr val="bg1"/>
                </a:solidFill>
                <a:hlinkClick r:id="rId4"/>
              </a:rPr>
              <a:t>[zapier.com]</a:t>
            </a:r>
            <a:endParaRPr lang="en-US" sz="1600" dirty="0" smtClean="0">
              <a:solidFill>
                <a:schemeClr val="bg1"/>
              </a:solidFill>
            </a:endParaRPr>
          </a:p>
          <a:p>
            <a:pPr marL="285750" lvl="0" indent="-285750">
              <a:buFont typeface="Wingdings" panose="05000000000000000000" pitchFamily="2" charset="2"/>
              <a:buChar char="q"/>
            </a:pPr>
            <a:r>
              <a:rPr lang="en-US" sz="1600" b="1" dirty="0" smtClean="0">
                <a:solidFill>
                  <a:schemeClr val="bg1"/>
                </a:solidFill>
              </a:rPr>
              <a:t>CRM + Notifications</a:t>
            </a:r>
            <a:r>
              <a:rPr lang="en-US" sz="1600" dirty="0" smtClean="0">
                <a:solidFill>
                  <a:schemeClr val="bg1"/>
                </a:solidFill>
              </a:rPr>
              <a:t>: route leads, update CRM records, and send Slack/email alerts. </a:t>
            </a:r>
            <a:r>
              <a:rPr lang="en-US" sz="1600" u="sng" dirty="0" smtClean="0">
                <a:solidFill>
                  <a:schemeClr val="bg1"/>
                </a:solidFill>
                <a:hlinkClick r:id="rId4"/>
              </a:rPr>
              <a:t>[zapier.com]</a:t>
            </a:r>
            <a:r>
              <a:rPr lang="en-US" sz="1600" dirty="0" smtClean="0">
                <a:solidFill>
                  <a:schemeClr val="bg1"/>
                </a:solidFill>
              </a:rPr>
              <a:t>, </a:t>
            </a:r>
            <a:r>
              <a:rPr lang="en-US" sz="1600" u="sng" dirty="0" smtClean="0">
                <a:solidFill>
                  <a:schemeClr val="bg1"/>
                </a:solidFill>
                <a:hlinkClick r:id="rId5"/>
              </a:rPr>
              <a:t>[zapier.com</a:t>
            </a:r>
            <a:r>
              <a:rPr lang="en-US" sz="1600" u="sng" dirty="0" smtClean="0">
                <a:solidFill>
                  <a:schemeClr val="bg1"/>
                </a:solidFill>
                <a:hlinkClick r:id="rId5"/>
              </a:rPr>
              <a:t>]</a:t>
            </a:r>
            <a:endParaRPr lang="en-US" sz="1600" dirty="0" smtClean="0">
              <a:solidFill>
                <a:schemeClr val="bg1"/>
              </a:solidFill>
            </a:endParaRPr>
          </a:p>
        </p:txBody>
      </p:sp>
    </p:spTree>
    <p:extLst>
      <p:ext uri="{BB962C8B-B14F-4D97-AF65-F5344CB8AC3E}">
        <p14:creationId xmlns:p14="http://schemas.microsoft.com/office/powerpoint/2010/main" val="18205240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7" name="직사각형 26">
            <a:extLst>
              <a:ext uri="{FF2B5EF4-FFF2-40B4-BE49-F238E27FC236}">
                <a16:creationId xmlns:a16="http://schemas.microsoft.com/office/drawing/2014/main" xmlns="" id="{8D122637-2F9F-4D6D-B650-CED44ECF1A91}"/>
              </a:ext>
            </a:extLst>
          </p:cNvPr>
          <p:cNvSpPr/>
          <p:nvPr/>
        </p:nvSpPr>
        <p:spPr>
          <a:xfrm>
            <a:off x="0" y="0"/>
            <a:ext cx="461500" cy="50078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9" name="직선 연결선 28">
            <a:extLst>
              <a:ext uri="{FF2B5EF4-FFF2-40B4-BE49-F238E27FC236}">
                <a16:creationId xmlns:a16="http://schemas.microsoft.com/office/drawing/2014/main" xmlns="" id="{2AA171E4-1F6F-41A4-B104-0EFC14B58D33}"/>
              </a:ext>
            </a:extLst>
          </p:cNvPr>
          <p:cNvCxnSpPr>
            <a:cxnSpLocks/>
            <a:stCxn id="27" idx="0"/>
          </p:cNvCxnSpPr>
          <p:nvPr/>
        </p:nvCxnSpPr>
        <p:spPr>
          <a:xfrm flipH="1">
            <a:off x="212613" y="0"/>
            <a:ext cx="18137" cy="922020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xmlns="" id="{B5061A88-7C4D-45A8-89EA-77CDE39728FC}"/>
              </a:ext>
            </a:extLst>
          </p:cNvPr>
          <p:cNvCxnSpPr>
            <a:cxnSpLocks/>
          </p:cNvCxnSpPr>
          <p:nvPr/>
        </p:nvCxnSpPr>
        <p:spPr>
          <a:xfrm>
            <a:off x="0" y="563933"/>
            <a:ext cx="685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2"/>
          <a:stretch>
            <a:fillRect/>
          </a:stretch>
        </p:blipFill>
        <p:spPr>
          <a:xfrm>
            <a:off x="0" y="7358743"/>
            <a:ext cx="6858000" cy="1785257"/>
          </a:xfrm>
          <a:prstGeom prst="rect">
            <a:avLst/>
          </a:prstGeom>
        </p:spPr>
      </p:pic>
      <p:sp>
        <p:nvSpPr>
          <p:cNvPr id="2" name="Rectangle 1"/>
          <p:cNvSpPr/>
          <p:nvPr/>
        </p:nvSpPr>
        <p:spPr>
          <a:xfrm>
            <a:off x="461500" y="107516"/>
            <a:ext cx="2759089" cy="461665"/>
          </a:xfrm>
          <a:prstGeom prst="rect">
            <a:avLst/>
          </a:prstGeom>
        </p:spPr>
        <p:txBody>
          <a:bodyPr wrap="none">
            <a:spAutoFit/>
          </a:bodyPr>
          <a:lstStyle/>
          <a:p>
            <a:pPr fontAlgn="t"/>
            <a:r>
              <a:rPr lang="en-US" sz="2400" b="1" dirty="0" smtClean="0">
                <a:solidFill>
                  <a:schemeClr val="bg1"/>
                </a:solidFill>
              </a:rPr>
              <a:t>📬   </a:t>
            </a:r>
            <a:r>
              <a:rPr lang="en-US" sz="2400" b="1" dirty="0" err="1" smtClean="0">
                <a:solidFill>
                  <a:schemeClr val="bg1"/>
                </a:solidFill>
                <a:latin typeface="Segoe UI" panose="020B0502040204020203" pitchFamily="34" charset="0"/>
              </a:rPr>
              <a:t>Zapier</a:t>
            </a:r>
            <a:r>
              <a:rPr lang="en-US" sz="2400" b="1" dirty="0" smtClean="0">
                <a:solidFill>
                  <a:schemeClr val="bg1"/>
                </a:solidFill>
                <a:latin typeface="Segoe UI" panose="020B0502040204020203" pitchFamily="34" charset="0"/>
              </a:rPr>
              <a:t> </a:t>
            </a:r>
            <a:r>
              <a:rPr lang="en-US" sz="2400" b="1" dirty="0">
                <a:solidFill>
                  <a:schemeClr val="bg1"/>
                </a:solidFill>
                <a:latin typeface="Segoe UI" panose="020B0502040204020203" pitchFamily="34" charset="0"/>
              </a:rPr>
              <a:t>Copilot</a:t>
            </a:r>
            <a:endParaRPr lang="en-US" sz="2400" b="1" dirty="0">
              <a:solidFill>
                <a:schemeClr val="bg1"/>
              </a:solidFill>
              <a:latin typeface="Segoe UI" panose="020B0502040204020203"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4069029037"/>
              </p:ext>
            </p:extLst>
          </p:nvPr>
        </p:nvGraphicFramePr>
        <p:xfrm>
          <a:off x="461500" y="563933"/>
          <a:ext cx="6396500" cy="7112676"/>
        </p:xfrm>
        <a:graphic>
          <a:graphicData uri="http://schemas.openxmlformats.org/drawingml/2006/table">
            <a:tbl>
              <a:tblPr/>
              <a:tblGrid>
                <a:gridCol w="6396500"/>
              </a:tblGrid>
              <a:tr h="5583866">
                <a:tc>
                  <a:txBody>
                    <a:bodyPr/>
                    <a:lstStyle/>
                    <a:p>
                      <a:pPr marL="285750" indent="-285750" fontAlgn="t">
                        <a:buFont typeface="Wingdings" panose="05000000000000000000" pitchFamily="2" charset="2"/>
                        <a:buChar char="q"/>
                      </a:pPr>
                      <a:r>
                        <a:rPr lang="en-US" sz="1800" b="1" i="0" dirty="0" smtClean="0">
                          <a:solidFill>
                            <a:schemeClr val="bg1"/>
                          </a:solidFill>
                          <a:effectLst/>
                          <a:latin typeface="+mn-lt"/>
                        </a:rPr>
                        <a:t>AI </a:t>
                      </a:r>
                      <a:r>
                        <a:rPr lang="en-US" sz="1800" b="1" i="0" dirty="0">
                          <a:solidFill>
                            <a:schemeClr val="bg1"/>
                          </a:solidFill>
                          <a:effectLst/>
                          <a:latin typeface="+mn-lt"/>
                        </a:rPr>
                        <a:t>assistant across the </a:t>
                      </a:r>
                      <a:r>
                        <a:rPr lang="en-US" sz="1800" b="1" i="0" dirty="0" err="1">
                          <a:solidFill>
                            <a:schemeClr val="bg1"/>
                          </a:solidFill>
                          <a:effectLst/>
                          <a:latin typeface="+mn-lt"/>
                        </a:rPr>
                        <a:t>Zapier</a:t>
                      </a:r>
                      <a:r>
                        <a:rPr lang="en-US" sz="1800" b="1" i="0" dirty="0">
                          <a:solidFill>
                            <a:schemeClr val="bg1"/>
                          </a:solidFill>
                          <a:effectLst/>
                          <a:latin typeface="+mn-lt"/>
                        </a:rPr>
                        <a:t> platform</a:t>
                      </a:r>
                      <a:r>
                        <a:rPr lang="en-US" sz="1800" b="0" i="0" dirty="0">
                          <a:solidFill>
                            <a:schemeClr val="bg1"/>
                          </a:solidFill>
                          <a:effectLst/>
                          <a:latin typeface="+mn-lt"/>
                        </a:rPr>
                        <a:t>, embedded in home, </a:t>
                      </a:r>
                      <a:r>
                        <a:rPr lang="en-US" sz="1800" b="0" i="0" dirty="0" smtClean="0">
                          <a:solidFill>
                            <a:schemeClr val="bg1"/>
                          </a:solidFill>
                          <a:effectLst/>
                          <a:latin typeface="+mn-lt"/>
                        </a:rPr>
                        <a:t>                Zap </a:t>
                      </a:r>
                      <a:r>
                        <a:rPr lang="en-US" sz="1800" b="0" i="0" dirty="0">
                          <a:solidFill>
                            <a:schemeClr val="bg1"/>
                          </a:solidFill>
                          <a:effectLst/>
                          <a:latin typeface="+mn-lt"/>
                        </a:rPr>
                        <a:t>editor, Canvas, Tables, Interfaces, Agents &amp; </a:t>
                      </a:r>
                      <a:r>
                        <a:rPr lang="en-US" sz="1800" b="0" i="0" dirty="0" err="1">
                          <a:solidFill>
                            <a:schemeClr val="bg1"/>
                          </a:solidFill>
                          <a:effectLst/>
                          <a:latin typeface="+mn-lt"/>
                        </a:rPr>
                        <a:t>Chatbots</a:t>
                      </a:r>
                      <a:r>
                        <a:rPr lang="en-US" sz="1800" b="0" i="0" dirty="0">
                          <a:solidFill>
                            <a:schemeClr val="bg1"/>
                          </a:solidFill>
                          <a:effectLst/>
                          <a:latin typeface="+mn-lt"/>
                        </a:rPr>
                        <a:t>. </a:t>
                      </a:r>
                      <a:r>
                        <a:rPr lang="en-US" sz="1800" b="0" i="0" u="none" strike="noStrike" dirty="0">
                          <a:solidFill>
                            <a:schemeClr val="bg1"/>
                          </a:solidFill>
                          <a:effectLst/>
                          <a:latin typeface="+mn-lt"/>
                          <a:hlinkClick r:id="rId3"/>
                        </a:rPr>
                        <a:t>[zapier.com]</a:t>
                      </a:r>
                      <a:r>
                        <a:rPr lang="en-US" sz="1800" b="0" i="0" dirty="0">
                          <a:solidFill>
                            <a:schemeClr val="bg1"/>
                          </a:solidFill>
                          <a:effectLst/>
                          <a:latin typeface="+mn-lt"/>
                        </a:rPr>
                        <a:t>, </a:t>
                      </a:r>
                      <a:r>
                        <a:rPr lang="en-US" sz="1800" b="0" i="0" u="none" strike="noStrike" dirty="0">
                          <a:solidFill>
                            <a:schemeClr val="bg1"/>
                          </a:solidFill>
                          <a:effectLst/>
                          <a:latin typeface="+mn-lt"/>
                          <a:hlinkClick r:id="rId4"/>
                        </a:rPr>
                        <a:t>[help.zapier.com]</a:t>
                      </a:r>
                      <a:endParaRPr lang="en-US" sz="1800" b="0" i="0" dirty="0">
                        <a:solidFill>
                          <a:schemeClr val="bg1"/>
                        </a:solidFill>
                        <a:effectLst/>
                        <a:latin typeface="+mn-lt"/>
                      </a:endParaRPr>
                    </a:p>
                    <a:p>
                      <a:pPr marL="285750" indent="-285750" fontAlgn="t">
                        <a:buFont typeface="Wingdings" panose="05000000000000000000" pitchFamily="2" charset="2"/>
                        <a:buChar char="q"/>
                      </a:pPr>
                      <a:r>
                        <a:rPr lang="en-US" sz="1800" b="1" i="0" dirty="0">
                          <a:solidFill>
                            <a:schemeClr val="bg1"/>
                          </a:solidFill>
                          <a:effectLst/>
                          <a:latin typeface="+mn-lt"/>
                        </a:rPr>
                        <a:t>Conversational setup</a:t>
                      </a:r>
                      <a:r>
                        <a:rPr lang="en-US" sz="1800" b="0" i="0" dirty="0">
                          <a:solidFill>
                            <a:schemeClr val="bg1"/>
                          </a:solidFill>
                          <a:effectLst/>
                          <a:latin typeface="+mn-lt"/>
                        </a:rPr>
                        <a:t>: define workflows through </a:t>
                      </a:r>
                      <a:r>
                        <a:rPr lang="en-US" sz="1800" b="0" i="0" dirty="0" smtClean="0">
                          <a:solidFill>
                            <a:schemeClr val="bg1"/>
                          </a:solidFill>
                          <a:effectLst/>
                          <a:latin typeface="+mn-lt"/>
                        </a:rPr>
                        <a:t>                                              natural-language </a:t>
                      </a:r>
                      <a:r>
                        <a:rPr lang="en-US" sz="1800" b="0" i="0" dirty="0">
                          <a:solidFill>
                            <a:schemeClr val="bg1"/>
                          </a:solidFill>
                          <a:effectLst/>
                          <a:latin typeface="+mn-lt"/>
                        </a:rPr>
                        <a:t>prompts—no scripting required. </a:t>
                      </a:r>
                      <a:r>
                        <a:rPr lang="en-US" sz="1800" b="0" i="0" u="none" strike="noStrike" dirty="0">
                          <a:solidFill>
                            <a:schemeClr val="bg1"/>
                          </a:solidFill>
                          <a:effectLst/>
                          <a:latin typeface="+mn-lt"/>
                          <a:hlinkClick r:id="rId3"/>
                        </a:rPr>
                        <a:t>[zapier.com]</a:t>
                      </a:r>
                      <a:r>
                        <a:rPr lang="en-US" sz="1800" b="0" i="0" dirty="0">
                          <a:solidFill>
                            <a:schemeClr val="bg1"/>
                          </a:solidFill>
                          <a:effectLst/>
                          <a:latin typeface="+mn-lt"/>
                        </a:rPr>
                        <a:t>, </a:t>
                      </a:r>
                      <a:r>
                        <a:rPr lang="en-US" sz="1800" b="0" i="0" u="none" strike="noStrike" dirty="0">
                          <a:solidFill>
                            <a:schemeClr val="bg1"/>
                          </a:solidFill>
                          <a:effectLst/>
                          <a:latin typeface="+mn-lt"/>
                          <a:hlinkClick r:id="rId4"/>
                        </a:rPr>
                        <a:t>[help.zapier.com]</a:t>
                      </a:r>
                      <a:endParaRPr lang="en-US" sz="1800" b="0" i="0" dirty="0">
                        <a:solidFill>
                          <a:schemeClr val="bg1"/>
                        </a:solidFill>
                        <a:effectLst/>
                        <a:latin typeface="+mn-lt"/>
                      </a:endParaRPr>
                    </a:p>
                    <a:p>
                      <a:pPr marL="285750" indent="-285750" fontAlgn="t">
                        <a:buFont typeface="Wingdings" panose="05000000000000000000" pitchFamily="2" charset="2"/>
                        <a:buChar char="q"/>
                      </a:pPr>
                      <a:r>
                        <a:rPr lang="en-US" sz="1800" b="1" i="0" dirty="0">
                          <a:solidFill>
                            <a:schemeClr val="bg1"/>
                          </a:solidFill>
                          <a:effectLst/>
                          <a:latin typeface="+mn-lt"/>
                        </a:rPr>
                        <a:t>Two build modes</a:t>
                      </a:r>
                      <a:r>
                        <a:rPr lang="en-US" sz="1800" b="0" i="0" dirty="0">
                          <a:solidFill>
                            <a:schemeClr val="bg1"/>
                          </a:solidFill>
                          <a:effectLst/>
                          <a:latin typeface="+mn-lt"/>
                        </a:rPr>
                        <a:t>: </a:t>
                      </a:r>
                    </a:p>
                    <a:p>
                      <a:pPr marL="742950" lvl="1" indent="-285750" fontAlgn="t">
                        <a:buFont typeface="Wingdings" panose="05000000000000000000" pitchFamily="2" charset="2"/>
                        <a:buChar char="q"/>
                      </a:pPr>
                      <a:r>
                        <a:rPr lang="en-US" sz="1800" b="1" i="0" dirty="0">
                          <a:solidFill>
                            <a:schemeClr val="bg1"/>
                          </a:solidFill>
                          <a:effectLst/>
                          <a:latin typeface="+mn-lt"/>
                        </a:rPr>
                        <a:t>Auto-build</a:t>
                      </a:r>
                      <a:r>
                        <a:rPr lang="en-US" sz="1800" b="0" i="0" dirty="0">
                          <a:solidFill>
                            <a:schemeClr val="bg1"/>
                          </a:solidFill>
                          <a:effectLst/>
                          <a:latin typeface="+mn-lt"/>
                        </a:rPr>
                        <a:t>: Copilot constructs and populates Zaps directly.</a:t>
                      </a:r>
                    </a:p>
                    <a:p>
                      <a:pPr marL="742950" lvl="1" indent="-285750" fontAlgn="t">
                        <a:buFont typeface="Wingdings" panose="05000000000000000000" pitchFamily="2" charset="2"/>
                        <a:buChar char="q"/>
                      </a:pPr>
                      <a:r>
                        <a:rPr lang="en-US" sz="1800" b="1" i="0" dirty="0">
                          <a:solidFill>
                            <a:schemeClr val="bg1"/>
                          </a:solidFill>
                          <a:effectLst/>
                          <a:latin typeface="+mn-lt"/>
                        </a:rPr>
                        <a:t>Ask-as-you-build</a:t>
                      </a:r>
                      <a:r>
                        <a:rPr lang="en-US" sz="1800" b="0" i="0" dirty="0">
                          <a:solidFill>
                            <a:schemeClr val="bg1"/>
                          </a:solidFill>
                          <a:effectLst/>
                          <a:latin typeface="+mn-lt"/>
                        </a:rPr>
                        <a:t>: Provides suggestions; builds only after user confirmation. </a:t>
                      </a:r>
                      <a:r>
                        <a:rPr lang="en-US" sz="1800" b="0" i="0" u="none" strike="noStrike" dirty="0">
                          <a:solidFill>
                            <a:schemeClr val="bg1"/>
                          </a:solidFill>
                          <a:effectLst/>
                          <a:latin typeface="+mn-lt"/>
                          <a:hlinkClick r:id="rId4"/>
                        </a:rPr>
                        <a:t>[help.zapier.com]</a:t>
                      </a:r>
                      <a:endParaRPr lang="en-US" sz="1800" b="0" i="0" dirty="0">
                        <a:solidFill>
                          <a:schemeClr val="bg1"/>
                        </a:solidFill>
                        <a:effectLst/>
                        <a:latin typeface="+mn-lt"/>
                      </a:endParaRPr>
                    </a:p>
                    <a:p>
                      <a:pPr marL="285750" indent="-285750" fontAlgn="t">
                        <a:buFont typeface="Wingdings" panose="05000000000000000000" pitchFamily="2" charset="2"/>
                        <a:buChar char="q"/>
                      </a:pPr>
                      <a:r>
                        <a:rPr lang="en-US" sz="1800" b="1" i="0" dirty="0">
                          <a:solidFill>
                            <a:schemeClr val="bg1"/>
                          </a:solidFill>
                          <a:effectLst/>
                          <a:latin typeface="+mn-lt"/>
                        </a:rPr>
                        <a:t>Cross-product expertise</a:t>
                      </a:r>
                      <a:r>
                        <a:rPr lang="en-US" sz="1800" b="0" i="0" dirty="0">
                          <a:solidFill>
                            <a:schemeClr val="bg1"/>
                          </a:solidFill>
                          <a:effectLst/>
                          <a:latin typeface="+mn-lt"/>
                        </a:rPr>
                        <a:t>: can suggest and orchestrate </a:t>
                      </a:r>
                      <a:r>
                        <a:rPr lang="en-US" sz="1800" b="0" i="0" dirty="0" smtClean="0">
                          <a:solidFill>
                            <a:schemeClr val="bg1"/>
                          </a:solidFill>
                          <a:effectLst/>
                          <a:latin typeface="+mn-lt"/>
                        </a:rPr>
                        <a:t>                                      multi-product </a:t>
                      </a:r>
                      <a:r>
                        <a:rPr lang="en-US" sz="1800" b="0" i="0" dirty="0">
                          <a:solidFill>
                            <a:schemeClr val="bg1"/>
                          </a:solidFill>
                          <a:effectLst/>
                          <a:latin typeface="+mn-lt"/>
                        </a:rPr>
                        <a:t>solutions spanning Zaps, Tables, Interfaces, Agents, Canvas, and </a:t>
                      </a:r>
                      <a:r>
                        <a:rPr lang="en-US" sz="1800" b="0" i="0" dirty="0" err="1">
                          <a:solidFill>
                            <a:schemeClr val="bg1"/>
                          </a:solidFill>
                          <a:effectLst/>
                          <a:latin typeface="+mn-lt"/>
                        </a:rPr>
                        <a:t>Chatbots</a:t>
                      </a:r>
                      <a:r>
                        <a:rPr lang="en-US" sz="1800" b="0" i="0" dirty="0">
                          <a:solidFill>
                            <a:schemeClr val="bg1"/>
                          </a:solidFill>
                          <a:effectLst/>
                          <a:latin typeface="+mn-lt"/>
                        </a:rPr>
                        <a:t>. </a:t>
                      </a:r>
                      <a:r>
                        <a:rPr lang="en-US" sz="1800" b="0" i="0" u="none" strike="noStrike" dirty="0">
                          <a:solidFill>
                            <a:schemeClr val="bg1"/>
                          </a:solidFill>
                          <a:effectLst/>
                          <a:latin typeface="+mn-lt"/>
                          <a:hlinkClick r:id="rId3"/>
                        </a:rPr>
                        <a:t>[zapier.com]</a:t>
                      </a:r>
                      <a:r>
                        <a:rPr lang="en-US" sz="1800" b="0" i="0" dirty="0">
                          <a:solidFill>
                            <a:schemeClr val="bg1"/>
                          </a:solidFill>
                          <a:effectLst/>
                          <a:latin typeface="+mn-lt"/>
                        </a:rPr>
                        <a:t>, </a:t>
                      </a:r>
                      <a:r>
                        <a:rPr lang="en-US" sz="1800" b="0" i="0" u="none" strike="noStrike" dirty="0">
                          <a:solidFill>
                            <a:schemeClr val="bg1"/>
                          </a:solidFill>
                          <a:effectLst/>
                          <a:latin typeface="+mn-lt"/>
                          <a:hlinkClick r:id="rId5"/>
                        </a:rPr>
                        <a:t>[globenewswire.com]</a:t>
                      </a:r>
                      <a:endParaRPr lang="en-US" sz="1800" b="0" i="0" dirty="0">
                        <a:solidFill>
                          <a:schemeClr val="bg1"/>
                        </a:solidFill>
                        <a:effectLst/>
                        <a:latin typeface="+mn-lt"/>
                      </a:endParaRPr>
                    </a:p>
                    <a:p>
                      <a:pPr marL="285750" indent="-285750" fontAlgn="t">
                        <a:buFont typeface="Wingdings" panose="05000000000000000000" pitchFamily="2" charset="2"/>
                        <a:buChar char="q"/>
                      </a:pPr>
                      <a:r>
                        <a:rPr lang="en-US" sz="1800" b="1" i="0" dirty="0">
                          <a:solidFill>
                            <a:schemeClr val="bg1"/>
                          </a:solidFill>
                          <a:effectLst/>
                          <a:latin typeface="+mn-lt"/>
                        </a:rPr>
                        <a:t>Smart recommendations</a:t>
                      </a:r>
                      <a:r>
                        <a:rPr lang="en-US" sz="1800" b="0" i="0" dirty="0">
                          <a:solidFill>
                            <a:schemeClr val="bg1"/>
                          </a:solidFill>
                          <a:effectLst/>
                          <a:latin typeface="+mn-lt"/>
                        </a:rPr>
                        <a:t>: proposes triggers, actions, relevant </a:t>
                      </a:r>
                      <a:r>
                        <a:rPr lang="en-US" sz="1800" b="0" i="0" dirty="0" smtClean="0">
                          <a:solidFill>
                            <a:schemeClr val="bg1"/>
                          </a:solidFill>
                          <a:effectLst/>
                          <a:latin typeface="+mn-lt"/>
                        </a:rPr>
                        <a:t>                  built-in </a:t>
                      </a:r>
                      <a:r>
                        <a:rPr lang="en-US" sz="1800" b="0" i="0" dirty="0">
                          <a:solidFill>
                            <a:schemeClr val="bg1"/>
                          </a:solidFill>
                          <a:effectLst/>
                          <a:latin typeface="+mn-lt"/>
                        </a:rPr>
                        <a:t>tools (Formatter, Delay, Filters), and templates or blog </a:t>
                      </a:r>
                      <a:r>
                        <a:rPr lang="en-US" sz="1800" b="0" i="0" dirty="0" smtClean="0">
                          <a:solidFill>
                            <a:schemeClr val="bg1"/>
                          </a:solidFill>
                          <a:effectLst/>
                          <a:latin typeface="+mn-lt"/>
                        </a:rPr>
                        <a:t>               guides</a:t>
                      </a:r>
                      <a:r>
                        <a:rPr lang="en-US" sz="1800" b="0" i="0" dirty="0">
                          <a:solidFill>
                            <a:schemeClr val="bg1"/>
                          </a:solidFill>
                          <a:effectLst/>
                          <a:latin typeface="+mn-lt"/>
                        </a:rPr>
                        <a:t>. </a:t>
                      </a:r>
                      <a:r>
                        <a:rPr lang="en-US" sz="1800" b="0" i="0" u="none" strike="noStrike" dirty="0">
                          <a:solidFill>
                            <a:schemeClr val="bg1"/>
                          </a:solidFill>
                          <a:effectLst/>
                          <a:latin typeface="+mn-lt"/>
                          <a:hlinkClick r:id="rId3"/>
                        </a:rPr>
                        <a:t>[zapier.com]</a:t>
                      </a:r>
                      <a:r>
                        <a:rPr lang="en-US" sz="1800" b="0" i="0" dirty="0">
                          <a:solidFill>
                            <a:schemeClr val="bg1"/>
                          </a:solidFill>
                          <a:effectLst/>
                          <a:latin typeface="+mn-lt"/>
                        </a:rPr>
                        <a:t>, </a:t>
                      </a:r>
                      <a:r>
                        <a:rPr lang="en-US" sz="1800" b="0" i="0" u="none" strike="noStrike" dirty="0">
                          <a:solidFill>
                            <a:schemeClr val="bg1"/>
                          </a:solidFill>
                          <a:effectLst/>
                          <a:latin typeface="+mn-lt"/>
                          <a:hlinkClick r:id="rId4"/>
                        </a:rPr>
                        <a:t>[help.zapier.com]</a:t>
                      </a:r>
                      <a:endParaRPr lang="en-US" sz="1800" b="0" i="0" dirty="0">
                        <a:solidFill>
                          <a:schemeClr val="bg1"/>
                        </a:solidFill>
                        <a:effectLst/>
                        <a:latin typeface="+mn-lt"/>
                      </a:endParaRPr>
                    </a:p>
                    <a:p>
                      <a:pPr marL="285750" indent="-285750" fontAlgn="t">
                        <a:buFont typeface="Wingdings" panose="05000000000000000000" pitchFamily="2" charset="2"/>
                        <a:buChar char="q"/>
                      </a:pPr>
                      <a:r>
                        <a:rPr lang="en-US" sz="1800" b="1" i="0" dirty="0">
                          <a:solidFill>
                            <a:schemeClr val="bg1"/>
                          </a:solidFill>
                          <a:effectLst/>
                          <a:latin typeface="+mn-lt"/>
                        </a:rPr>
                        <a:t>Context-aware guidance</a:t>
                      </a:r>
                      <a:r>
                        <a:rPr lang="en-US" sz="1800" b="0" i="0" dirty="0">
                          <a:solidFill>
                            <a:schemeClr val="bg1"/>
                          </a:solidFill>
                          <a:effectLst/>
                          <a:latin typeface="+mn-lt"/>
                        </a:rPr>
                        <a:t>: offers explanations of fields, </a:t>
                      </a:r>
                      <a:r>
                        <a:rPr lang="en-US" sz="1800" b="0" i="0" dirty="0" smtClean="0">
                          <a:solidFill>
                            <a:schemeClr val="bg1"/>
                          </a:solidFill>
                          <a:effectLst/>
                          <a:latin typeface="+mn-lt"/>
                        </a:rPr>
                        <a:t>                                    suggestions </a:t>
                      </a:r>
                      <a:r>
                        <a:rPr lang="en-US" sz="1800" b="0" i="0" dirty="0">
                          <a:solidFill>
                            <a:schemeClr val="bg1"/>
                          </a:solidFill>
                          <a:effectLst/>
                          <a:latin typeface="+mn-lt"/>
                        </a:rPr>
                        <a:t>for data mappings, and troubleshooting assistance within the editor. </a:t>
                      </a:r>
                      <a:r>
                        <a:rPr lang="en-US" sz="1800" b="0" i="0" u="none" strike="noStrike" dirty="0">
                          <a:solidFill>
                            <a:schemeClr val="bg1"/>
                          </a:solidFill>
                          <a:effectLst/>
                          <a:latin typeface="+mn-lt"/>
                          <a:hlinkClick r:id="rId6"/>
                        </a:rPr>
                        <a:t>[consultevo.com]</a:t>
                      </a:r>
                      <a:r>
                        <a:rPr lang="en-US" sz="1800" b="0" i="0" dirty="0">
                          <a:solidFill>
                            <a:schemeClr val="bg1"/>
                          </a:solidFill>
                          <a:effectLst/>
                          <a:latin typeface="+mn-lt"/>
                        </a:rPr>
                        <a:t>, </a:t>
                      </a:r>
                      <a:r>
                        <a:rPr lang="en-US" sz="1800" b="0" i="0" u="none" strike="noStrike" dirty="0">
                          <a:solidFill>
                            <a:schemeClr val="bg1"/>
                          </a:solidFill>
                          <a:effectLst/>
                          <a:latin typeface="+mn-lt"/>
                          <a:hlinkClick r:id="rId4"/>
                        </a:rPr>
                        <a:t>[help.zapier.com]</a:t>
                      </a:r>
                      <a:endParaRPr lang="en-US" sz="1800" b="0" i="0" dirty="0">
                        <a:solidFill>
                          <a:schemeClr val="bg1"/>
                        </a:solidFill>
                        <a:effectLst/>
                        <a:latin typeface="+mn-lt"/>
                      </a:endParaRPr>
                    </a:p>
                    <a:p>
                      <a:pPr marL="285750" indent="-285750" fontAlgn="t">
                        <a:buFont typeface="Wingdings" panose="05000000000000000000" pitchFamily="2" charset="2"/>
                        <a:buChar char="q"/>
                      </a:pPr>
                      <a:r>
                        <a:rPr lang="en-US" sz="1800" b="1" i="0" dirty="0">
                          <a:solidFill>
                            <a:schemeClr val="bg1"/>
                          </a:solidFill>
                          <a:effectLst/>
                          <a:latin typeface="+mn-lt"/>
                        </a:rPr>
                        <a:t>Visual support</a:t>
                      </a:r>
                      <a:r>
                        <a:rPr lang="en-US" sz="1800" b="0" i="0" dirty="0">
                          <a:solidFill>
                            <a:schemeClr val="bg1"/>
                          </a:solidFill>
                          <a:effectLst/>
                          <a:latin typeface="+mn-lt"/>
                        </a:rPr>
                        <a:t>: converts user descriptions or image/sketch </a:t>
                      </a:r>
                      <a:r>
                        <a:rPr lang="en-US" sz="1800" b="0" i="0" dirty="0" smtClean="0">
                          <a:solidFill>
                            <a:schemeClr val="bg1"/>
                          </a:solidFill>
                          <a:effectLst/>
                          <a:latin typeface="+mn-lt"/>
                        </a:rPr>
                        <a:t>                          attachments </a:t>
                      </a:r>
                      <a:r>
                        <a:rPr lang="en-US" sz="1800" b="0" i="0" dirty="0">
                          <a:solidFill>
                            <a:schemeClr val="bg1"/>
                          </a:solidFill>
                          <a:effectLst/>
                          <a:latin typeface="+mn-lt"/>
                        </a:rPr>
                        <a:t>into Canvas diagrams and proposals before building. </a:t>
                      </a:r>
                      <a:r>
                        <a:rPr lang="en-US" sz="1800" b="0" i="0" u="none" strike="noStrike" dirty="0">
                          <a:solidFill>
                            <a:schemeClr val="bg1"/>
                          </a:solidFill>
                          <a:effectLst/>
                          <a:latin typeface="+mn-lt"/>
                          <a:hlinkClick r:id="rId3"/>
                        </a:rPr>
                        <a:t>[zapier.com]</a:t>
                      </a:r>
                      <a:r>
                        <a:rPr lang="en-US" sz="1800" b="0" i="0" dirty="0">
                          <a:solidFill>
                            <a:schemeClr val="bg1"/>
                          </a:solidFill>
                          <a:effectLst/>
                          <a:latin typeface="+mn-lt"/>
                        </a:rPr>
                        <a:t>, </a:t>
                      </a:r>
                      <a:r>
                        <a:rPr lang="en-US" sz="1800" b="0" i="0" u="none" strike="noStrike" dirty="0">
                          <a:solidFill>
                            <a:schemeClr val="bg1"/>
                          </a:solidFill>
                          <a:effectLst/>
                          <a:latin typeface="+mn-lt"/>
                          <a:hlinkClick r:id="rId6"/>
                        </a:rPr>
                        <a:t>[consultevo.com]</a:t>
                      </a:r>
                      <a:endParaRPr lang="en-US" sz="1800" b="0" i="0" dirty="0">
                        <a:solidFill>
                          <a:schemeClr val="bg1"/>
                        </a:solidFill>
                        <a:effectLst/>
                        <a:latin typeface="+mn-lt"/>
                      </a:endParaRPr>
                    </a:p>
                    <a:p>
                      <a:pPr marL="285750" indent="-285750" fontAlgn="t">
                        <a:buFont typeface="Wingdings" panose="05000000000000000000" pitchFamily="2" charset="2"/>
                        <a:buChar char="q"/>
                      </a:pPr>
                      <a:r>
                        <a:rPr lang="en-US" sz="1800" b="1" i="0" dirty="0">
                          <a:solidFill>
                            <a:schemeClr val="bg1"/>
                          </a:solidFill>
                          <a:effectLst/>
                          <a:latin typeface="+mn-lt"/>
                        </a:rPr>
                        <a:t>Seamless workflow handoffs</a:t>
                      </a:r>
                      <a:r>
                        <a:rPr lang="en-US" sz="1800" b="0" i="0" dirty="0">
                          <a:solidFill>
                            <a:schemeClr val="bg1"/>
                          </a:solidFill>
                          <a:effectLst/>
                          <a:latin typeface="+mn-lt"/>
                        </a:rPr>
                        <a:t>: redirects users to the right editors for specific components of a system (e.g., from Zap to Interface). </a:t>
                      </a:r>
                      <a:r>
                        <a:rPr lang="en-US" sz="1800" b="0" i="0" u="none" strike="noStrike" dirty="0">
                          <a:solidFill>
                            <a:schemeClr val="bg1"/>
                          </a:solidFill>
                          <a:effectLst/>
                          <a:latin typeface="+mn-lt"/>
                          <a:hlinkClick r:id="rId3"/>
                        </a:rPr>
                        <a:t>[zapier.com]</a:t>
                      </a:r>
                      <a:r>
                        <a:rPr lang="en-US" sz="1800" b="0" i="0" dirty="0">
                          <a:solidFill>
                            <a:schemeClr val="bg1"/>
                          </a:solidFill>
                          <a:effectLst/>
                          <a:latin typeface="+mn-lt"/>
                        </a:rPr>
                        <a:t>, </a:t>
                      </a:r>
                      <a:r>
                        <a:rPr lang="en-US" sz="1800" b="0" i="0" u="none" strike="noStrike" dirty="0">
                          <a:solidFill>
                            <a:schemeClr val="bg1"/>
                          </a:solidFill>
                          <a:effectLst/>
                          <a:latin typeface="+mn-lt"/>
                          <a:hlinkClick r:id="rId5"/>
                        </a:rPr>
                        <a:t>[globenewswire.com</a:t>
                      </a:r>
                      <a:r>
                        <a:rPr lang="en-US" sz="1800" b="0" i="0" u="none" strike="noStrike" dirty="0" smtClean="0">
                          <a:solidFill>
                            <a:schemeClr val="bg1"/>
                          </a:solidFill>
                          <a:effectLst/>
                          <a:latin typeface="+mn-lt"/>
                          <a:hlinkClick r:id="rId5"/>
                        </a:rPr>
                        <a:t>]</a:t>
                      </a:r>
                      <a:endParaRPr lang="en-US" sz="1800" b="0" i="0" dirty="0">
                        <a:solidFill>
                          <a:schemeClr val="bg1"/>
                        </a:solidFill>
                        <a:effectLst/>
                        <a:latin typeface="+mn-lt"/>
                      </a:endParaRPr>
                    </a:p>
                  </a:txBody>
                  <a:tcPr marL="58758" marR="58758" marT="29379" marB="29379">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chemeClr val="tx1"/>
                    </a:solidFill>
                  </a:tcPr>
                </a:tc>
              </a:tr>
              <a:tr h="190962">
                <a:tc>
                  <a:txBody>
                    <a:bodyPr/>
                    <a:lstStyle/>
                    <a:p>
                      <a:endParaRPr lang="en-US" sz="900" dirty="0"/>
                    </a:p>
                  </a:txBody>
                  <a:tcPr marL="58758" marR="58758" marT="29379" marB="29379">
                    <a:lnT w="9525" cap="flat" cmpd="sng" algn="ctr">
                      <a:solidFill>
                        <a:srgbClr val="E6E6E6"/>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32436235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7" name="직사각형 26">
            <a:extLst>
              <a:ext uri="{FF2B5EF4-FFF2-40B4-BE49-F238E27FC236}">
                <a16:creationId xmlns:a16="http://schemas.microsoft.com/office/drawing/2014/main" xmlns="" id="{8D122637-2F9F-4D6D-B650-CED44ECF1A91}"/>
              </a:ext>
            </a:extLst>
          </p:cNvPr>
          <p:cNvSpPr/>
          <p:nvPr/>
        </p:nvSpPr>
        <p:spPr>
          <a:xfrm>
            <a:off x="0" y="0"/>
            <a:ext cx="461500" cy="50078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9" name="직선 연결선 28">
            <a:extLst>
              <a:ext uri="{FF2B5EF4-FFF2-40B4-BE49-F238E27FC236}">
                <a16:creationId xmlns:a16="http://schemas.microsoft.com/office/drawing/2014/main" xmlns="" id="{2AA171E4-1F6F-41A4-B104-0EFC14B58D33}"/>
              </a:ext>
            </a:extLst>
          </p:cNvPr>
          <p:cNvCxnSpPr>
            <a:cxnSpLocks/>
            <a:stCxn id="27" idx="0"/>
          </p:cNvCxnSpPr>
          <p:nvPr/>
        </p:nvCxnSpPr>
        <p:spPr>
          <a:xfrm flipH="1">
            <a:off x="212613" y="0"/>
            <a:ext cx="18137" cy="922020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xmlns="" id="{B5061A88-7C4D-45A8-89EA-77CDE39728FC}"/>
              </a:ext>
            </a:extLst>
          </p:cNvPr>
          <p:cNvCxnSpPr>
            <a:cxnSpLocks/>
          </p:cNvCxnSpPr>
          <p:nvPr/>
        </p:nvCxnSpPr>
        <p:spPr>
          <a:xfrm>
            <a:off x="0" y="563933"/>
            <a:ext cx="685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2"/>
          <a:stretch>
            <a:fillRect/>
          </a:stretch>
        </p:blipFill>
        <p:spPr>
          <a:xfrm>
            <a:off x="0" y="7358743"/>
            <a:ext cx="6858000" cy="1785257"/>
          </a:xfrm>
          <a:prstGeom prst="rect">
            <a:avLst/>
          </a:prstGeom>
        </p:spPr>
      </p:pic>
      <p:sp>
        <p:nvSpPr>
          <p:cNvPr id="2" name="Rectangle 1"/>
          <p:cNvSpPr/>
          <p:nvPr/>
        </p:nvSpPr>
        <p:spPr>
          <a:xfrm>
            <a:off x="461500" y="107516"/>
            <a:ext cx="3856697" cy="461665"/>
          </a:xfrm>
          <a:prstGeom prst="rect">
            <a:avLst/>
          </a:prstGeom>
        </p:spPr>
        <p:txBody>
          <a:bodyPr wrap="none">
            <a:spAutoFit/>
          </a:bodyPr>
          <a:lstStyle/>
          <a:p>
            <a:pPr fontAlgn="t"/>
            <a:r>
              <a:rPr lang="en-US" sz="2400" b="1" dirty="0" smtClean="0">
                <a:solidFill>
                  <a:schemeClr val="bg1"/>
                </a:solidFill>
              </a:rPr>
              <a:t>📬   </a:t>
            </a:r>
            <a:r>
              <a:rPr lang="en-US" sz="2400" b="1" dirty="0" err="1" smtClean="0">
                <a:solidFill>
                  <a:schemeClr val="bg1"/>
                </a:solidFill>
                <a:latin typeface="Segoe UI" panose="020B0502040204020203" pitchFamily="34" charset="0"/>
              </a:rPr>
              <a:t>Zapier</a:t>
            </a:r>
            <a:r>
              <a:rPr lang="en-US" sz="2400" b="1" dirty="0" smtClean="0">
                <a:solidFill>
                  <a:schemeClr val="bg1"/>
                </a:solidFill>
                <a:latin typeface="Segoe UI" panose="020B0502040204020203" pitchFamily="34" charset="0"/>
              </a:rPr>
              <a:t> Copilot –Part 2</a:t>
            </a:r>
            <a:endParaRPr lang="en-US" sz="2400" b="1" dirty="0">
              <a:solidFill>
                <a:schemeClr val="bg1"/>
              </a:solidFill>
              <a:latin typeface="Segoe UI" panose="020B0502040204020203"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532794496"/>
              </p:ext>
            </p:extLst>
          </p:nvPr>
        </p:nvGraphicFramePr>
        <p:xfrm>
          <a:off x="461500" y="729342"/>
          <a:ext cx="6298529" cy="5779784"/>
        </p:xfrm>
        <a:graphic>
          <a:graphicData uri="http://schemas.openxmlformats.org/drawingml/2006/table">
            <a:tbl>
              <a:tblPr/>
              <a:tblGrid>
                <a:gridCol w="6298529"/>
              </a:tblGrid>
              <a:tr h="5583866">
                <a:tc>
                  <a:txBody>
                    <a:bodyPr/>
                    <a:lstStyle/>
                    <a:p>
                      <a:pPr marL="285750" indent="-285750" fontAlgn="t">
                        <a:buFont typeface="Wingdings" panose="05000000000000000000" pitchFamily="2" charset="2"/>
                        <a:buChar char="q"/>
                      </a:pPr>
                      <a:r>
                        <a:rPr lang="en-US" sz="1800" b="1" i="0" dirty="0" smtClean="0">
                          <a:solidFill>
                            <a:schemeClr val="bg1"/>
                          </a:solidFill>
                          <a:effectLst/>
                          <a:latin typeface="+mn-lt"/>
                        </a:rPr>
                        <a:t>Retains </a:t>
                      </a:r>
                      <a:r>
                        <a:rPr lang="en-US" sz="1800" b="1" i="0" dirty="0">
                          <a:solidFill>
                            <a:schemeClr val="bg1"/>
                          </a:solidFill>
                          <a:effectLst/>
                          <a:latin typeface="+mn-lt"/>
                        </a:rPr>
                        <a:t>conversational context</a:t>
                      </a:r>
                      <a:r>
                        <a:rPr lang="en-US" sz="1800" b="0" i="0" dirty="0">
                          <a:solidFill>
                            <a:schemeClr val="bg1"/>
                          </a:solidFill>
                          <a:effectLst/>
                          <a:latin typeface="+mn-lt"/>
                        </a:rPr>
                        <a:t>: remembers earlier prompts to enable iterative system refinement. </a:t>
                      </a:r>
                      <a:r>
                        <a:rPr lang="en-US" sz="1800" b="0" i="0" u="none" strike="noStrike" dirty="0">
                          <a:solidFill>
                            <a:schemeClr val="bg1"/>
                          </a:solidFill>
                          <a:effectLst/>
                          <a:latin typeface="+mn-lt"/>
                          <a:hlinkClick r:id="rId3"/>
                        </a:rPr>
                        <a:t>[globenewswire.com]</a:t>
                      </a:r>
                      <a:r>
                        <a:rPr lang="en-US" sz="1800" b="0" i="0" dirty="0">
                          <a:solidFill>
                            <a:schemeClr val="bg1"/>
                          </a:solidFill>
                          <a:effectLst/>
                          <a:latin typeface="+mn-lt"/>
                        </a:rPr>
                        <a:t>, </a:t>
                      </a:r>
                      <a:r>
                        <a:rPr lang="en-US" sz="1800" b="0" i="0" u="none" strike="noStrike" dirty="0">
                          <a:solidFill>
                            <a:schemeClr val="bg1"/>
                          </a:solidFill>
                          <a:effectLst/>
                          <a:latin typeface="+mn-lt"/>
                          <a:hlinkClick r:id="rId4"/>
                        </a:rPr>
                        <a:t>[zapier.com]</a:t>
                      </a:r>
                      <a:endParaRPr lang="en-US" sz="1800" b="0" i="0" dirty="0">
                        <a:solidFill>
                          <a:schemeClr val="bg1"/>
                        </a:solidFill>
                        <a:effectLst/>
                        <a:latin typeface="+mn-lt"/>
                      </a:endParaRPr>
                    </a:p>
                    <a:p>
                      <a:pPr marL="285750" indent="-285750" fontAlgn="t">
                        <a:buFont typeface="Wingdings" panose="05000000000000000000" pitchFamily="2" charset="2"/>
                        <a:buChar char="q"/>
                      </a:pPr>
                      <a:r>
                        <a:rPr lang="en-US" sz="1800" b="1" i="0" dirty="0">
                          <a:solidFill>
                            <a:schemeClr val="bg1"/>
                          </a:solidFill>
                          <a:effectLst/>
                          <a:latin typeface="+mn-lt"/>
                        </a:rPr>
                        <a:t>Voice &amp; file input support</a:t>
                      </a:r>
                      <a:r>
                        <a:rPr lang="en-US" sz="1800" b="0" i="0" dirty="0">
                          <a:solidFill>
                            <a:schemeClr val="bg1"/>
                          </a:solidFill>
                          <a:effectLst/>
                          <a:latin typeface="+mn-lt"/>
                        </a:rPr>
                        <a:t>: users can speak prompts or upload </a:t>
                      </a:r>
                      <a:r>
                        <a:rPr lang="en-US" sz="1800" b="0" i="0" dirty="0" smtClean="0">
                          <a:solidFill>
                            <a:schemeClr val="bg1"/>
                          </a:solidFill>
                          <a:effectLst/>
                          <a:latin typeface="+mn-lt"/>
                        </a:rPr>
                        <a:t> images </a:t>
                      </a:r>
                      <a:r>
                        <a:rPr lang="en-US" sz="1800" b="0" i="0" dirty="0">
                          <a:solidFill>
                            <a:schemeClr val="bg1"/>
                          </a:solidFill>
                          <a:effectLst/>
                          <a:latin typeface="+mn-lt"/>
                        </a:rPr>
                        <a:t>for Copilot to interpret. </a:t>
                      </a:r>
                      <a:r>
                        <a:rPr lang="en-US" sz="1800" b="0" i="0" u="none" strike="noStrike" dirty="0">
                          <a:solidFill>
                            <a:schemeClr val="bg1"/>
                          </a:solidFill>
                          <a:effectLst/>
                          <a:latin typeface="+mn-lt"/>
                          <a:hlinkClick r:id="rId5"/>
                        </a:rPr>
                        <a:t>[help.zapier.com]</a:t>
                      </a:r>
                      <a:endParaRPr lang="en-US" sz="1800" b="0" i="0" dirty="0">
                        <a:solidFill>
                          <a:schemeClr val="bg1"/>
                        </a:solidFill>
                        <a:effectLst/>
                        <a:latin typeface="+mn-lt"/>
                      </a:endParaRPr>
                    </a:p>
                    <a:p>
                      <a:pPr marL="285750" indent="-285750" fontAlgn="t">
                        <a:buFont typeface="Wingdings" panose="05000000000000000000" pitchFamily="2" charset="2"/>
                        <a:buChar char="q"/>
                      </a:pPr>
                      <a:r>
                        <a:rPr lang="en-US" sz="1800" b="1" i="0" dirty="0">
                          <a:solidFill>
                            <a:schemeClr val="bg1"/>
                          </a:solidFill>
                          <a:effectLst/>
                          <a:latin typeface="+mn-lt"/>
                        </a:rPr>
                        <a:t>Built-in beta access</a:t>
                      </a:r>
                      <a:r>
                        <a:rPr lang="en-US" sz="1800" b="0" i="0" dirty="0">
                          <a:solidFill>
                            <a:schemeClr val="bg1"/>
                          </a:solidFill>
                          <a:effectLst/>
                          <a:latin typeface="+mn-lt"/>
                        </a:rPr>
                        <a:t>: available in open beta—active development so features may evolve. </a:t>
                      </a:r>
                      <a:r>
                        <a:rPr lang="en-US" sz="1800" b="0" i="0" u="none" strike="noStrike" dirty="0">
                          <a:solidFill>
                            <a:schemeClr val="bg1"/>
                          </a:solidFill>
                          <a:effectLst/>
                          <a:latin typeface="+mn-lt"/>
                          <a:hlinkClick r:id="rId5"/>
                        </a:rPr>
                        <a:t>[help.zapier.com]</a:t>
                      </a:r>
                      <a:r>
                        <a:rPr lang="en-US" sz="1800" b="0" i="0" dirty="0">
                          <a:solidFill>
                            <a:schemeClr val="bg1"/>
                          </a:solidFill>
                          <a:effectLst/>
                          <a:latin typeface="+mn-lt"/>
                        </a:rPr>
                        <a:t>, </a:t>
                      </a:r>
                      <a:r>
                        <a:rPr lang="en-US" sz="1800" b="0" i="0" u="none" strike="noStrike" dirty="0">
                          <a:solidFill>
                            <a:schemeClr val="bg1"/>
                          </a:solidFill>
                          <a:effectLst/>
                          <a:latin typeface="+mn-lt"/>
                          <a:hlinkClick r:id="rId4"/>
                        </a:rPr>
                        <a:t>[zapier.com]</a:t>
                      </a:r>
                      <a:endParaRPr lang="en-US" sz="1800" b="0" i="0" dirty="0">
                        <a:solidFill>
                          <a:schemeClr val="bg1"/>
                        </a:solidFill>
                        <a:effectLst/>
                        <a:latin typeface="+mn-lt"/>
                      </a:endParaRPr>
                    </a:p>
                    <a:p>
                      <a:pPr marL="285750" indent="-285750" fontAlgn="t">
                        <a:buFont typeface="Wingdings" panose="05000000000000000000" pitchFamily="2" charset="2"/>
                        <a:buChar char="q"/>
                      </a:pPr>
                      <a:r>
                        <a:rPr lang="en-US" sz="1800" b="1" i="0" dirty="0">
                          <a:solidFill>
                            <a:schemeClr val="bg1"/>
                          </a:solidFill>
                          <a:effectLst/>
                          <a:latin typeface="+mn-lt"/>
                        </a:rPr>
                        <a:t>Enterprise-grade governance</a:t>
                      </a:r>
                      <a:r>
                        <a:rPr lang="en-US" sz="1800" b="0" i="0" dirty="0">
                          <a:solidFill>
                            <a:schemeClr val="bg1"/>
                          </a:solidFill>
                          <a:effectLst/>
                          <a:latin typeface="+mn-lt"/>
                        </a:rPr>
                        <a:t>: integrates with Admin Hub for </a:t>
                      </a:r>
                      <a:r>
                        <a:rPr lang="en-US" sz="1800" b="0" i="0" dirty="0" smtClean="0">
                          <a:solidFill>
                            <a:schemeClr val="bg1"/>
                          </a:solidFill>
                          <a:effectLst/>
                          <a:latin typeface="+mn-lt"/>
                        </a:rPr>
                        <a:t>   usage </a:t>
                      </a:r>
                      <a:r>
                        <a:rPr lang="en-US" sz="1800" b="0" i="0" dirty="0">
                          <a:solidFill>
                            <a:schemeClr val="bg1"/>
                          </a:solidFill>
                          <a:effectLst/>
                          <a:latin typeface="+mn-lt"/>
                        </a:rPr>
                        <a:t>visibility, permissions, and compliance across teams. </a:t>
                      </a:r>
                      <a:r>
                        <a:rPr lang="en-US" sz="1800" b="0" i="0" u="none" strike="noStrike" dirty="0">
                          <a:solidFill>
                            <a:schemeClr val="bg1"/>
                          </a:solidFill>
                          <a:effectLst/>
                          <a:latin typeface="+mn-lt"/>
                          <a:hlinkClick r:id="rId3"/>
                        </a:rPr>
                        <a:t>[globenewswire.com]</a:t>
                      </a:r>
                      <a:r>
                        <a:rPr lang="en-US" sz="1800" b="0" i="0" dirty="0">
                          <a:solidFill>
                            <a:schemeClr val="bg1"/>
                          </a:solidFill>
                          <a:effectLst/>
                          <a:latin typeface="+mn-lt"/>
                        </a:rPr>
                        <a:t>, </a:t>
                      </a:r>
                      <a:r>
                        <a:rPr lang="en-US" sz="1800" b="0" i="0" u="none" strike="noStrike" dirty="0">
                          <a:solidFill>
                            <a:schemeClr val="bg1"/>
                          </a:solidFill>
                          <a:effectLst/>
                          <a:latin typeface="+mn-lt"/>
                          <a:hlinkClick r:id="rId6"/>
                        </a:rPr>
                        <a:t>[enterprise...iworld.com]</a:t>
                      </a:r>
                      <a:endParaRPr lang="en-US" sz="1800" b="0" i="0" dirty="0">
                        <a:solidFill>
                          <a:schemeClr val="bg1"/>
                        </a:solidFill>
                        <a:effectLst/>
                        <a:latin typeface="+mn-lt"/>
                      </a:endParaRPr>
                    </a:p>
                    <a:p>
                      <a:pPr marL="285750" indent="-285750" fontAlgn="t">
                        <a:buFont typeface="Wingdings" panose="05000000000000000000" pitchFamily="2" charset="2"/>
                        <a:buChar char="q"/>
                      </a:pPr>
                      <a:r>
                        <a:rPr lang="en-US" sz="1800" b="1" i="0" dirty="0">
                          <a:solidFill>
                            <a:schemeClr val="bg1"/>
                          </a:solidFill>
                          <a:effectLst/>
                          <a:latin typeface="+mn-lt"/>
                        </a:rPr>
                        <a:t>Broad integration support</a:t>
                      </a:r>
                      <a:r>
                        <a:rPr lang="en-US" sz="1800" b="0" i="0" dirty="0">
                          <a:solidFill>
                            <a:schemeClr val="bg1"/>
                          </a:solidFill>
                          <a:effectLst/>
                          <a:latin typeface="+mn-lt"/>
                        </a:rPr>
                        <a:t>: works across 8,000+ app </a:t>
                      </a:r>
                      <a:r>
                        <a:rPr lang="en-US" sz="1800" b="0" i="0" dirty="0" smtClean="0">
                          <a:solidFill>
                            <a:schemeClr val="bg1"/>
                          </a:solidFill>
                          <a:effectLst/>
                          <a:latin typeface="+mn-lt"/>
                        </a:rPr>
                        <a:t>                                 integrations</a:t>
                      </a:r>
                      <a:r>
                        <a:rPr lang="en-US" sz="1800" b="0" i="0" dirty="0">
                          <a:solidFill>
                            <a:schemeClr val="bg1"/>
                          </a:solidFill>
                          <a:effectLst/>
                          <a:latin typeface="+mn-lt"/>
                        </a:rPr>
                        <a:t>, including AI tools via Model Context Protocol (MCP). </a:t>
                      </a:r>
                      <a:r>
                        <a:rPr lang="en-US" sz="1800" b="0" i="0" u="none" strike="noStrike" dirty="0">
                          <a:solidFill>
                            <a:schemeClr val="bg1"/>
                          </a:solidFill>
                          <a:effectLst/>
                          <a:latin typeface="+mn-lt"/>
                          <a:hlinkClick r:id="rId3"/>
                        </a:rPr>
                        <a:t>[globenewswire.com]</a:t>
                      </a:r>
                      <a:r>
                        <a:rPr lang="en-US" sz="1800" b="0" i="0" dirty="0">
                          <a:solidFill>
                            <a:schemeClr val="bg1"/>
                          </a:solidFill>
                          <a:effectLst/>
                          <a:latin typeface="+mn-lt"/>
                        </a:rPr>
                        <a:t>, </a:t>
                      </a:r>
                      <a:r>
                        <a:rPr lang="en-US" sz="1800" b="0" i="0" u="none" strike="noStrike" dirty="0">
                          <a:solidFill>
                            <a:schemeClr val="bg1"/>
                          </a:solidFill>
                          <a:effectLst/>
                          <a:latin typeface="+mn-lt"/>
                          <a:hlinkClick r:id="rId6"/>
                        </a:rPr>
                        <a:t>[enterprise...iworld.com]</a:t>
                      </a:r>
                      <a:endParaRPr lang="en-US" sz="1800" b="0" i="0" dirty="0">
                        <a:solidFill>
                          <a:schemeClr val="bg1"/>
                        </a:solidFill>
                        <a:effectLst/>
                        <a:latin typeface="+mn-lt"/>
                      </a:endParaRPr>
                    </a:p>
                    <a:p>
                      <a:pPr marL="285750" indent="-285750" fontAlgn="t">
                        <a:buFont typeface="Wingdings" panose="05000000000000000000" pitchFamily="2" charset="2"/>
                        <a:buChar char="q"/>
                      </a:pPr>
                      <a:r>
                        <a:rPr lang="en-US" sz="1800" b="1" i="0" dirty="0">
                          <a:solidFill>
                            <a:schemeClr val="bg1"/>
                          </a:solidFill>
                          <a:effectLst/>
                          <a:latin typeface="+mn-lt"/>
                        </a:rPr>
                        <a:t>Empowers non-technical users</a:t>
                      </a:r>
                      <a:r>
                        <a:rPr lang="en-US" sz="1800" b="0" i="0" dirty="0">
                          <a:solidFill>
                            <a:schemeClr val="bg1"/>
                          </a:solidFill>
                          <a:effectLst/>
                          <a:latin typeface="+mn-lt"/>
                        </a:rPr>
                        <a:t>: enables business users to build complex automations without coding. </a:t>
                      </a:r>
                      <a:r>
                        <a:rPr lang="en-US" sz="1800" b="0" i="0" u="none" strike="noStrike" dirty="0">
                          <a:solidFill>
                            <a:schemeClr val="bg1"/>
                          </a:solidFill>
                          <a:effectLst/>
                          <a:latin typeface="+mn-lt"/>
                          <a:hlinkClick r:id="rId3"/>
                        </a:rPr>
                        <a:t>[globenewswire.com]</a:t>
                      </a:r>
                      <a:r>
                        <a:rPr lang="en-US" sz="1800" b="0" i="0" dirty="0">
                          <a:solidFill>
                            <a:schemeClr val="bg1"/>
                          </a:solidFill>
                          <a:effectLst/>
                          <a:latin typeface="+mn-lt"/>
                        </a:rPr>
                        <a:t>, </a:t>
                      </a:r>
                      <a:r>
                        <a:rPr lang="en-US" sz="1800" b="0" i="0" u="none" strike="noStrike" dirty="0">
                          <a:solidFill>
                            <a:schemeClr val="bg1"/>
                          </a:solidFill>
                          <a:effectLst/>
                          <a:latin typeface="+mn-lt"/>
                          <a:hlinkClick r:id="rId4"/>
                        </a:rPr>
                        <a:t>[zapier.com]</a:t>
                      </a:r>
                      <a:endParaRPr lang="en-US" sz="1800" b="0" i="0" dirty="0">
                        <a:solidFill>
                          <a:schemeClr val="bg1"/>
                        </a:solidFill>
                        <a:effectLst/>
                        <a:latin typeface="+mn-lt"/>
                      </a:endParaRPr>
                    </a:p>
                    <a:p>
                      <a:pPr marL="285750" indent="-285750" fontAlgn="t">
                        <a:buFont typeface="Wingdings" panose="05000000000000000000" pitchFamily="2" charset="2"/>
                        <a:buChar char="q"/>
                      </a:pPr>
                      <a:r>
                        <a:rPr lang="en-US" sz="1800" b="1" i="0" dirty="0">
                          <a:solidFill>
                            <a:schemeClr val="bg1"/>
                          </a:solidFill>
                          <a:effectLst/>
                          <a:latin typeface="+mn-lt"/>
                        </a:rPr>
                        <a:t>Helpful downstream navigation</a:t>
                      </a:r>
                      <a:r>
                        <a:rPr lang="en-US" sz="1800" b="0" i="0" dirty="0">
                          <a:solidFill>
                            <a:schemeClr val="bg1"/>
                          </a:solidFill>
                          <a:effectLst/>
                          <a:latin typeface="+mn-lt"/>
                        </a:rPr>
                        <a:t>: when automation spans </a:t>
                      </a:r>
                      <a:r>
                        <a:rPr lang="en-US" sz="1800" b="0" i="0" dirty="0" smtClean="0">
                          <a:solidFill>
                            <a:schemeClr val="bg1"/>
                          </a:solidFill>
                          <a:effectLst/>
                          <a:latin typeface="+mn-lt"/>
                        </a:rPr>
                        <a:t>                      multiple </a:t>
                      </a:r>
                      <a:r>
                        <a:rPr lang="en-US" sz="1800" b="0" i="0" dirty="0" err="1">
                          <a:solidFill>
                            <a:schemeClr val="bg1"/>
                          </a:solidFill>
                          <a:effectLst/>
                          <a:latin typeface="+mn-lt"/>
                        </a:rPr>
                        <a:t>Zapier</a:t>
                      </a:r>
                      <a:r>
                        <a:rPr lang="en-US" sz="1800" b="0" i="0" dirty="0">
                          <a:solidFill>
                            <a:schemeClr val="bg1"/>
                          </a:solidFill>
                          <a:effectLst/>
                          <a:latin typeface="+mn-lt"/>
                        </a:rPr>
                        <a:t> tools, Copilot proactively guides users to the </a:t>
                      </a:r>
                      <a:r>
                        <a:rPr lang="en-US" sz="1800" b="0" i="0" dirty="0" smtClean="0">
                          <a:solidFill>
                            <a:schemeClr val="bg1"/>
                          </a:solidFill>
                          <a:effectLst/>
                          <a:latin typeface="+mn-lt"/>
                        </a:rPr>
                        <a:t>              correct </a:t>
                      </a:r>
                      <a:r>
                        <a:rPr lang="en-US" sz="1800" b="0" i="0" dirty="0">
                          <a:solidFill>
                            <a:schemeClr val="bg1"/>
                          </a:solidFill>
                          <a:effectLst/>
                          <a:latin typeface="+mn-lt"/>
                        </a:rPr>
                        <a:t>builder interface. </a:t>
                      </a:r>
                      <a:r>
                        <a:rPr lang="en-US" sz="1800" b="0" i="0" u="none" strike="noStrike" dirty="0">
                          <a:solidFill>
                            <a:schemeClr val="bg1"/>
                          </a:solidFill>
                          <a:effectLst/>
                          <a:latin typeface="+mn-lt"/>
                          <a:hlinkClick r:id="rId4"/>
                        </a:rPr>
                        <a:t>[zapier.com]</a:t>
                      </a:r>
                      <a:r>
                        <a:rPr lang="en-US" sz="1800" b="0" i="0" dirty="0">
                          <a:solidFill>
                            <a:schemeClr val="bg1"/>
                          </a:solidFill>
                          <a:effectLst/>
                          <a:latin typeface="+mn-lt"/>
                        </a:rPr>
                        <a:t>, </a:t>
                      </a:r>
                      <a:r>
                        <a:rPr lang="en-US" sz="1800" b="0" i="0" u="none" strike="noStrike" dirty="0">
                          <a:solidFill>
                            <a:schemeClr val="bg1"/>
                          </a:solidFill>
                          <a:effectLst/>
                          <a:latin typeface="+mn-lt"/>
                          <a:hlinkClick r:id="rId7"/>
                        </a:rPr>
                        <a:t>[consultevo.com]</a:t>
                      </a:r>
                      <a:endParaRPr lang="en-US" sz="1800" b="0" i="0" dirty="0">
                        <a:solidFill>
                          <a:schemeClr val="bg1"/>
                        </a:solidFill>
                        <a:effectLst/>
                        <a:latin typeface="+mn-lt"/>
                      </a:endParaRPr>
                    </a:p>
                  </a:txBody>
                  <a:tcPr marL="58758" marR="58758" marT="29379" marB="29379">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chemeClr val="tx1"/>
                    </a:solidFill>
                  </a:tcPr>
                </a:tc>
              </a:tr>
              <a:tr h="190962">
                <a:tc>
                  <a:txBody>
                    <a:bodyPr/>
                    <a:lstStyle/>
                    <a:p>
                      <a:endParaRPr lang="en-US" sz="900" dirty="0"/>
                    </a:p>
                  </a:txBody>
                  <a:tcPr marL="58758" marR="58758" marT="29379" marB="29379">
                    <a:lnT w="9525" cap="flat" cmpd="sng" algn="ctr">
                      <a:solidFill>
                        <a:srgbClr val="E6E6E6"/>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103776589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7" name="직사각형 26">
            <a:extLst>
              <a:ext uri="{FF2B5EF4-FFF2-40B4-BE49-F238E27FC236}">
                <a16:creationId xmlns:a16="http://schemas.microsoft.com/office/drawing/2014/main" xmlns="" id="{8D122637-2F9F-4D6D-B650-CED44ECF1A91}"/>
              </a:ext>
            </a:extLst>
          </p:cNvPr>
          <p:cNvSpPr/>
          <p:nvPr/>
        </p:nvSpPr>
        <p:spPr>
          <a:xfrm>
            <a:off x="0" y="0"/>
            <a:ext cx="461500" cy="50078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9" name="직선 연결선 28">
            <a:extLst>
              <a:ext uri="{FF2B5EF4-FFF2-40B4-BE49-F238E27FC236}">
                <a16:creationId xmlns:a16="http://schemas.microsoft.com/office/drawing/2014/main" xmlns="" id="{2AA171E4-1F6F-41A4-B104-0EFC14B58D33}"/>
              </a:ext>
            </a:extLst>
          </p:cNvPr>
          <p:cNvCxnSpPr>
            <a:cxnSpLocks/>
            <a:stCxn id="27" idx="0"/>
          </p:cNvCxnSpPr>
          <p:nvPr/>
        </p:nvCxnSpPr>
        <p:spPr>
          <a:xfrm flipH="1">
            <a:off x="212613" y="0"/>
            <a:ext cx="18137" cy="922020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xmlns="" id="{B5061A88-7C4D-45A8-89EA-77CDE39728FC}"/>
              </a:ext>
            </a:extLst>
          </p:cNvPr>
          <p:cNvCxnSpPr>
            <a:cxnSpLocks/>
          </p:cNvCxnSpPr>
          <p:nvPr/>
        </p:nvCxnSpPr>
        <p:spPr>
          <a:xfrm>
            <a:off x="0" y="563933"/>
            <a:ext cx="685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2"/>
          <a:stretch>
            <a:fillRect/>
          </a:stretch>
        </p:blipFill>
        <p:spPr>
          <a:xfrm>
            <a:off x="0" y="7358743"/>
            <a:ext cx="6858000" cy="1785257"/>
          </a:xfrm>
          <a:prstGeom prst="rect">
            <a:avLst/>
          </a:prstGeom>
        </p:spPr>
      </p:pic>
      <p:sp>
        <p:nvSpPr>
          <p:cNvPr id="2" name="Rectangle 1"/>
          <p:cNvSpPr/>
          <p:nvPr/>
        </p:nvSpPr>
        <p:spPr>
          <a:xfrm>
            <a:off x="461500" y="107516"/>
            <a:ext cx="3172792" cy="461665"/>
          </a:xfrm>
          <a:prstGeom prst="rect">
            <a:avLst/>
          </a:prstGeom>
        </p:spPr>
        <p:txBody>
          <a:bodyPr wrap="none">
            <a:spAutoFit/>
          </a:bodyPr>
          <a:lstStyle/>
          <a:p>
            <a:pPr fontAlgn="t"/>
            <a:r>
              <a:rPr lang="en-US" sz="2400" b="1" dirty="0" smtClean="0">
                <a:solidFill>
                  <a:schemeClr val="bg1"/>
                </a:solidFill>
              </a:rPr>
              <a:t>📬   </a:t>
            </a:r>
            <a:r>
              <a:rPr lang="en-US" sz="2400" b="1" dirty="0" err="1" smtClean="0">
                <a:solidFill>
                  <a:schemeClr val="bg1"/>
                </a:solidFill>
                <a:latin typeface="Segoe UI" panose="020B0502040204020203" pitchFamily="34" charset="0"/>
              </a:rPr>
              <a:t>Zapier</a:t>
            </a:r>
            <a:r>
              <a:rPr lang="en-US" sz="2400" b="1" dirty="0" smtClean="0">
                <a:solidFill>
                  <a:schemeClr val="bg1"/>
                </a:solidFill>
                <a:latin typeface="Segoe UI" panose="020B0502040204020203" pitchFamily="34" charset="0"/>
              </a:rPr>
              <a:t> </a:t>
            </a:r>
            <a:r>
              <a:rPr lang="en-US" sz="2400" b="1" dirty="0" err="1">
                <a:solidFill>
                  <a:schemeClr val="bg1"/>
                </a:solidFill>
              </a:rPr>
              <a:t>Zapier</a:t>
            </a:r>
            <a:r>
              <a:rPr lang="en-US" sz="2400" b="1" dirty="0">
                <a:solidFill>
                  <a:schemeClr val="bg1"/>
                </a:solidFill>
              </a:rPr>
              <a:t> MCP</a:t>
            </a:r>
            <a:endParaRPr lang="en-US" sz="2400" b="1" dirty="0">
              <a:solidFill>
                <a:schemeClr val="bg1"/>
              </a:solidFill>
              <a:latin typeface="Segoe UI" panose="020B0502040204020203"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499608928"/>
              </p:ext>
            </p:extLst>
          </p:nvPr>
        </p:nvGraphicFramePr>
        <p:xfrm>
          <a:off x="461500" y="729342"/>
          <a:ext cx="6298529" cy="5881046"/>
        </p:xfrm>
        <a:graphic>
          <a:graphicData uri="http://schemas.openxmlformats.org/drawingml/2006/table">
            <a:tbl>
              <a:tblPr/>
              <a:tblGrid>
                <a:gridCol w="6298529"/>
              </a:tblGrid>
              <a:tr h="5583866">
                <a:tc>
                  <a:txBody>
                    <a:bodyPr/>
                    <a:lstStyle/>
                    <a:p>
                      <a:pPr marL="285750" indent="-285750" fontAlgn="t">
                        <a:buFont typeface="Wingdings" panose="05000000000000000000" pitchFamily="2" charset="2"/>
                        <a:buChar char="q"/>
                      </a:pPr>
                      <a:r>
                        <a:rPr lang="en-US" sz="1600" b="1" i="0" dirty="0" smtClean="0">
                          <a:solidFill>
                            <a:schemeClr val="bg1"/>
                          </a:solidFill>
                          <a:effectLst/>
                          <a:latin typeface="+mn-lt"/>
                        </a:rPr>
                        <a:t>A </a:t>
                      </a:r>
                      <a:r>
                        <a:rPr lang="en-US" sz="1600" b="1" i="0" dirty="0">
                          <a:solidFill>
                            <a:schemeClr val="bg1"/>
                          </a:solidFill>
                          <a:effectLst/>
                          <a:latin typeface="+mn-lt"/>
                        </a:rPr>
                        <a:t>standardized bridge</a:t>
                      </a:r>
                      <a:r>
                        <a:rPr lang="en-US" sz="1600" b="0" i="0" dirty="0">
                          <a:solidFill>
                            <a:schemeClr val="bg1"/>
                          </a:solidFill>
                          <a:effectLst/>
                          <a:latin typeface="+mn-lt"/>
                        </a:rPr>
                        <a:t> that lets AI tools (e.g., </a:t>
                      </a:r>
                      <a:r>
                        <a:rPr lang="en-US" sz="1600" b="1" i="0" dirty="0">
                          <a:solidFill>
                            <a:schemeClr val="bg1"/>
                          </a:solidFill>
                          <a:effectLst/>
                          <a:latin typeface="+mn-lt"/>
                        </a:rPr>
                        <a:t>Claude</a:t>
                      </a:r>
                      <a:r>
                        <a:rPr lang="en-US" sz="1600" b="0" i="0" dirty="0">
                          <a:solidFill>
                            <a:schemeClr val="bg1"/>
                          </a:solidFill>
                          <a:effectLst/>
                          <a:latin typeface="+mn-lt"/>
                        </a:rPr>
                        <a:t>, </a:t>
                      </a:r>
                      <a:r>
                        <a:rPr lang="en-US" sz="1600" b="1" i="0" dirty="0" err="1">
                          <a:solidFill>
                            <a:schemeClr val="bg1"/>
                          </a:solidFill>
                          <a:effectLst/>
                          <a:latin typeface="+mn-lt"/>
                        </a:rPr>
                        <a:t>ChatGPT</a:t>
                      </a:r>
                      <a:r>
                        <a:rPr lang="en-US" sz="1600" b="0" i="0" dirty="0">
                          <a:solidFill>
                            <a:schemeClr val="bg1"/>
                          </a:solidFill>
                          <a:effectLst/>
                          <a:latin typeface="+mn-lt"/>
                        </a:rPr>
                        <a:t>, Cursor, Windsurf) </a:t>
                      </a:r>
                      <a:r>
                        <a:rPr lang="en-US" sz="1600" b="1" i="0" dirty="0">
                          <a:solidFill>
                            <a:schemeClr val="bg1"/>
                          </a:solidFill>
                          <a:effectLst/>
                          <a:latin typeface="+mn-lt"/>
                        </a:rPr>
                        <a:t>take real actions</a:t>
                      </a:r>
                      <a:r>
                        <a:rPr lang="en-US" sz="1600" b="0" i="0" dirty="0">
                          <a:solidFill>
                            <a:schemeClr val="bg1"/>
                          </a:solidFill>
                          <a:effectLst/>
                          <a:latin typeface="+mn-lt"/>
                        </a:rPr>
                        <a:t> in apps via </a:t>
                      </a:r>
                      <a:r>
                        <a:rPr lang="en-US" sz="1600" b="0" i="0" dirty="0" err="1">
                          <a:solidFill>
                            <a:schemeClr val="bg1"/>
                          </a:solidFill>
                          <a:effectLst/>
                          <a:latin typeface="+mn-lt"/>
                        </a:rPr>
                        <a:t>Zapier’s</a:t>
                      </a:r>
                      <a:r>
                        <a:rPr lang="en-US" sz="1600" b="0" i="0" dirty="0">
                          <a:solidFill>
                            <a:schemeClr val="bg1"/>
                          </a:solidFill>
                          <a:effectLst/>
                          <a:latin typeface="+mn-lt"/>
                        </a:rPr>
                        <a:t> integration network</a:t>
                      </a:r>
                      <a:r>
                        <a:rPr lang="en-US" sz="1600" b="0" i="0" dirty="0" smtClean="0">
                          <a:solidFill>
                            <a:schemeClr val="bg1"/>
                          </a:solidFill>
                          <a:effectLst/>
                          <a:latin typeface="+mn-lt"/>
                        </a:rPr>
                        <a:t>— no </a:t>
                      </a:r>
                      <a:r>
                        <a:rPr lang="en-US" sz="1600" b="0" i="0" dirty="0">
                          <a:solidFill>
                            <a:schemeClr val="bg1"/>
                          </a:solidFill>
                          <a:effectLst/>
                          <a:latin typeface="+mn-lt"/>
                        </a:rPr>
                        <a:t>custom back‑end required. </a:t>
                      </a:r>
                      <a:r>
                        <a:rPr lang="en-US" sz="1600" b="0" i="0" u="none" strike="noStrike" dirty="0">
                          <a:solidFill>
                            <a:schemeClr val="bg1"/>
                          </a:solidFill>
                          <a:effectLst/>
                          <a:latin typeface="+mn-lt"/>
                          <a:hlinkClick r:id="rId3"/>
                        </a:rPr>
                        <a:t>[zapier.com]</a:t>
                      </a:r>
                      <a:endParaRPr lang="en-US" sz="1600" b="0" i="0" dirty="0">
                        <a:solidFill>
                          <a:schemeClr val="bg1"/>
                        </a:solidFill>
                        <a:effectLst/>
                        <a:latin typeface="+mn-lt"/>
                      </a:endParaRPr>
                    </a:p>
                    <a:p>
                      <a:pPr marL="285750" indent="-285750" fontAlgn="t">
                        <a:buFont typeface="Wingdings" panose="05000000000000000000" pitchFamily="2" charset="2"/>
                        <a:buChar char="q"/>
                      </a:pPr>
                      <a:r>
                        <a:rPr lang="en-US" sz="1600" b="0" i="0" dirty="0">
                          <a:solidFill>
                            <a:schemeClr val="bg1"/>
                          </a:solidFill>
                          <a:effectLst/>
                          <a:latin typeface="+mn-lt"/>
                        </a:rPr>
                        <a:t>Built on the open </a:t>
                      </a:r>
                      <a:r>
                        <a:rPr lang="en-US" sz="1600" b="1" i="0" dirty="0">
                          <a:solidFill>
                            <a:schemeClr val="bg1"/>
                          </a:solidFill>
                          <a:effectLst/>
                          <a:latin typeface="+mn-lt"/>
                        </a:rPr>
                        <a:t>Model Context Protocol (MCP)</a:t>
                      </a:r>
                      <a:r>
                        <a:rPr lang="en-US" sz="1600" b="0" i="0" dirty="0">
                          <a:solidFill>
                            <a:schemeClr val="bg1"/>
                          </a:solidFill>
                          <a:effectLst/>
                          <a:latin typeface="+mn-lt"/>
                        </a:rPr>
                        <a:t>—a two‑way </a:t>
                      </a:r>
                      <a:r>
                        <a:rPr lang="en-US" sz="1600" b="0" i="0" dirty="0" smtClean="0">
                          <a:solidFill>
                            <a:schemeClr val="bg1"/>
                          </a:solidFill>
                          <a:effectLst/>
                          <a:latin typeface="+mn-lt"/>
                        </a:rPr>
                        <a:t>                                   framework </a:t>
                      </a:r>
                      <a:r>
                        <a:rPr lang="en-US" sz="1600" b="0" i="0" dirty="0">
                          <a:solidFill>
                            <a:schemeClr val="bg1"/>
                          </a:solidFill>
                          <a:effectLst/>
                          <a:latin typeface="+mn-lt"/>
                        </a:rPr>
                        <a:t>originally developed by Anthropic and now embraced across the </a:t>
                      </a:r>
                      <a:r>
                        <a:rPr lang="en-US" sz="1600" b="0" i="0" dirty="0" smtClean="0">
                          <a:solidFill>
                            <a:schemeClr val="bg1"/>
                          </a:solidFill>
                          <a:effectLst/>
                          <a:latin typeface="+mn-lt"/>
                        </a:rPr>
                        <a:t>                 ecosystem—so </a:t>
                      </a:r>
                      <a:r>
                        <a:rPr lang="en-US" sz="1600" b="0" i="0" dirty="0">
                          <a:solidFill>
                            <a:schemeClr val="bg1"/>
                          </a:solidFill>
                          <a:effectLst/>
                          <a:latin typeface="+mn-lt"/>
                        </a:rPr>
                        <a:t>AI can access context </a:t>
                      </a:r>
                      <a:r>
                        <a:rPr lang="en-US" sz="1600" b="0" i="1" dirty="0">
                          <a:solidFill>
                            <a:schemeClr val="bg1"/>
                          </a:solidFill>
                          <a:effectLst/>
                          <a:latin typeface="+mn-lt"/>
                        </a:rPr>
                        <a:t>and</a:t>
                      </a:r>
                      <a:r>
                        <a:rPr lang="en-US" sz="1600" b="0" i="0" dirty="0">
                          <a:solidFill>
                            <a:schemeClr val="bg1"/>
                          </a:solidFill>
                          <a:effectLst/>
                          <a:latin typeface="+mn-lt"/>
                        </a:rPr>
                        <a:t> execute tasks safely. </a:t>
                      </a:r>
                      <a:r>
                        <a:rPr lang="en-US" sz="1600" b="0" i="0" u="none" strike="noStrike" dirty="0">
                          <a:solidFill>
                            <a:schemeClr val="bg1"/>
                          </a:solidFill>
                          <a:effectLst/>
                          <a:latin typeface="+mn-lt"/>
                          <a:hlinkClick r:id="rId4"/>
                        </a:rPr>
                        <a:t>[zapier.com]</a:t>
                      </a:r>
                      <a:endParaRPr lang="en-US" sz="1600" b="0" i="0" dirty="0">
                        <a:solidFill>
                          <a:schemeClr val="bg1"/>
                        </a:solidFill>
                        <a:effectLst/>
                        <a:latin typeface="+mn-lt"/>
                      </a:endParaRPr>
                    </a:p>
                    <a:p>
                      <a:pPr marL="285750" indent="-285750" fontAlgn="t">
                        <a:buFont typeface="Wingdings" panose="05000000000000000000" pitchFamily="2" charset="2"/>
                        <a:buChar char="q"/>
                      </a:pPr>
                      <a:r>
                        <a:rPr lang="en-US" sz="1600" b="0" i="0" dirty="0">
                          <a:solidFill>
                            <a:schemeClr val="bg1"/>
                          </a:solidFill>
                          <a:effectLst/>
                          <a:latin typeface="+mn-lt"/>
                        </a:rPr>
                        <a:t>Delivered as a </a:t>
                      </a:r>
                      <a:r>
                        <a:rPr lang="en-US" sz="1600" b="1" i="0" dirty="0">
                          <a:solidFill>
                            <a:schemeClr val="bg1"/>
                          </a:solidFill>
                          <a:effectLst/>
                          <a:latin typeface="+mn-lt"/>
                        </a:rPr>
                        <a:t>remote MCP server endpoint</a:t>
                      </a:r>
                      <a:r>
                        <a:rPr lang="en-US" sz="1600" b="0" i="0" dirty="0">
                          <a:solidFill>
                            <a:schemeClr val="bg1"/>
                          </a:solidFill>
                          <a:effectLst/>
                          <a:latin typeface="+mn-lt"/>
                        </a:rPr>
                        <a:t> you generate in </a:t>
                      </a:r>
                      <a:r>
                        <a:rPr lang="en-US" sz="1600" b="0" i="0" dirty="0" err="1">
                          <a:solidFill>
                            <a:schemeClr val="bg1"/>
                          </a:solidFill>
                          <a:effectLst/>
                          <a:latin typeface="+mn-lt"/>
                        </a:rPr>
                        <a:t>Zapier</a:t>
                      </a:r>
                      <a:r>
                        <a:rPr lang="en-US" sz="1600" b="0" i="0" dirty="0">
                          <a:solidFill>
                            <a:schemeClr val="bg1"/>
                          </a:solidFill>
                          <a:effectLst/>
                          <a:latin typeface="+mn-lt"/>
                        </a:rPr>
                        <a:t> </a:t>
                      </a:r>
                      <a:r>
                        <a:rPr lang="en-US" sz="1600" b="0" i="0" dirty="0" smtClean="0">
                          <a:solidFill>
                            <a:schemeClr val="bg1"/>
                          </a:solidFill>
                          <a:effectLst/>
                          <a:latin typeface="+mn-lt"/>
                        </a:rPr>
                        <a:t>                       and </a:t>
                      </a:r>
                      <a:r>
                        <a:rPr lang="en-US" sz="1600" b="0" i="0" dirty="0">
                          <a:solidFill>
                            <a:schemeClr val="bg1"/>
                          </a:solidFill>
                          <a:effectLst/>
                          <a:latin typeface="+mn-lt"/>
                        </a:rPr>
                        <a:t>connect to your AI client; you then </a:t>
                      </a:r>
                      <a:r>
                        <a:rPr lang="en-US" sz="1600" b="1" i="0" dirty="0">
                          <a:solidFill>
                            <a:schemeClr val="bg1"/>
                          </a:solidFill>
                          <a:effectLst/>
                          <a:latin typeface="+mn-lt"/>
                        </a:rPr>
                        <a:t>scope which tools/actions</a:t>
                      </a:r>
                      <a:r>
                        <a:rPr lang="en-US" sz="1600" b="0" i="0" dirty="0">
                          <a:solidFill>
                            <a:schemeClr val="bg1"/>
                          </a:solidFill>
                          <a:effectLst/>
                          <a:latin typeface="+mn-lt"/>
                        </a:rPr>
                        <a:t> the AI is allowed to use. </a:t>
                      </a:r>
                      <a:r>
                        <a:rPr lang="en-US" sz="1600" b="0" i="0" u="none" strike="noStrike" dirty="0">
                          <a:solidFill>
                            <a:schemeClr val="bg1"/>
                          </a:solidFill>
                          <a:effectLst/>
                          <a:latin typeface="+mn-lt"/>
                          <a:hlinkClick r:id="rId5"/>
                        </a:rPr>
                        <a:t>[help.zapier.com</a:t>
                      </a:r>
                      <a:r>
                        <a:rPr lang="en-US" sz="1600" b="0" i="0" u="none" strike="noStrike" dirty="0" smtClean="0">
                          <a:solidFill>
                            <a:schemeClr val="bg1"/>
                          </a:solidFill>
                          <a:effectLst/>
                          <a:latin typeface="+mn-lt"/>
                          <a:hlinkClick r:id="rId5"/>
                        </a:rPr>
                        <a:t>]</a:t>
                      </a:r>
                      <a:endParaRPr lang="en-US" sz="1600" b="0" i="0" u="none" strike="noStrike" dirty="0" smtClean="0">
                        <a:solidFill>
                          <a:schemeClr val="bg1"/>
                        </a:solidFill>
                        <a:effectLst/>
                        <a:latin typeface="+mn-lt"/>
                      </a:endParaRPr>
                    </a:p>
                    <a:p>
                      <a:pPr marL="0" indent="0" fontAlgn="t">
                        <a:buFont typeface="Wingdings" panose="05000000000000000000" pitchFamily="2" charset="2"/>
                        <a:buNone/>
                      </a:pPr>
                      <a:endParaRPr lang="en-US" sz="1600" b="0" i="0" dirty="0">
                        <a:solidFill>
                          <a:schemeClr val="bg1"/>
                        </a:solidFill>
                        <a:effectLst/>
                        <a:latin typeface="+mn-lt"/>
                      </a:endParaRPr>
                    </a:p>
                    <a:p>
                      <a:pPr marL="0" indent="0" fontAlgn="t">
                        <a:buFont typeface="Wingdings" panose="05000000000000000000" pitchFamily="2" charset="2"/>
                        <a:buNone/>
                      </a:pPr>
                      <a:r>
                        <a:rPr lang="en-US" sz="1800" b="1" i="0" dirty="0">
                          <a:solidFill>
                            <a:schemeClr val="bg1"/>
                          </a:solidFill>
                          <a:effectLst/>
                          <a:latin typeface="+mn-lt"/>
                        </a:rPr>
                        <a:t>🛠 Core capabilities</a:t>
                      </a:r>
                    </a:p>
                    <a:p>
                      <a:pPr marL="285750" indent="-285750" fontAlgn="t">
                        <a:buFont typeface="Wingdings" panose="05000000000000000000" pitchFamily="2" charset="2"/>
                        <a:buChar char="q"/>
                      </a:pPr>
                      <a:r>
                        <a:rPr lang="en-US" sz="1600" b="1" i="0" dirty="0">
                          <a:solidFill>
                            <a:schemeClr val="bg1"/>
                          </a:solidFill>
                          <a:effectLst/>
                          <a:latin typeface="+mn-lt"/>
                        </a:rPr>
                        <a:t>Connect once, act across ~8,000 apps and 30,000+ actions</a:t>
                      </a:r>
                      <a:r>
                        <a:rPr lang="en-US" sz="1600" b="0" i="0" dirty="0">
                          <a:solidFill>
                            <a:schemeClr val="bg1"/>
                          </a:solidFill>
                          <a:effectLst/>
                          <a:latin typeface="+mn-lt"/>
                        </a:rPr>
                        <a:t> (Slack, </a:t>
                      </a:r>
                      <a:r>
                        <a:rPr lang="en-US" sz="1600" b="0" i="0" dirty="0" smtClean="0">
                          <a:solidFill>
                            <a:schemeClr val="bg1"/>
                          </a:solidFill>
                          <a:effectLst/>
                          <a:latin typeface="+mn-lt"/>
                        </a:rPr>
                        <a:t>                        Sheets</a:t>
                      </a:r>
                      <a:r>
                        <a:rPr lang="en-US" sz="1600" b="0" i="0" dirty="0">
                          <a:solidFill>
                            <a:schemeClr val="bg1"/>
                          </a:solidFill>
                          <a:effectLst/>
                          <a:latin typeface="+mn-lt"/>
                        </a:rPr>
                        <a:t>, Gmail, Notion, </a:t>
                      </a:r>
                      <a:r>
                        <a:rPr lang="en-US" sz="1600" b="0" i="0" dirty="0" err="1">
                          <a:solidFill>
                            <a:schemeClr val="bg1"/>
                          </a:solidFill>
                          <a:effectLst/>
                          <a:latin typeface="+mn-lt"/>
                        </a:rPr>
                        <a:t>HubSpot</a:t>
                      </a:r>
                      <a:r>
                        <a:rPr lang="en-US" sz="1600" b="0" i="0" dirty="0">
                          <a:solidFill>
                            <a:schemeClr val="bg1"/>
                          </a:solidFill>
                          <a:effectLst/>
                          <a:latin typeface="+mn-lt"/>
                        </a:rPr>
                        <a:t>, </a:t>
                      </a:r>
                      <a:r>
                        <a:rPr lang="en-US" sz="1600" b="0" i="0" dirty="0" err="1">
                          <a:solidFill>
                            <a:schemeClr val="bg1"/>
                          </a:solidFill>
                          <a:effectLst/>
                          <a:latin typeface="+mn-lt"/>
                        </a:rPr>
                        <a:t>Jira</a:t>
                      </a:r>
                      <a:r>
                        <a:rPr lang="en-US" sz="1600" b="0" i="0" dirty="0">
                          <a:solidFill>
                            <a:schemeClr val="bg1"/>
                          </a:solidFill>
                          <a:effectLst/>
                          <a:latin typeface="+mn-lt"/>
                        </a:rPr>
                        <a:t>, etc.). </a:t>
                      </a:r>
                      <a:r>
                        <a:rPr lang="en-US" sz="1600" b="0" i="0" u="none" strike="noStrike" dirty="0">
                          <a:solidFill>
                            <a:schemeClr val="bg1"/>
                          </a:solidFill>
                          <a:effectLst/>
                          <a:latin typeface="+mn-lt"/>
                          <a:hlinkClick r:id="rId3"/>
                        </a:rPr>
                        <a:t>[zapier.com]</a:t>
                      </a:r>
                      <a:r>
                        <a:rPr lang="en-US" sz="1600" b="0" i="0" dirty="0">
                          <a:solidFill>
                            <a:schemeClr val="bg1"/>
                          </a:solidFill>
                          <a:effectLst/>
                          <a:latin typeface="+mn-lt"/>
                        </a:rPr>
                        <a:t>, </a:t>
                      </a:r>
                      <a:r>
                        <a:rPr lang="en-US" sz="1600" b="0" i="0" u="none" strike="noStrike" dirty="0">
                          <a:solidFill>
                            <a:schemeClr val="bg1"/>
                          </a:solidFill>
                          <a:effectLst/>
                          <a:latin typeface="+mn-lt"/>
                          <a:hlinkClick r:id="rId6"/>
                        </a:rPr>
                        <a:t>[zapier.com]</a:t>
                      </a:r>
                      <a:endParaRPr lang="en-US" sz="1600" b="0" i="0" dirty="0">
                        <a:solidFill>
                          <a:schemeClr val="bg1"/>
                        </a:solidFill>
                        <a:effectLst/>
                        <a:latin typeface="+mn-lt"/>
                      </a:endParaRPr>
                    </a:p>
                    <a:p>
                      <a:pPr marL="285750" indent="-285750" fontAlgn="t">
                        <a:buFont typeface="Wingdings" panose="05000000000000000000" pitchFamily="2" charset="2"/>
                        <a:buChar char="q"/>
                      </a:pPr>
                      <a:r>
                        <a:rPr lang="en-US" sz="1600" b="1" i="0" dirty="0">
                          <a:solidFill>
                            <a:schemeClr val="bg1"/>
                          </a:solidFill>
                          <a:effectLst/>
                          <a:latin typeface="+mn-lt"/>
                        </a:rPr>
                        <a:t>Production‑ready plumbing</a:t>
                      </a:r>
                      <a:r>
                        <a:rPr lang="en-US" sz="1600" b="0" i="0" dirty="0">
                          <a:solidFill>
                            <a:schemeClr val="bg1"/>
                          </a:solidFill>
                          <a:effectLst/>
                          <a:latin typeface="+mn-lt"/>
                        </a:rPr>
                        <a:t>: </a:t>
                      </a:r>
                      <a:r>
                        <a:rPr lang="en-US" sz="1600" b="0" i="0" dirty="0" err="1">
                          <a:solidFill>
                            <a:schemeClr val="bg1"/>
                          </a:solidFill>
                          <a:effectLst/>
                          <a:latin typeface="+mn-lt"/>
                        </a:rPr>
                        <a:t>Zapier</a:t>
                      </a:r>
                      <a:r>
                        <a:rPr lang="en-US" sz="1600" b="0" i="0" dirty="0">
                          <a:solidFill>
                            <a:schemeClr val="bg1"/>
                          </a:solidFill>
                          <a:effectLst/>
                          <a:latin typeface="+mn-lt"/>
                        </a:rPr>
                        <a:t> handles </a:t>
                      </a:r>
                      <a:r>
                        <a:rPr lang="en-US" sz="1600" b="1" i="0" dirty="0" err="1">
                          <a:solidFill>
                            <a:schemeClr val="bg1"/>
                          </a:solidFill>
                          <a:effectLst/>
                          <a:latin typeface="+mn-lt"/>
                        </a:rPr>
                        <a:t>auth</a:t>
                      </a:r>
                      <a:r>
                        <a:rPr lang="en-US" sz="1600" b="0" i="0" dirty="0">
                          <a:solidFill>
                            <a:schemeClr val="bg1"/>
                          </a:solidFill>
                          <a:effectLst/>
                          <a:latin typeface="+mn-lt"/>
                        </a:rPr>
                        <a:t>, rate limits, retries, </a:t>
                      </a:r>
                      <a:r>
                        <a:rPr lang="en-US" sz="1600" b="0" i="0" dirty="0" smtClean="0">
                          <a:solidFill>
                            <a:schemeClr val="bg1"/>
                          </a:solidFill>
                          <a:effectLst/>
                          <a:latin typeface="+mn-lt"/>
                        </a:rPr>
                        <a:t>             and </a:t>
                      </a:r>
                      <a:r>
                        <a:rPr lang="en-US" sz="1600" b="0" i="0" dirty="0">
                          <a:solidFill>
                            <a:schemeClr val="bg1"/>
                          </a:solidFill>
                          <a:effectLst/>
                          <a:latin typeface="+mn-lt"/>
                        </a:rPr>
                        <a:t>secure transport so you don’t have to. </a:t>
                      </a:r>
                      <a:r>
                        <a:rPr lang="en-US" sz="1600" b="0" i="0" u="none" strike="noStrike" dirty="0">
                          <a:solidFill>
                            <a:schemeClr val="bg1"/>
                          </a:solidFill>
                          <a:effectLst/>
                          <a:latin typeface="+mn-lt"/>
                          <a:hlinkClick r:id="rId3"/>
                        </a:rPr>
                        <a:t>[zapier.com]</a:t>
                      </a:r>
                      <a:endParaRPr lang="en-US" sz="1600" b="0" i="0" dirty="0">
                        <a:solidFill>
                          <a:schemeClr val="bg1"/>
                        </a:solidFill>
                        <a:effectLst/>
                        <a:latin typeface="+mn-lt"/>
                      </a:endParaRPr>
                    </a:p>
                    <a:p>
                      <a:pPr marL="285750" indent="-285750" fontAlgn="t">
                        <a:buFont typeface="Wingdings" panose="05000000000000000000" pitchFamily="2" charset="2"/>
                        <a:buChar char="q"/>
                      </a:pPr>
                      <a:r>
                        <a:rPr lang="en-US" sz="1600" b="1" i="0" dirty="0">
                          <a:solidFill>
                            <a:schemeClr val="bg1"/>
                          </a:solidFill>
                          <a:effectLst/>
                          <a:latin typeface="+mn-lt"/>
                        </a:rPr>
                        <a:t>Menu of tools per server</a:t>
                      </a:r>
                      <a:r>
                        <a:rPr lang="en-US" sz="1600" b="0" i="0" dirty="0">
                          <a:solidFill>
                            <a:schemeClr val="bg1"/>
                          </a:solidFill>
                          <a:effectLst/>
                          <a:latin typeface="+mn-lt"/>
                        </a:rPr>
                        <a:t>: add specific app actions (or “all tools” for an app), set fixed values, or let AI choose from allowed options. </a:t>
                      </a:r>
                      <a:r>
                        <a:rPr lang="en-US" sz="1600" b="0" i="0" u="none" strike="noStrike" dirty="0">
                          <a:solidFill>
                            <a:schemeClr val="bg1"/>
                          </a:solidFill>
                          <a:effectLst/>
                          <a:latin typeface="+mn-lt"/>
                          <a:hlinkClick r:id="rId5"/>
                        </a:rPr>
                        <a:t>[help.zapier.com]</a:t>
                      </a:r>
                      <a:endParaRPr lang="en-US" sz="1600" b="0" i="0" dirty="0">
                        <a:solidFill>
                          <a:schemeClr val="bg1"/>
                        </a:solidFill>
                        <a:effectLst/>
                        <a:latin typeface="+mn-lt"/>
                      </a:endParaRPr>
                    </a:p>
                    <a:p>
                      <a:pPr marL="285750" indent="-285750" fontAlgn="t">
                        <a:buFont typeface="Wingdings" panose="05000000000000000000" pitchFamily="2" charset="2"/>
                        <a:buChar char="q"/>
                      </a:pPr>
                      <a:r>
                        <a:rPr lang="en-US" sz="1600" b="1" i="0" dirty="0">
                          <a:solidFill>
                            <a:schemeClr val="bg1"/>
                          </a:solidFill>
                          <a:effectLst/>
                          <a:latin typeface="+mn-lt"/>
                        </a:rPr>
                        <a:t>Task accounting</a:t>
                      </a:r>
                      <a:r>
                        <a:rPr lang="en-US" sz="1600" b="0" i="0" dirty="0">
                          <a:solidFill>
                            <a:schemeClr val="bg1"/>
                          </a:solidFill>
                          <a:effectLst/>
                          <a:latin typeface="+mn-lt"/>
                        </a:rPr>
                        <a:t>: each MCP tool call </a:t>
                      </a:r>
                      <a:r>
                        <a:rPr lang="en-US" sz="1600" b="1" i="0" dirty="0">
                          <a:solidFill>
                            <a:schemeClr val="bg1"/>
                          </a:solidFill>
                          <a:effectLst/>
                          <a:latin typeface="+mn-lt"/>
                        </a:rPr>
                        <a:t>consumes </a:t>
                      </a:r>
                      <a:r>
                        <a:rPr lang="en-US" sz="1600" b="1" i="0" dirty="0" err="1">
                          <a:solidFill>
                            <a:schemeClr val="bg1"/>
                          </a:solidFill>
                          <a:effectLst/>
                          <a:latin typeface="+mn-lt"/>
                        </a:rPr>
                        <a:t>Zapier</a:t>
                      </a:r>
                      <a:r>
                        <a:rPr lang="en-US" sz="1600" b="1" i="0" dirty="0">
                          <a:solidFill>
                            <a:schemeClr val="bg1"/>
                          </a:solidFill>
                          <a:effectLst/>
                          <a:latin typeface="+mn-lt"/>
                        </a:rPr>
                        <a:t> tasks</a:t>
                      </a:r>
                      <a:r>
                        <a:rPr lang="en-US" sz="1600" b="0" i="0" dirty="0">
                          <a:solidFill>
                            <a:schemeClr val="bg1"/>
                          </a:solidFill>
                          <a:effectLst/>
                          <a:latin typeface="+mn-lt"/>
                        </a:rPr>
                        <a:t> from your account (pricing/quotas apply). </a:t>
                      </a:r>
                      <a:r>
                        <a:rPr lang="en-US" sz="1600" b="0" i="0" u="none" strike="noStrike" dirty="0">
                          <a:solidFill>
                            <a:schemeClr val="bg1"/>
                          </a:solidFill>
                          <a:effectLst/>
                          <a:latin typeface="+mn-lt"/>
                          <a:hlinkClick r:id="rId6"/>
                        </a:rPr>
                        <a:t>[zapier.com]</a:t>
                      </a:r>
                      <a:r>
                        <a:rPr lang="en-US" sz="1600" b="0" i="0" dirty="0">
                          <a:solidFill>
                            <a:schemeClr val="bg1"/>
                          </a:solidFill>
                          <a:effectLst/>
                          <a:latin typeface="+mn-lt"/>
                        </a:rPr>
                        <a:t>, </a:t>
                      </a:r>
                      <a:r>
                        <a:rPr lang="en-US" sz="1600" b="0" i="0" u="none" strike="noStrike" dirty="0">
                          <a:solidFill>
                            <a:schemeClr val="bg1"/>
                          </a:solidFill>
                          <a:effectLst/>
                          <a:latin typeface="+mn-lt"/>
                          <a:hlinkClick r:id="rId3"/>
                        </a:rPr>
                        <a:t>[zapier.com]</a:t>
                      </a:r>
                      <a:endParaRPr lang="en-US" sz="1600" b="0" i="0" dirty="0">
                        <a:solidFill>
                          <a:schemeClr val="bg1"/>
                        </a:solidFill>
                        <a:effectLst/>
                        <a:latin typeface="+mn-lt"/>
                      </a:endParaRPr>
                    </a:p>
                  </a:txBody>
                  <a:tcP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chemeClr val="tx1"/>
                    </a:solidFill>
                  </a:tcPr>
                </a:tc>
              </a:tr>
              <a:tr h="190962">
                <a:tc>
                  <a:txBody>
                    <a:bodyPr/>
                    <a:lstStyle/>
                    <a:p>
                      <a:endParaRPr lang="en-US" dirty="0"/>
                    </a:p>
                  </a:txBody>
                  <a:tcPr>
                    <a:lnT w="9525" cap="flat" cmpd="sng" algn="ctr">
                      <a:solidFill>
                        <a:srgbClr val="E6E6E6"/>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209143174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7" name="직사각형 26">
            <a:extLst>
              <a:ext uri="{FF2B5EF4-FFF2-40B4-BE49-F238E27FC236}">
                <a16:creationId xmlns:a16="http://schemas.microsoft.com/office/drawing/2014/main" xmlns="" id="{8D122637-2F9F-4D6D-B650-CED44ECF1A91}"/>
              </a:ext>
            </a:extLst>
          </p:cNvPr>
          <p:cNvSpPr/>
          <p:nvPr/>
        </p:nvSpPr>
        <p:spPr>
          <a:xfrm>
            <a:off x="0" y="0"/>
            <a:ext cx="461500" cy="50078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9" name="직선 연결선 28">
            <a:extLst>
              <a:ext uri="{FF2B5EF4-FFF2-40B4-BE49-F238E27FC236}">
                <a16:creationId xmlns:a16="http://schemas.microsoft.com/office/drawing/2014/main" xmlns="" id="{2AA171E4-1F6F-41A4-B104-0EFC14B58D33}"/>
              </a:ext>
            </a:extLst>
          </p:cNvPr>
          <p:cNvCxnSpPr>
            <a:cxnSpLocks/>
            <a:stCxn id="27" idx="0"/>
          </p:cNvCxnSpPr>
          <p:nvPr/>
        </p:nvCxnSpPr>
        <p:spPr>
          <a:xfrm flipH="1">
            <a:off x="212613" y="0"/>
            <a:ext cx="18137" cy="922020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xmlns="" id="{B5061A88-7C4D-45A8-89EA-77CDE39728FC}"/>
              </a:ext>
            </a:extLst>
          </p:cNvPr>
          <p:cNvCxnSpPr>
            <a:cxnSpLocks/>
          </p:cNvCxnSpPr>
          <p:nvPr/>
        </p:nvCxnSpPr>
        <p:spPr>
          <a:xfrm>
            <a:off x="0" y="563933"/>
            <a:ext cx="685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2"/>
          <a:stretch>
            <a:fillRect/>
          </a:stretch>
        </p:blipFill>
        <p:spPr>
          <a:xfrm>
            <a:off x="0" y="7358743"/>
            <a:ext cx="6858000" cy="1785257"/>
          </a:xfrm>
          <a:prstGeom prst="rect">
            <a:avLst/>
          </a:prstGeom>
        </p:spPr>
      </p:pic>
      <p:sp>
        <p:nvSpPr>
          <p:cNvPr id="2" name="Rectangle 1"/>
          <p:cNvSpPr/>
          <p:nvPr/>
        </p:nvSpPr>
        <p:spPr>
          <a:xfrm>
            <a:off x="461500" y="107516"/>
            <a:ext cx="4077270" cy="461665"/>
          </a:xfrm>
          <a:prstGeom prst="rect">
            <a:avLst/>
          </a:prstGeom>
        </p:spPr>
        <p:txBody>
          <a:bodyPr wrap="none">
            <a:spAutoFit/>
          </a:bodyPr>
          <a:lstStyle/>
          <a:p>
            <a:pPr fontAlgn="t"/>
            <a:r>
              <a:rPr lang="en-US" sz="2400" b="1" dirty="0" smtClean="0">
                <a:solidFill>
                  <a:schemeClr val="bg1"/>
                </a:solidFill>
              </a:rPr>
              <a:t>📬   </a:t>
            </a:r>
            <a:r>
              <a:rPr lang="en-US" sz="2400" b="1" dirty="0" err="1" smtClean="0">
                <a:solidFill>
                  <a:schemeClr val="bg1"/>
                </a:solidFill>
                <a:latin typeface="Segoe UI" panose="020B0502040204020203" pitchFamily="34" charset="0"/>
              </a:rPr>
              <a:t>Zapier</a:t>
            </a:r>
            <a:r>
              <a:rPr lang="en-US" sz="2400" b="1" dirty="0" smtClean="0">
                <a:solidFill>
                  <a:schemeClr val="bg1"/>
                </a:solidFill>
                <a:latin typeface="Segoe UI" panose="020B0502040204020203" pitchFamily="34" charset="0"/>
              </a:rPr>
              <a:t> </a:t>
            </a:r>
            <a:r>
              <a:rPr lang="en-US" sz="2400" b="1" dirty="0" err="1">
                <a:solidFill>
                  <a:schemeClr val="bg1"/>
                </a:solidFill>
              </a:rPr>
              <a:t>Zapier</a:t>
            </a:r>
            <a:r>
              <a:rPr lang="en-US" sz="2400" b="1" dirty="0">
                <a:solidFill>
                  <a:schemeClr val="bg1"/>
                </a:solidFill>
              </a:rPr>
              <a:t> </a:t>
            </a:r>
            <a:r>
              <a:rPr lang="en-US" sz="2400" b="1" dirty="0" smtClean="0">
                <a:solidFill>
                  <a:schemeClr val="bg1"/>
                </a:solidFill>
              </a:rPr>
              <a:t>MCP –Part2</a:t>
            </a:r>
            <a:endParaRPr lang="en-US" sz="2400" b="1" dirty="0">
              <a:solidFill>
                <a:schemeClr val="bg1"/>
              </a:solidFill>
              <a:latin typeface="Segoe UI" panose="020B0502040204020203"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441080584"/>
              </p:ext>
            </p:extLst>
          </p:nvPr>
        </p:nvGraphicFramePr>
        <p:xfrm>
          <a:off x="461500" y="729342"/>
          <a:ext cx="6298529" cy="5881046"/>
        </p:xfrm>
        <a:graphic>
          <a:graphicData uri="http://schemas.openxmlformats.org/drawingml/2006/table">
            <a:tbl>
              <a:tblPr/>
              <a:tblGrid>
                <a:gridCol w="6298529"/>
              </a:tblGrid>
              <a:tr h="5583866">
                <a:tc>
                  <a:txBody>
                    <a:bodyPr/>
                    <a:lstStyle/>
                    <a:p>
                      <a:pPr marL="0" indent="0" fontAlgn="t">
                        <a:buFont typeface="Wingdings" panose="05000000000000000000" pitchFamily="2" charset="2"/>
                        <a:buNone/>
                      </a:pPr>
                      <a:r>
                        <a:rPr lang="en-US" sz="1800" b="1" i="0" dirty="0" smtClean="0">
                          <a:solidFill>
                            <a:schemeClr val="bg1"/>
                          </a:solidFill>
                          <a:effectLst/>
                          <a:latin typeface="+mn-lt"/>
                        </a:rPr>
                        <a:t>How </a:t>
                      </a:r>
                      <a:r>
                        <a:rPr lang="en-US" sz="1800" b="1" i="0" dirty="0">
                          <a:solidFill>
                            <a:schemeClr val="bg1"/>
                          </a:solidFill>
                          <a:effectLst/>
                          <a:latin typeface="+mn-lt"/>
                        </a:rPr>
                        <a:t>it works (high level)</a:t>
                      </a:r>
                    </a:p>
                    <a:p>
                      <a:pPr marL="285750" indent="-285750" fontAlgn="t">
                        <a:buFont typeface="Wingdings" panose="05000000000000000000" pitchFamily="2" charset="2"/>
                        <a:buChar char="q"/>
                      </a:pPr>
                      <a:r>
                        <a:rPr lang="en-US" sz="1800" b="0" i="0" dirty="0">
                          <a:solidFill>
                            <a:schemeClr val="bg1"/>
                          </a:solidFill>
                          <a:effectLst/>
                          <a:latin typeface="+mn-lt"/>
                        </a:rPr>
                        <a:t>You </a:t>
                      </a:r>
                      <a:r>
                        <a:rPr lang="en-US" sz="1800" b="1" i="0" dirty="0">
                          <a:solidFill>
                            <a:schemeClr val="bg1"/>
                          </a:solidFill>
                          <a:effectLst/>
                          <a:latin typeface="+mn-lt"/>
                        </a:rPr>
                        <a:t>create a </a:t>
                      </a:r>
                      <a:r>
                        <a:rPr lang="en-US" sz="1800" b="1" i="0" dirty="0" err="1">
                          <a:solidFill>
                            <a:schemeClr val="bg1"/>
                          </a:solidFill>
                          <a:effectLst/>
                          <a:latin typeface="+mn-lt"/>
                        </a:rPr>
                        <a:t>Zapier</a:t>
                      </a:r>
                      <a:r>
                        <a:rPr lang="en-US" sz="1800" b="1" i="0" dirty="0">
                          <a:solidFill>
                            <a:schemeClr val="bg1"/>
                          </a:solidFill>
                          <a:effectLst/>
                          <a:latin typeface="+mn-lt"/>
                        </a:rPr>
                        <a:t> MCP server</a:t>
                      </a:r>
                      <a:r>
                        <a:rPr lang="en-US" sz="1800" b="0" i="0" dirty="0">
                          <a:solidFill>
                            <a:schemeClr val="bg1"/>
                          </a:solidFill>
                          <a:effectLst/>
                          <a:latin typeface="+mn-lt"/>
                        </a:rPr>
                        <a:t>, </a:t>
                      </a:r>
                      <a:r>
                        <a:rPr lang="en-US" sz="1800" b="1" i="0" dirty="0">
                          <a:solidFill>
                            <a:schemeClr val="bg1"/>
                          </a:solidFill>
                          <a:effectLst/>
                          <a:latin typeface="+mn-lt"/>
                        </a:rPr>
                        <a:t>configure tools</a:t>
                      </a:r>
                      <a:r>
                        <a:rPr lang="en-US" sz="1800" b="0" i="0" dirty="0">
                          <a:solidFill>
                            <a:schemeClr val="bg1"/>
                          </a:solidFill>
                          <a:effectLst/>
                          <a:latin typeface="+mn-lt"/>
                        </a:rPr>
                        <a:t> (e.g., “Send </a:t>
                      </a:r>
                      <a:r>
                        <a:rPr lang="en-US" sz="1800" b="0" i="0" dirty="0" smtClean="0">
                          <a:solidFill>
                            <a:schemeClr val="bg1"/>
                          </a:solidFill>
                          <a:effectLst/>
                          <a:latin typeface="+mn-lt"/>
                        </a:rPr>
                        <a:t>                  Slack </a:t>
                      </a:r>
                      <a:r>
                        <a:rPr lang="en-US" sz="1800" b="0" i="0" dirty="0">
                          <a:solidFill>
                            <a:schemeClr val="bg1"/>
                          </a:solidFill>
                          <a:effectLst/>
                          <a:latin typeface="+mn-lt"/>
                        </a:rPr>
                        <a:t>message”, “Add row in Sheets”), then </a:t>
                      </a:r>
                      <a:r>
                        <a:rPr lang="en-US" sz="1800" b="1" i="0" dirty="0">
                          <a:solidFill>
                            <a:schemeClr val="bg1"/>
                          </a:solidFill>
                          <a:effectLst/>
                          <a:latin typeface="+mn-lt"/>
                        </a:rPr>
                        <a:t>paste the server </a:t>
                      </a:r>
                      <a:r>
                        <a:rPr lang="en-US" sz="1800" b="1" i="0" dirty="0" smtClean="0">
                          <a:solidFill>
                            <a:schemeClr val="bg1"/>
                          </a:solidFill>
                          <a:effectLst/>
                          <a:latin typeface="+mn-lt"/>
                        </a:rPr>
                        <a:t>                URL</a:t>
                      </a:r>
                      <a:r>
                        <a:rPr lang="en-US" sz="1800" b="0" i="0" dirty="0" smtClean="0">
                          <a:solidFill>
                            <a:schemeClr val="bg1"/>
                          </a:solidFill>
                          <a:effectLst/>
                          <a:latin typeface="+mn-lt"/>
                        </a:rPr>
                        <a:t> </a:t>
                      </a:r>
                      <a:r>
                        <a:rPr lang="en-US" sz="1800" b="0" i="0" dirty="0">
                          <a:solidFill>
                            <a:schemeClr val="bg1"/>
                          </a:solidFill>
                          <a:effectLst/>
                          <a:latin typeface="+mn-lt"/>
                        </a:rPr>
                        <a:t>into your AI client’s MCP settings. </a:t>
                      </a:r>
                      <a:r>
                        <a:rPr lang="en-US" sz="1800" b="0" i="0" u="none" strike="noStrike" dirty="0">
                          <a:solidFill>
                            <a:schemeClr val="bg1"/>
                          </a:solidFill>
                          <a:effectLst/>
                          <a:latin typeface="+mn-lt"/>
                          <a:hlinkClick r:id="rId3"/>
                        </a:rPr>
                        <a:t>[help.zapier.com]</a:t>
                      </a:r>
                      <a:endParaRPr lang="en-US" sz="1800" b="0" i="0" dirty="0">
                        <a:solidFill>
                          <a:schemeClr val="bg1"/>
                        </a:solidFill>
                        <a:effectLst/>
                        <a:latin typeface="+mn-lt"/>
                      </a:endParaRPr>
                    </a:p>
                    <a:p>
                      <a:pPr marL="285750" indent="-285750" fontAlgn="t">
                        <a:buFont typeface="Wingdings" panose="05000000000000000000" pitchFamily="2" charset="2"/>
                        <a:buChar char="q"/>
                      </a:pPr>
                      <a:r>
                        <a:rPr lang="en-US" sz="1800" b="0" i="0" dirty="0">
                          <a:solidFill>
                            <a:schemeClr val="bg1"/>
                          </a:solidFill>
                          <a:effectLst/>
                          <a:latin typeface="+mn-lt"/>
                        </a:rPr>
                        <a:t>From the AI chat, you </a:t>
                      </a:r>
                      <a:r>
                        <a:rPr lang="en-US" sz="1800" b="1" i="0" dirty="0">
                          <a:solidFill>
                            <a:schemeClr val="bg1"/>
                          </a:solidFill>
                          <a:effectLst/>
                          <a:latin typeface="+mn-lt"/>
                        </a:rPr>
                        <a:t>issue natural‑language commands</a:t>
                      </a:r>
                      <a:r>
                        <a:rPr lang="en-US" sz="1800" b="0" i="0" dirty="0">
                          <a:solidFill>
                            <a:schemeClr val="bg1"/>
                          </a:solidFill>
                          <a:effectLst/>
                          <a:latin typeface="+mn-lt"/>
                        </a:rPr>
                        <a:t>; </a:t>
                      </a:r>
                      <a:r>
                        <a:rPr lang="en-US" sz="1800" b="0" i="0" dirty="0" smtClean="0">
                          <a:solidFill>
                            <a:schemeClr val="bg1"/>
                          </a:solidFill>
                          <a:effectLst/>
                          <a:latin typeface="+mn-lt"/>
                        </a:rPr>
                        <a:t>                         </a:t>
                      </a:r>
                      <a:r>
                        <a:rPr lang="en-US" sz="1800" b="0" i="0" dirty="0" err="1" smtClean="0">
                          <a:solidFill>
                            <a:schemeClr val="bg1"/>
                          </a:solidFill>
                          <a:effectLst/>
                          <a:latin typeface="+mn-lt"/>
                        </a:rPr>
                        <a:t>Zapier’s</a:t>
                      </a:r>
                      <a:r>
                        <a:rPr lang="en-US" sz="1800" b="0" i="0" dirty="0" smtClean="0">
                          <a:solidFill>
                            <a:schemeClr val="bg1"/>
                          </a:solidFill>
                          <a:effectLst/>
                          <a:latin typeface="+mn-lt"/>
                        </a:rPr>
                        <a:t> </a:t>
                      </a:r>
                      <a:r>
                        <a:rPr lang="en-US" sz="1800" b="0" i="0" dirty="0">
                          <a:solidFill>
                            <a:schemeClr val="bg1"/>
                          </a:solidFill>
                          <a:effectLst/>
                          <a:latin typeface="+mn-lt"/>
                        </a:rPr>
                        <a:t>MCP resolves the intent and </a:t>
                      </a:r>
                      <a:r>
                        <a:rPr lang="en-US" sz="1800" b="1" i="0" dirty="0">
                          <a:solidFill>
                            <a:schemeClr val="bg1"/>
                          </a:solidFill>
                          <a:effectLst/>
                          <a:latin typeface="+mn-lt"/>
                        </a:rPr>
                        <a:t>invokes the right tool/action</a:t>
                      </a:r>
                      <a:r>
                        <a:rPr lang="en-US" sz="1800" b="0" i="0" dirty="0">
                          <a:solidFill>
                            <a:schemeClr val="bg1"/>
                          </a:solidFill>
                          <a:effectLst/>
                          <a:latin typeface="+mn-lt"/>
                        </a:rPr>
                        <a:t> with your connected credentials. </a:t>
                      </a:r>
                      <a:r>
                        <a:rPr lang="en-US" sz="1800" b="0" i="0" u="none" strike="noStrike" dirty="0">
                          <a:solidFill>
                            <a:schemeClr val="bg1"/>
                          </a:solidFill>
                          <a:effectLst/>
                          <a:latin typeface="+mn-lt"/>
                          <a:hlinkClick r:id="rId4"/>
                        </a:rPr>
                        <a:t>[zapier.com]</a:t>
                      </a:r>
                      <a:endParaRPr lang="en-US" sz="1800" b="0" i="0" dirty="0">
                        <a:solidFill>
                          <a:schemeClr val="bg1"/>
                        </a:solidFill>
                        <a:effectLst/>
                        <a:latin typeface="+mn-lt"/>
                      </a:endParaRPr>
                    </a:p>
                    <a:p>
                      <a:pPr marL="285750" indent="-285750" fontAlgn="t">
                        <a:buFont typeface="Wingdings" panose="05000000000000000000" pitchFamily="2" charset="2"/>
                        <a:buChar char="q"/>
                      </a:pPr>
                      <a:r>
                        <a:rPr lang="en-US" sz="1800" b="0" i="0" dirty="0">
                          <a:solidFill>
                            <a:schemeClr val="bg1"/>
                          </a:solidFill>
                          <a:effectLst/>
                          <a:latin typeface="+mn-lt"/>
                        </a:rPr>
                        <a:t>MCP’s standardization defines </a:t>
                      </a:r>
                      <a:r>
                        <a:rPr lang="en-US" sz="1800" b="1" i="0" dirty="0">
                          <a:solidFill>
                            <a:schemeClr val="bg1"/>
                          </a:solidFill>
                          <a:effectLst/>
                          <a:latin typeface="+mn-lt"/>
                        </a:rPr>
                        <a:t>tools discovery</a:t>
                      </a:r>
                      <a:r>
                        <a:rPr lang="en-US" sz="1800" b="0" i="0" dirty="0">
                          <a:solidFill>
                            <a:schemeClr val="bg1"/>
                          </a:solidFill>
                          <a:effectLst/>
                          <a:latin typeface="+mn-lt"/>
                        </a:rPr>
                        <a:t> and </a:t>
                      </a:r>
                      <a:r>
                        <a:rPr lang="en-US" sz="1800" b="1" i="0" dirty="0">
                          <a:solidFill>
                            <a:schemeClr val="bg1"/>
                          </a:solidFill>
                          <a:effectLst/>
                          <a:latin typeface="+mn-lt"/>
                        </a:rPr>
                        <a:t>tool calls</a:t>
                      </a:r>
                      <a:r>
                        <a:rPr lang="en-US" sz="1800" b="0" i="0" dirty="0">
                          <a:solidFill>
                            <a:schemeClr val="bg1"/>
                          </a:solidFill>
                          <a:effectLst/>
                          <a:latin typeface="+mn-lt"/>
                        </a:rPr>
                        <a:t> </a:t>
                      </a:r>
                      <a:r>
                        <a:rPr lang="en-US" sz="1800" b="0" i="0" dirty="0" smtClean="0">
                          <a:solidFill>
                            <a:schemeClr val="bg1"/>
                          </a:solidFill>
                          <a:effectLst/>
                          <a:latin typeface="+mn-lt"/>
                        </a:rPr>
                        <a:t>                    so </a:t>
                      </a:r>
                      <a:r>
                        <a:rPr lang="en-US" sz="1800" b="0" i="0" dirty="0">
                          <a:solidFill>
                            <a:schemeClr val="bg1"/>
                          </a:solidFill>
                          <a:effectLst/>
                          <a:latin typeface="+mn-lt"/>
                        </a:rPr>
                        <a:t>clients can reliably list and execute actions. </a:t>
                      </a:r>
                      <a:r>
                        <a:rPr lang="en-US" sz="1800" b="0" i="0" u="none" strike="noStrike" dirty="0">
                          <a:solidFill>
                            <a:schemeClr val="bg1"/>
                          </a:solidFill>
                          <a:effectLst/>
                          <a:latin typeface="+mn-lt"/>
                          <a:hlinkClick r:id="rId5"/>
                        </a:rPr>
                        <a:t>[</a:t>
                      </a:r>
                      <a:r>
                        <a:rPr lang="en-US" sz="1800" b="0" i="0" u="none" strike="noStrike" dirty="0" err="1">
                          <a:solidFill>
                            <a:schemeClr val="bg1"/>
                          </a:solidFill>
                          <a:effectLst/>
                          <a:latin typeface="+mn-lt"/>
                          <a:hlinkClick r:id="rId5"/>
                        </a:rPr>
                        <a:t>modelconte</a:t>
                      </a:r>
                      <a:r>
                        <a:rPr lang="en-US" sz="1800" b="0" i="0" u="none" strike="noStrike" dirty="0">
                          <a:solidFill>
                            <a:schemeClr val="bg1"/>
                          </a:solidFill>
                          <a:effectLst/>
                          <a:latin typeface="+mn-lt"/>
                          <a:hlinkClick r:id="rId5"/>
                        </a:rPr>
                        <a:t>...rotocol.io</a:t>
                      </a:r>
                      <a:r>
                        <a:rPr lang="en-US" sz="1800" b="0" i="0" u="none" strike="noStrike" dirty="0" smtClean="0">
                          <a:solidFill>
                            <a:schemeClr val="bg1"/>
                          </a:solidFill>
                          <a:effectLst/>
                          <a:latin typeface="+mn-lt"/>
                          <a:hlinkClick r:id="rId5"/>
                        </a:rPr>
                        <a:t>]</a:t>
                      </a:r>
                      <a:endParaRPr lang="en-US" sz="1800" b="0" i="0" u="none" strike="noStrike" dirty="0" smtClean="0">
                        <a:solidFill>
                          <a:schemeClr val="bg1"/>
                        </a:solidFill>
                        <a:effectLst/>
                        <a:latin typeface="+mn-lt"/>
                      </a:endParaRPr>
                    </a:p>
                    <a:p>
                      <a:pPr marL="285750" indent="-285750" fontAlgn="t">
                        <a:buFont typeface="Wingdings" panose="05000000000000000000" pitchFamily="2" charset="2"/>
                        <a:buChar char="q"/>
                      </a:pPr>
                      <a:endParaRPr lang="en-US" sz="1800" b="0" i="0" u="none" strike="noStrike" dirty="0" smtClean="0">
                        <a:solidFill>
                          <a:schemeClr val="bg1"/>
                        </a:solidFill>
                        <a:effectLst/>
                        <a:latin typeface="+mn-lt"/>
                      </a:endParaRPr>
                    </a:p>
                    <a:p>
                      <a:pPr marL="0" indent="0" fontAlgn="t">
                        <a:buFont typeface="Wingdings" panose="05000000000000000000" pitchFamily="2" charset="2"/>
                        <a:buNone/>
                      </a:pPr>
                      <a:r>
                        <a:rPr lang="en-US" sz="1800" b="1" i="0" dirty="0" smtClean="0">
                          <a:solidFill>
                            <a:schemeClr val="bg1"/>
                          </a:solidFill>
                          <a:effectLst/>
                          <a:latin typeface="+mn-lt"/>
                        </a:rPr>
                        <a:t>🚀 </a:t>
                      </a:r>
                      <a:r>
                        <a:rPr lang="en-US" sz="1800" b="1" i="0" dirty="0">
                          <a:solidFill>
                            <a:schemeClr val="bg1"/>
                          </a:solidFill>
                          <a:effectLst/>
                          <a:latin typeface="+mn-lt"/>
                        </a:rPr>
                        <a:t>Typical use cases</a:t>
                      </a:r>
                    </a:p>
                    <a:p>
                      <a:pPr marL="285750" indent="-285750" fontAlgn="t">
                        <a:buFont typeface="Wingdings" panose="05000000000000000000" pitchFamily="2" charset="2"/>
                        <a:buChar char="q"/>
                      </a:pPr>
                      <a:r>
                        <a:rPr lang="en-US" sz="1800" b="1" i="0" dirty="0">
                          <a:solidFill>
                            <a:schemeClr val="bg1"/>
                          </a:solidFill>
                          <a:effectLst/>
                          <a:latin typeface="+mn-lt"/>
                        </a:rPr>
                        <a:t>Executive assistant</a:t>
                      </a:r>
                      <a:r>
                        <a:rPr lang="en-US" sz="1800" b="0" i="0" dirty="0">
                          <a:solidFill>
                            <a:schemeClr val="bg1"/>
                          </a:solidFill>
                          <a:effectLst/>
                          <a:latin typeface="+mn-lt"/>
                        </a:rPr>
                        <a:t>: “Schedule a meeting and notify the team </a:t>
                      </a:r>
                      <a:r>
                        <a:rPr lang="en-US" sz="1800" b="0" i="0" dirty="0" smtClean="0">
                          <a:solidFill>
                            <a:schemeClr val="bg1"/>
                          </a:solidFill>
                          <a:effectLst/>
                          <a:latin typeface="+mn-lt"/>
                        </a:rPr>
                        <a:t>   in </a:t>
                      </a:r>
                      <a:r>
                        <a:rPr lang="en-US" sz="1800" b="0" i="0" dirty="0">
                          <a:solidFill>
                            <a:schemeClr val="bg1"/>
                          </a:solidFill>
                          <a:effectLst/>
                          <a:latin typeface="+mn-lt"/>
                        </a:rPr>
                        <a:t>Slack”—AI books the calendar event and posts the update. </a:t>
                      </a:r>
                      <a:r>
                        <a:rPr lang="en-US" sz="1800" b="0" i="0" u="none" strike="noStrike" dirty="0">
                          <a:solidFill>
                            <a:schemeClr val="bg1"/>
                          </a:solidFill>
                          <a:effectLst/>
                          <a:latin typeface="+mn-lt"/>
                          <a:hlinkClick r:id="rId4"/>
                        </a:rPr>
                        <a:t>[zapier.com]</a:t>
                      </a:r>
                      <a:endParaRPr lang="en-US" sz="1800" b="0" i="0" dirty="0">
                        <a:solidFill>
                          <a:schemeClr val="bg1"/>
                        </a:solidFill>
                        <a:effectLst/>
                        <a:latin typeface="+mn-lt"/>
                      </a:endParaRPr>
                    </a:p>
                    <a:p>
                      <a:pPr marL="285750" indent="-285750" fontAlgn="t">
                        <a:buFont typeface="Wingdings" panose="05000000000000000000" pitchFamily="2" charset="2"/>
                        <a:buChar char="q"/>
                      </a:pPr>
                      <a:r>
                        <a:rPr lang="en-US" sz="1800" b="1" i="0" dirty="0">
                          <a:solidFill>
                            <a:schemeClr val="bg1"/>
                          </a:solidFill>
                          <a:effectLst/>
                          <a:latin typeface="+mn-lt"/>
                        </a:rPr>
                        <a:t>Sales ops</a:t>
                      </a:r>
                      <a:r>
                        <a:rPr lang="en-US" sz="1800" b="0" i="0" dirty="0">
                          <a:solidFill>
                            <a:schemeClr val="bg1"/>
                          </a:solidFill>
                          <a:effectLst/>
                          <a:latin typeface="+mn-lt"/>
                        </a:rPr>
                        <a:t>: “Enrich new leads and update </a:t>
                      </a:r>
                      <a:r>
                        <a:rPr lang="en-US" sz="1800" b="0" i="0" dirty="0" err="1">
                          <a:solidFill>
                            <a:schemeClr val="bg1"/>
                          </a:solidFill>
                          <a:effectLst/>
                          <a:latin typeface="+mn-lt"/>
                        </a:rPr>
                        <a:t>HubSpot</a:t>
                      </a:r>
                      <a:r>
                        <a:rPr lang="en-US" sz="1800" b="0" i="0" dirty="0">
                          <a:solidFill>
                            <a:schemeClr val="bg1"/>
                          </a:solidFill>
                          <a:effectLst/>
                          <a:latin typeface="+mn-lt"/>
                        </a:rPr>
                        <a:t>”—AI pulls </a:t>
                      </a:r>
                      <a:r>
                        <a:rPr lang="en-US" sz="1800" b="0" i="0" dirty="0" smtClean="0">
                          <a:solidFill>
                            <a:schemeClr val="bg1"/>
                          </a:solidFill>
                          <a:effectLst/>
                          <a:latin typeface="+mn-lt"/>
                        </a:rPr>
                        <a:t>   context </a:t>
                      </a:r>
                      <a:r>
                        <a:rPr lang="en-US" sz="1800" b="0" i="0" dirty="0">
                          <a:solidFill>
                            <a:schemeClr val="bg1"/>
                          </a:solidFill>
                          <a:effectLst/>
                          <a:latin typeface="+mn-lt"/>
                        </a:rPr>
                        <a:t>and writes records to CRM. </a:t>
                      </a:r>
                      <a:r>
                        <a:rPr lang="en-US" sz="1800" b="0" i="0" u="none" strike="noStrike" dirty="0">
                          <a:solidFill>
                            <a:schemeClr val="bg1"/>
                          </a:solidFill>
                          <a:effectLst/>
                          <a:latin typeface="+mn-lt"/>
                          <a:hlinkClick r:id="rId6"/>
                        </a:rPr>
                        <a:t>[zapier.com]</a:t>
                      </a:r>
                      <a:endParaRPr lang="en-US" sz="1800" b="0" i="0" dirty="0">
                        <a:solidFill>
                          <a:schemeClr val="bg1"/>
                        </a:solidFill>
                        <a:effectLst/>
                        <a:latin typeface="+mn-lt"/>
                      </a:endParaRPr>
                    </a:p>
                    <a:p>
                      <a:pPr marL="285750" indent="-285750" fontAlgn="t">
                        <a:buFont typeface="Wingdings" panose="05000000000000000000" pitchFamily="2" charset="2"/>
                        <a:buChar char="q"/>
                      </a:pPr>
                      <a:r>
                        <a:rPr lang="en-US" sz="1800" b="1" i="0" dirty="0">
                          <a:solidFill>
                            <a:schemeClr val="bg1"/>
                          </a:solidFill>
                          <a:effectLst/>
                          <a:latin typeface="+mn-lt"/>
                        </a:rPr>
                        <a:t>Inbox &amp; docs</a:t>
                      </a:r>
                      <a:r>
                        <a:rPr lang="en-US" sz="1800" b="0" i="0" dirty="0">
                          <a:solidFill>
                            <a:schemeClr val="bg1"/>
                          </a:solidFill>
                          <a:effectLst/>
                          <a:latin typeface="+mn-lt"/>
                        </a:rPr>
                        <a:t>: “Summarize important Slack threads to a </a:t>
                      </a:r>
                      <a:r>
                        <a:rPr lang="en-US" sz="1800" b="0" i="0" dirty="0" smtClean="0">
                          <a:solidFill>
                            <a:schemeClr val="bg1"/>
                          </a:solidFill>
                          <a:effectLst/>
                          <a:latin typeface="+mn-lt"/>
                        </a:rPr>
                        <a:t>                                    Google </a:t>
                      </a:r>
                      <a:r>
                        <a:rPr lang="en-US" sz="1800" b="0" i="0" dirty="0">
                          <a:solidFill>
                            <a:schemeClr val="bg1"/>
                          </a:solidFill>
                          <a:effectLst/>
                          <a:latin typeface="+mn-lt"/>
                        </a:rPr>
                        <a:t>Doc” or “Send a Gmail follow‑up” from chat. </a:t>
                      </a:r>
                      <a:r>
                        <a:rPr lang="en-US" sz="1800" b="0" i="0" u="none" strike="noStrike" dirty="0">
                          <a:solidFill>
                            <a:schemeClr val="bg1"/>
                          </a:solidFill>
                          <a:effectLst/>
                          <a:latin typeface="+mn-lt"/>
                          <a:hlinkClick r:id="rId4"/>
                        </a:rPr>
                        <a:t>[zapier.com]</a:t>
                      </a:r>
                      <a:endParaRPr lang="en-US" sz="1800" b="0" i="0" dirty="0">
                        <a:solidFill>
                          <a:schemeClr val="bg1"/>
                        </a:solidFill>
                        <a:effectLst/>
                        <a:latin typeface="+mn-lt"/>
                      </a:endParaRPr>
                    </a:p>
                  </a:txBody>
                  <a:tcP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chemeClr val="tx1"/>
                    </a:solidFill>
                  </a:tcPr>
                </a:tc>
              </a:tr>
              <a:tr h="190962">
                <a:tc>
                  <a:txBody>
                    <a:bodyPr/>
                    <a:lstStyle/>
                    <a:p>
                      <a:endParaRPr lang="en-US" dirty="0"/>
                    </a:p>
                  </a:txBody>
                  <a:tcPr>
                    <a:lnT w="9525" cap="flat" cmpd="sng" algn="ctr">
                      <a:solidFill>
                        <a:srgbClr val="E6E6E6"/>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30516498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7" name="직사각형 26">
            <a:extLst>
              <a:ext uri="{FF2B5EF4-FFF2-40B4-BE49-F238E27FC236}">
                <a16:creationId xmlns:a16="http://schemas.microsoft.com/office/drawing/2014/main" xmlns="" id="{8D122637-2F9F-4D6D-B650-CED44ECF1A91}"/>
              </a:ext>
            </a:extLst>
          </p:cNvPr>
          <p:cNvSpPr/>
          <p:nvPr/>
        </p:nvSpPr>
        <p:spPr>
          <a:xfrm>
            <a:off x="0" y="0"/>
            <a:ext cx="461500" cy="50078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9" name="직선 연결선 28">
            <a:extLst>
              <a:ext uri="{FF2B5EF4-FFF2-40B4-BE49-F238E27FC236}">
                <a16:creationId xmlns:a16="http://schemas.microsoft.com/office/drawing/2014/main" xmlns="" id="{2AA171E4-1F6F-41A4-B104-0EFC14B58D33}"/>
              </a:ext>
            </a:extLst>
          </p:cNvPr>
          <p:cNvCxnSpPr>
            <a:cxnSpLocks/>
            <a:stCxn id="27" idx="0"/>
          </p:cNvCxnSpPr>
          <p:nvPr/>
        </p:nvCxnSpPr>
        <p:spPr>
          <a:xfrm flipH="1">
            <a:off x="212613" y="0"/>
            <a:ext cx="18137" cy="922020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xmlns="" id="{B5061A88-7C4D-45A8-89EA-77CDE39728FC}"/>
              </a:ext>
            </a:extLst>
          </p:cNvPr>
          <p:cNvCxnSpPr>
            <a:cxnSpLocks/>
          </p:cNvCxnSpPr>
          <p:nvPr/>
        </p:nvCxnSpPr>
        <p:spPr>
          <a:xfrm>
            <a:off x="0" y="563933"/>
            <a:ext cx="685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2"/>
          <a:stretch>
            <a:fillRect/>
          </a:stretch>
        </p:blipFill>
        <p:spPr>
          <a:xfrm>
            <a:off x="0" y="7358743"/>
            <a:ext cx="6858000" cy="1785257"/>
          </a:xfrm>
          <a:prstGeom prst="rect">
            <a:avLst/>
          </a:prstGeom>
        </p:spPr>
      </p:pic>
      <p:sp>
        <p:nvSpPr>
          <p:cNvPr id="2" name="Rectangle 1"/>
          <p:cNvSpPr/>
          <p:nvPr/>
        </p:nvSpPr>
        <p:spPr>
          <a:xfrm>
            <a:off x="461500" y="107516"/>
            <a:ext cx="2639697" cy="369332"/>
          </a:xfrm>
          <a:prstGeom prst="rect">
            <a:avLst/>
          </a:prstGeom>
        </p:spPr>
        <p:txBody>
          <a:bodyPr wrap="none">
            <a:spAutoFit/>
          </a:bodyPr>
          <a:lstStyle/>
          <a:p>
            <a:r>
              <a:rPr lang="en-US" b="1" dirty="0">
                <a:solidFill>
                  <a:schemeClr val="bg1"/>
                </a:solidFill>
              </a:rPr>
              <a:t>Collaboration and sharing</a:t>
            </a:r>
          </a:p>
        </p:txBody>
      </p:sp>
      <p:sp>
        <p:nvSpPr>
          <p:cNvPr id="3" name="Rectangle 2"/>
          <p:cNvSpPr/>
          <p:nvPr/>
        </p:nvSpPr>
        <p:spPr>
          <a:xfrm>
            <a:off x="674112" y="990654"/>
            <a:ext cx="5650487" cy="3970318"/>
          </a:xfrm>
          <a:prstGeom prst="rect">
            <a:avLst/>
          </a:prstGeom>
        </p:spPr>
        <p:txBody>
          <a:bodyPr wrap="square">
            <a:spAutoFit/>
          </a:bodyPr>
          <a:lstStyle/>
          <a:p>
            <a:pPr marL="285750" indent="-285750">
              <a:buFont typeface="Wingdings" panose="05000000000000000000" pitchFamily="2" charset="2"/>
              <a:buChar char="q"/>
            </a:pPr>
            <a:r>
              <a:rPr lang="en-US" dirty="0">
                <a:solidFill>
                  <a:schemeClr val="bg1"/>
                </a:solidFill>
              </a:rPr>
              <a:t> for anyone in a </a:t>
            </a:r>
            <a:r>
              <a:rPr lang="en-US" dirty="0" err="1">
                <a:solidFill>
                  <a:schemeClr val="bg1"/>
                </a:solidFill>
              </a:rPr>
              <a:t>Zapier</a:t>
            </a:r>
            <a:r>
              <a:rPr lang="en-US" dirty="0">
                <a:solidFill>
                  <a:schemeClr val="bg1"/>
                </a:solidFill>
              </a:rPr>
              <a:t> enterprise account who wants to know how to share Zaps and app connections with your teammates.</a:t>
            </a:r>
          </a:p>
          <a:p>
            <a:pPr marL="285750" indent="-285750">
              <a:buFont typeface="Wingdings" panose="05000000000000000000" pitchFamily="2" charset="2"/>
              <a:buChar char="q"/>
            </a:pPr>
            <a:r>
              <a:rPr lang="en-US" dirty="0">
                <a:solidFill>
                  <a:schemeClr val="bg1"/>
                </a:solidFill>
              </a:rPr>
              <a:t>Sharing Zaps and app connections with your team is powerful! The team gets visibility into and control over its key workflows, and everyone is able to maintain and improve upon the team's processes.</a:t>
            </a:r>
          </a:p>
          <a:p>
            <a:pPr marL="285750" indent="-285750">
              <a:buFont typeface="Wingdings" panose="05000000000000000000" pitchFamily="2" charset="2"/>
              <a:buChar char="q"/>
            </a:pPr>
            <a:r>
              <a:rPr lang="en-US" dirty="0">
                <a:solidFill>
                  <a:schemeClr val="bg1"/>
                </a:solidFill>
              </a:rPr>
              <a:t>By the end of this course you'll be able to:</a:t>
            </a:r>
          </a:p>
          <a:p>
            <a:pPr marL="800100" lvl="1" indent="-342900">
              <a:buFont typeface="Wingdings" panose="05000000000000000000" pitchFamily="2" charset="2"/>
              <a:buChar char="Ø"/>
            </a:pPr>
            <a:r>
              <a:rPr lang="en-US" dirty="0">
                <a:solidFill>
                  <a:schemeClr val="bg1"/>
                </a:solidFill>
              </a:rPr>
              <a:t>Articulate how Zap and app sharing works in </a:t>
            </a:r>
            <a:r>
              <a:rPr lang="en-US" dirty="0" err="1">
                <a:solidFill>
                  <a:schemeClr val="bg1"/>
                </a:solidFill>
              </a:rPr>
              <a:t>Zapier</a:t>
            </a:r>
            <a:endParaRPr lang="en-US" dirty="0">
              <a:solidFill>
                <a:schemeClr val="bg1"/>
              </a:solidFill>
            </a:endParaRPr>
          </a:p>
          <a:p>
            <a:pPr marL="800100" lvl="1" indent="-342900">
              <a:buFont typeface="Wingdings" panose="05000000000000000000" pitchFamily="2" charset="2"/>
              <a:buChar char="Ø"/>
            </a:pPr>
            <a:r>
              <a:rPr lang="en-US" dirty="0">
                <a:solidFill>
                  <a:schemeClr val="bg1"/>
                </a:solidFill>
              </a:rPr>
              <a:t>Create teams</a:t>
            </a:r>
          </a:p>
          <a:p>
            <a:pPr marL="800100" lvl="1" indent="-342900">
              <a:buFont typeface="Wingdings" panose="05000000000000000000" pitchFamily="2" charset="2"/>
              <a:buChar char="Ø"/>
            </a:pPr>
            <a:r>
              <a:rPr lang="en-US" dirty="0">
                <a:solidFill>
                  <a:schemeClr val="bg1"/>
                </a:solidFill>
              </a:rPr>
              <a:t>Create folders</a:t>
            </a:r>
          </a:p>
          <a:p>
            <a:pPr marL="800100" lvl="1" indent="-342900">
              <a:buFont typeface="Wingdings" panose="05000000000000000000" pitchFamily="2" charset="2"/>
              <a:buChar char="Ø"/>
            </a:pPr>
            <a:r>
              <a:rPr lang="en-US" dirty="0">
                <a:solidFill>
                  <a:schemeClr val="bg1"/>
                </a:solidFill>
              </a:rPr>
              <a:t>Share Zaps</a:t>
            </a:r>
          </a:p>
          <a:p>
            <a:pPr marL="800100" lvl="1" indent="-342900">
              <a:buFont typeface="Wingdings" panose="05000000000000000000" pitchFamily="2" charset="2"/>
              <a:buChar char="Ø"/>
            </a:pPr>
            <a:r>
              <a:rPr lang="en-US" dirty="0">
                <a:solidFill>
                  <a:schemeClr val="bg1"/>
                </a:solidFill>
              </a:rPr>
              <a:t>Share app connections</a:t>
            </a:r>
          </a:p>
        </p:txBody>
      </p:sp>
      <p:sp>
        <p:nvSpPr>
          <p:cNvPr id="4" name="Rectangle 3"/>
          <p:cNvSpPr/>
          <p:nvPr/>
        </p:nvSpPr>
        <p:spPr>
          <a:xfrm>
            <a:off x="465583" y="5652754"/>
            <a:ext cx="3540456" cy="923330"/>
          </a:xfrm>
          <a:prstGeom prst="rect">
            <a:avLst/>
          </a:prstGeom>
        </p:spPr>
        <p:txBody>
          <a:bodyPr wrap="none">
            <a:spAutoFit/>
          </a:bodyPr>
          <a:lstStyle/>
          <a:p>
            <a:r>
              <a:rPr lang="en-US" dirty="0" smtClean="0">
                <a:solidFill>
                  <a:schemeClr val="bg1"/>
                </a:solidFill>
              </a:rPr>
              <a:t>References:</a:t>
            </a:r>
          </a:p>
          <a:p>
            <a:r>
              <a:rPr lang="en-US" dirty="0" smtClean="0">
                <a:hlinkClick r:id="rId3"/>
              </a:rPr>
              <a:t>	https</a:t>
            </a:r>
            <a:r>
              <a:rPr lang="en-US" dirty="0">
                <a:hlinkClick r:id="rId3"/>
              </a:rPr>
              <a:t>://</a:t>
            </a:r>
            <a:r>
              <a:rPr lang="en-US" dirty="0" smtClean="0">
                <a:hlinkClick r:id="rId3"/>
              </a:rPr>
              <a:t>zapier.com/zap-sharing</a:t>
            </a:r>
            <a:endParaRPr lang="en-US" dirty="0" smtClean="0"/>
          </a:p>
          <a:p>
            <a:endParaRPr lang="en-US" dirty="0"/>
          </a:p>
        </p:txBody>
      </p:sp>
    </p:spTree>
    <p:extLst>
      <p:ext uri="{BB962C8B-B14F-4D97-AF65-F5344CB8AC3E}">
        <p14:creationId xmlns:p14="http://schemas.microsoft.com/office/powerpoint/2010/main" val="2853382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7" name="직사각형 26">
            <a:extLst>
              <a:ext uri="{FF2B5EF4-FFF2-40B4-BE49-F238E27FC236}">
                <a16:creationId xmlns:a16="http://schemas.microsoft.com/office/drawing/2014/main" xmlns="" id="{8D122637-2F9F-4D6D-B650-CED44ECF1A91}"/>
              </a:ext>
            </a:extLst>
          </p:cNvPr>
          <p:cNvSpPr/>
          <p:nvPr/>
        </p:nvSpPr>
        <p:spPr>
          <a:xfrm>
            <a:off x="0" y="0"/>
            <a:ext cx="461500" cy="50078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9" name="직선 연결선 28">
            <a:extLst>
              <a:ext uri="{FF2B5EF4-FFF2-40B4-BE49-F238E27FC236}">
                <a16:creationId xmlns:a16="http://schemas.microsoft.com/office/drawing/2014/main" xmlns="" id="{2AA171E4-1F6F-41A4-B104-0EFC14B58D33}"/>
              </a:ext>
            </a:extLst>
          </p:cNvPr>
          <p:cNvCxnSpPr>
            <a:cxnSpLocks/>
            <a:stCxn id="27" idx="0"/>
          </p:cNvCxnSpPr>
          <p:nvPr/>
        </p:nvCxnSpPr>
        <p:spPr>
          <a:xfrm flipH="1">
            <a:off x="212613" y="0"/>
            <a:ext cx="18137" cy="922020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xmlns="" id="{B5061A88-7C4D-45A8-89EA-77CDE39728FC}"/>
              </a:ext>
            </a:extLst>
          </p:cNvPr>
          <p:cNvCxnSpPr>
            <a:cxnSpLocks/>
          </p:cNvCxnSpPr>
          <p:nvPr/>
        </p:nvCxnSpPr>
        <p:spPr>
          <a:xfrm>
            <a:off x="0" y="563933"/>
            <a:ext cx="685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2"/>
          <a:stretch>
            <a:fillRect/>
          </a:stretch>
        </p:blipFill>
        <p:spPr>
          <a:xfrm>
            <a:off x="0" y="7358743"/>
            <a:ext cx="6858000" cy="1785257"/>
          </a:xfrm>
          <a:prstGeom prst="rect">
            <a:avLst/>
          </a:prstGeom>
        </p:spPr>
      </p:pic>
      <p:sp>
        <p:nvSpPr>
          <p:cNvPr id="2" name="Rectangle 1"/>
          <p:cNvSpPr/>
          <p:nvPr/>
        </p:nvSpPr>
        <p:spPr>
          <a:xfrm>
            <a:off x="461500" y="107516"/>
            <a:ext cx="2715552" cy="369332"/>
          </a:xfrm>
          <a:prstGeom prst="rect">
            <a:avLst/>
          </a:prstGeom>
        </p:spPr>
        <p:txBody>
          <a:bodyPr wrap="none">
            <a:spAutoFit/>
          </a:bodyPr>
          <a:lstStyle/>
          <a:p>
            <a:r>
              <a:rPr lang="en-US" b="1" dirty="0">
                <a:solidFill>
                  <a:schemeClr val="bg1"/>
                </a:solidFill>
              </a:rPr>
              <a:t>Troubleshooting your Zaps</a:t>
            </a:r>
          </a:p>
        </p:txBody>
      </p:sp>
      <p:sp>
        <p:nvSpPr>
          <p:cNvPr id="3" name="Rectangle 2"/>
          <p:cNvSpPr/>
          <p:nvPr/>
        </p:nvSpPr>
        <p:spPr>
          <a:xfrm>
            <a:off x="603756" y="651019"/>
            <a:ext cx="5650487" cy="2308324"/>
          </a:xfrm>
          <a:prstGeom prst="rect">
            <a:avLst/>
          </a:prstGeom>
        </p:spPr>
        <p:txBody>
          <a:bodyPr wrap="square">
            <a:spAutoFit/>
          </a:bodyPr>
          <a:lstStyle/>
          <a:p>
            <a:pPr marL="285750" indent="-285750">
              <a:buFont typeface="Wingdings" panose="05000000000000000000" pitchFamily="2" charset="2"/>
              <a:buChar char="q"/>
            </a:pPr>
            <a:r>
              <a:rPr lang="en-US" dirty="0">
                <a:solidFill>
                  <a:schemeClr val="bg1"/>
                </a:solidFill>
              </a:rPr>
              <a:t>Understanding the troubleshooting framework and how to dissect your Zap errors.</a:t>
            </a:r>
          </a:p>
          <a:p>
            <a:pPr marL="285750" indent="-285750">
              <a:buFont typeface="Wingdings" panose="05000000000000000000" pitchFamily="2" charset="2"/>
              <a:buChar char="q"/>
            </a:pPr>
            <a:r>
              <a:rPr lang="en-US" dirty="0">
                <a:solidFill>
                  <a:schemeClr val="bg1"/>
                </a:solidFill>
              </a:rPr>
              <a:t>Knowing where the error is coming from and how to trace the problem to the specific part of your Zap. </a:t>
            </a:r>
          </a:p>
          <a:p>
            <a:pPr marL="285750" indent="-285750">
              <a:buFont typeface="Wingdings" panose="05000000000000000000" pitchFamily="2" charset="2"/>
              <a:buChar char="q"/>
            </a:pPr>
            <a:r>
              <a:rPr lang="en-US" dirty="0">
                <a:solidFill>
                  <a:schemeClr val="bg1"/>
                </a:solidFill>
              </a:rPr>
              <a:t>Learning the skills to identify and fix common issues with an emphasis on troubleshooting: test records, error notifications, field mapping, APIs, and Zap history that may be causing disruptions or delays in your Zaps.</a:t>
            </a:r>
          </a:p>
        </p:txBody>
      </p:sp>
    </p:spTree>
    <p:extLst>
      <p:ext uri="{BB962C8B-B14F-4D97-AF65-F5344CB8AC3E}">
        <p14:creationId xmlns:p14="http://schemas.microsoft.com/office/powerpoint/2010/main" val="394422231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63FFC043-25BE-4EFD-84D4-9724E1FC97CA}"/>
              </a:ext>
            </a:extLst>
          </p:cNvPr>
          <p:cNvSpPr txBox="1"/>
          <p:nvPr/>
        </p:nvSpPr>
        <p:spPr>
          <a:xfrm>
            <a:off x="1008247" y="4671838"/>
            <a:ext cx="4447809" cy="646331"/>
          </a:xfrm>
          <a:prstGeom prst="rect">
            <a:avLst/>
          </a:prstGeom>
          <a:noFill/>
        </p:spPr>
        <p:txBody>
          <a:bodyPr wrap="square" rtlCol="0">
            <a:spAutoFit/>
          </a:bodyPr>
          <a:lstStyle/>
          <a:p>
            <a:r>
              <a:rPr lang="en-US" altLang="ko-KR" sz="3600" dirty="0" smtClean="0">
                <a:solidFill>
                  <a:schemeClr val="bg1"/>
                </a:solidFill>
                <a:latin typeface="+mj-lt"/>
              </a:rPr>
              <a:t>Thanks for your time</a:t>
            </a:r>
            <a:endParaRPr lang="ko-KR" altLang="en-US" sz="3600" dirty="0">
              <a:solidFill>
                <a:schemeClr val="bg1"/>
              </a:solidFill>
              <a:latin typeface="+mj-lt"/>
            </a:endParaRPr>
          </a:p>
        </p:txBody>
      </p:sp>
      <p:sp>
        <p:nvSpPr>
          <p:cNvPr id="39" name="직사각형 38">
            <a:extLst>
              <a:ext uri="{FF2B5EF4-FFF2-40B4-BE49-F238E27FC236}">
                <a16:creationId xmlns:a16="http://schemas.microsoft.com/office/drawing/2014/main" xmlns="" id="{D06B198B-E6C4-4D66-98AE-381AF747184F}"/>
              </a:ext>
            </a:extLst>
          </p:cNvPr>
          <p:cNvSpPr/>
          <p:nvPr/>
        </p:nvSpPr>
        <p:spPr>
          <a:xfrm>
            <a:off x="4575872" y="0"/>
            <a:ext cx="2282129" cy="44715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0" name="직선 연결선 39">
            <a:extLst>
              <a:ext uri="{FF2B5EF4-FFF2-40B4-BE49-F238E27FC236}">
                <a16:creationId xmlns:a16="http://schemas.microsoft.com/office/drawing/2014/main" xmlns="" id="{54D92EFB-CF9A-4941-9A1E-65DE0BEA02BC}"/>
              </a:ext>
            </a:extLst>
          </p:cNvPr>
          <p:cNvCxnSpPr>
            <a:cxnSpLocks/>
          </p:cNvCxnSpPr>
          <p:nvPr/>
        </p:nvCxnSpPr>
        <p:spPr>
          <a:xfrm>
            <a:off x="6345044" y="0"/>
            <a:ext cx="0" cy="9144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xmlns="" id="{A540228B-FB55-4A83-A443-122510473BDB}"/>
              </a:ext>
            </a:extLst>
          </p:cNvPr>
          <p:cNvCxnSpPr/>
          <p:nvPr/>
        </p:nvCxnSpPr>
        <p:spPr>
          <a:xfrm flipV="1">
            <a:off x="0" y="8329961"/>
            <a:ext cx="814039" cy="81403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8" name="직선 연결선 47">
            <a:extLst>
              <a:ext uri="{FF2B5EF4-FFF2-40B4-BE49-F238E27FC236}">
                <a16:creationId xmlns:a16="http://schemas.microsoft.com/office/drawing/2014/main" xmlns="" id="{55A1CDC8-5532-4CE3-A594-4B7B5A8302DF}"/>
              </a:ext>
            </a:extLst>
          </p:cNvPr>
          <p:cNvCxnSpPr>
            <a:cxnSpLocks/>
          </p:cNvCxnSpPr>
          <p:nvPr/>
        </p:nvCxnSpPr>
        <p:spPr>
          <a:xfrm flipV="1">
            <a:off x="4313973" y="2171755"/>
            <a:ext cx="2544027" cy="254402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xmlns="" id="{8ACD699C-AACA-4660-BAC5-1D38B503CAC5}"/>
              </a:ext>
            </a:extLst>
          </p:cNvPr>
          <p:cNvSpPr txBox="1"/>
          <p:nvPr/>
        </p:nvSpPr>
        <p:spPr>
          <a:xfrm>
            <a:off x="574131" y="1123413"/>
            <a:ext cx="4447809" cy="2646878"/>
          </a:xfrm>
          <a:prstGeom prst="rect">
            <a:avLst/>
          </a:prstGeom>
          <a:noFill/>
        </p:spPr>
        <p:txBody>
          <a:bodyPr wrap="square" rtlCol="0">
            <a:spAutoFit/>
          </a:bodyPr>
          <a:lstStyle/>
          <a:p>
            <a:r>
              <a:rPr lang="en-US" altLang="ko-KR" sz="7200" dirty="0" smtClean="0">
                <a:solidFill>
                  <a:schemeClr val="bg1"/>
                </a:solidFill>
                <a:latin typeface="+mj-lt"/>
              </a:rPr>
              <a:t>Zapier</a:t>
            </a:r>
            <a:r>
              <a:rPr lang="en-US" altLang="ko-KR" sz="1600" dirty="0" smtClean="0">
                <a:solidFill>
                  <a:schemeClr val="bg1"/>
                </a:solidFill>
                <a:latin typeface="+mj-lt"/>
                <a:hlinkClick r:id="rId2"/>
              </a:rPr>
              <a:t>www.zapier.com</a:t>
            </a:r>
            <a:endParaRPr lang="en-US" altLang="ko-KR" sz="1600" dirty="0" smtClean="0">
              <a:solidFill>
                <a:schemeClr val="bg1"/>
              </a:solidFill>
              <a:latin typeface="+mj-lt"/>
            </a:endParaRPr>
          </a:p>
          <a:p>
            <a:pPr marL="285750" indent="-285750">
              <a:buFont typeface="Wingdings" panose="05000000000000000000" pitchFamily="2" charset="2"/>
              <a:buChar char="q"/>
            </a:pPr>
            <a:r>
              <a:rPr lang="en-US" altLang="ko-KR" sz="2000" dirty="0" smtClean="0">
                <a:solidFill>
                  <a:schemeClr val="bg1"/>
                </a:solidFill>
                <a:latin typeface="+mj-lt"/>
              </a:rPr>
              <a:t>Develop </a:t>
            </a:r>
            <a:r>
              <a:rPr lang="en-US" altLang="ko-KR" sz="2000" dirty="0">
                <a:solidFill>
                  <a:schemeClr val="bg1"/>
                </a:solidFill>
                <a:latin typeface="+mj-lt"/>
              </a:rPr>
              <a:t>Workflows</a:t>
            </a:r>
          </a:p>
          <a:p>
            <a:pPr marL="285750" indent="-285750">
              <a:buFont typeface="Wingdings" panose="05000000000000000000" pitchFamily="2" charset="2"/>
              <a:buChar char="q"/>
            </a:pPr>
            <a:r>
              <a:rPr lang="en-US" altLang="ko-KR" sz="2000" dirty="0" smtClean="0">
                <a:solidFill>
                  <a:schemeClr val="bg1"/>
                </a:solidFill>
                <a:latin typeface="+mj-lt"/>
              </a:rPr>
              <a:t>Perform </a:t>
            </a:r>
            <a:r>
              <a:rPr lang="en-US" altLang="ko-KR" sz="2000" dirty="0">
                <a:solidFill>
                  <a:schemeClr val="bg1"/>
                </a:solidFill>
                <a:latin typeface="+mj-lt"/>
              </a:rPr>
              <a:t>Automations</a:t>
            </a:r>
          </a:p>
          <a:p>
            <a:pPr marL="285750" indent="-285750">
              <a:buFont typeface="Wingdings" panose="05000000000000000000" pitchFamily="2" charset="2"/>
              <a:buChar char="q"/>
            </a:pPr>
            <a:r>
              <a:rPr lang="en-US" altLang="ko-KR" sz="2000" dirty="0" smtClean="0">
                <a:solidFill>
                  <a:schemeClr val="bg1"/>
                </a:solidFill>
                <a:latin typeface="+mj-lt"/>
              </a:rPr>
              <a:t>Execute </a:t>
            </a:r>
            <a:r>
              <a:rPr lang="en-US" altLang="ko-KR" sz="2000" dirty="0">
                <a:solidFill>
                  <a:schemeClr val="bg1"/>
                </a:solidFill>
                <a:latin typeface="+mj-lt"/>
              </a:rPr>
              <a:t>Integrations</a:t>
            </a:r>
          </a:p>
          <a:p>
            <a:pPr marL="285750" indent="-285750">
              <a:buFont typeface="Wingdings" panose="05000000000000000000" pitchFamily="2" charset="2"/>
              <a:buChar char="q"/>
            </a:pPr>
            <a:r>
              <a:rPr lang="en-US" altLang="ko-KR" sz="2000" dirty="0" smtClean="0">
                <a:solidFill>
                  <a:schemeClr val="bg1"/>
                </a:solidFill>
                <a:latin typeface="+mj-lt"/>
              </a:rPr>
              <a:t>Connect </a:t>
            </a:r>
            <a:r>
              <a:rPr lang="en-US" altLang="ko-KR" sz="2000" dirty="0">
                <a:solidFill>
                  <a:schemeClr val="bg1"/>
                </a:solidFill>
                <a:latin typeface="+mj-lt"/>
              </a:rPr>
              <a:t>8000+ online data sources</a:t>
            </a:r>
          </a:p>
          <a:p>
            <a:endParaRPr lang="ko-KR" altLang="en-US" sz="1400" dirty="0">
              <a:solidFill>
                <a:schemeClr val="bg1"/>
              </a:solidFill>
              <a:latin typeface="+mj-lt"/>
            </a:endParaRPr>
          </a:p>
        </p:txBody>
      </p:sp>
      <p:pic>
        <p:nvPicPr>
          <p:cNvPr id="37" name="Picture 36"/>
          <p:cNvPicPr>
            <a:picLocks noChangeAspect="1"/>
          </p:cNvPicPr>
          <p:nvPr/>
        </p:nvPicPr>
        <p:blipFill>
          <a:blip r:embed="rId3"/>
          <a:stretch>
            <a:fillRect/>
          </a:stretch>
        </p:blipFill>
        <p:spPr>
          <a:xfrm>
            <a:off x="0" y="51721"/>
            <a:ext cx="1324906" cy="1019971"/>
          </a:xfrm>
          <a:prstGeom prst="rect">
            <a:avLst/>
          </a:prstGeom>
        </p:spPr>
      </p:pic>
    </p:spTree>
    <p:extLst>
      <p:ext uri="{BB962C8B-B14F-4D97-AF65-F5344CB8AC3E}">
        <p14:creationId xmlns:p14="http://schemas.microsoft.com/office/powerpoint/2010/main" val="57190957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사용자 지정 62">
      <a:dk1>
        <a:sysClr val="windowText" lastClr="000000"/>
      </a:dk1>
      <a:lt1>
        <a:sysClr val="window" lastClr="FFFFFF"/>
      </a:lt1>
      <a:dk2>
        <a:srgbClr val="242852"/>
      </a:dk2>
      <a:lt2>
        <a:srgbClr val="D8D8D8"/>
      </a:lt2>
      <a:accent1>
        <a:srgbClr val="FE6D40"/>
      </a:accent1>
      <a:accent2>
        <a:srgbClr val="303030"/>
      </a:accent2>
      <a:accent3>
        <a:srgbClr val="5F5F5F"/>
      </a:accent3>
      <a:accent4>
        <a:srgbClr val="8F8F8F"/>
      </a:accent4>
      <a:accent5>
        <a:srgbClr val="BFBFBF"/>
      </a:accent5>
      <a:accent6>
        <a:srgbClr val="D8D8D8"/>
      </a:accent6>
      <a:hlink>
        <a:srgbClr val="FE6D40"/>
      </a:hlink>
      <a:folHlink>
        <a:srgbClr val="7F7F7F"/>
      </a:folHlink>
    </a:clrScheme>
    <a:fontScheme name="사용자 지정 476">
      <a:majorFont>
        <a:latin typeface="Anton"/>
        <a:ea typeface="맑은 고딕"/>
        <a:cs typeface=""/>
      </a:majorFont>
      <a:minorFont>
        <a:latin typeface="Calibri"/>
        <a:ea typeface="맑은 고딕"/>
        <a:cs typeface=""/>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870</TotalTime>
  <Words>2589</Words>
  <Application>Microsoft Office PowerPoint</Application>
  <PresentationFormat>Letter Paper (8.5x11 in)</PresentationFormat>
  <Paragraphs>211</Paragraphs>
  <Slides>17</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Calibri</vt:lpstr>
      <vt:lpstr>Inter</vt:lpstr>
      <vt:lpstr>Times New Roman</vt:lpstr>
      <vt:lpstr>Segoe UI</vt:lpstr>
      <vt:lpstr>Segoe UI Symbol</vt:lpstr>
      <vt:lpstr>Wingdings</vt:lpstr>
      <vt:lpstr>Arial</vt:lpstr>
      <vt:lpstr>Malgun Gothic</vt:lpstr>
      <vt:lpstr>Courier New</vt:lpstr>
      <vt:lpstr>Anton</vt:lpstr>
      <vt:lpstr>Office 테마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Slide Members</Manager>
  <Company>YESFORM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Members</dc:title>
  <dc:subject>Powerpoint Templates, Diagram, Chart, Google slides, Keynote</dc:subject>
  <dc:creator>Slide Members by BR.YOON</dc:creator>
  <cp:keywords>SlideMembers, ppt, PPT Templates, Presentation, Diagram, Chart, Yesform, Google slides, Keynote, Free Slides</cp:keywords>
  <dc:description>The copyright of this document is at Slide Members. Unauthorized copying may result in legal sanctions.</dc:description>
  <cp:lastModifiedBy>HP</cp:lastModifiedBy>
  <cp:revision>31</cp:revision>
  <dcterms:created xsi:type="dcterms:W3CDTF">2020-10-16T08:41:37Z</dcterms:created>
  <dcterms:modified xsi:type="dcterms:W3CDTF">2025-12-18T12:45:59Z</dcterms:modified>
  <cp:category>www.slidemembers.com</cp:category>
</cp:coreProperties>
</file>